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2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176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BB6B2-C71E-C2F7-A3A5-E6EB066D8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5EE060-5BB1-986C-3FF1-9BCFD1C92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321036-46F0-2460-A8DB-07369985D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3290D-9521-0649-7B29-B354281F55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174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8B84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07008" y="1417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FBF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91056" y="1417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92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Product Technical Catalog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DC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&amp; Product User Experience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8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6035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F8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 ·  Versioned  ·  Discoverable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cs typeface="Arial" pitchFamily="34" charset="-120"/>
              </a:rPr>
              <a:t>SECTION 1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4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dirty="0">
                <a:solidFill>
                  <a:srgbClr val="2B2A27"/>
                </a:solidFill>
                <a:latin typeface="Arial" pitchFamily="34" charset="0"/>
                <a:cs typeface="Arial" pitchFamily="34" charset="-120"/>
              </a:rPr>
              <a:t>Design Principles</a:t>
            </a:r>
          </a:p>
        </p:txBody>
      </p:sp>
      <p:sp>
        <p:nvSpPr>
          <p:cNvPr id="5" name="Text 5"/>
          <p:cNvSpPr/>
          <p:nvPr/>
        </p:nvSpPr>
        <p:spPr>
          <a:xfrm>
            <a:off x="822960" y="12070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200" dirty="0">
                <a:solidFill>
                  <a:srgbClr val="5F5E5A"/>
                </a:solidFill>
                <a:latin typeface="Arial" pitchFamily="34" charset="0"/>
                <a:cs typeface="Arial" pitchFamily="34" charset="-120"/>
              </a:rPr>
              <a:t>DESIGN PATTERNS</a:t>
            </a:r>
          </a:p>
        </p:txBody>
      </p:sp>
      <p:sp>
        <p:nvSpPr>
          <p:cNvPr id="10" name="Shape 10"/>
          <p:cNvSpPr/>
          <p:nvPr/>
        </p:nvSpPr>
        <p:spPr>
          <a:xfrm>
            <a:off x="502920" y="1691640"/>
            <a:ext cx="3611880" cy="2057400"/>
          </a:xfrm>
          <a:prstGeom prst="roundRect">
            <a:avLst>
              <a:gd name="adj" fmla="val 2278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777240" y="20025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/>
          <p:nvPr/>
        </p:nvSpPr>
        <p:spPr>
          <a:xfrm>
            <a:off x="777240" y="231343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kern="0" dirty="0">
                <a:solidFill>
                  <a:srgbClr val="2B2A27"/>
                </a:solidFill>
                <a:latin typeface="Arial" pitchFamily="34" charset="0"/>
                <a:cs typeface="Arial" pitchFamily="34" charset="-120"/>
              </a:rPr>
              <a:t>One unified, simplified UI/UX over the data lake</a:t>
            </a:r>
          </a:p>
        </p:txBody>
      </p:sp>
      <p:sp>
        <p:nvSpPr>
          <p:cNvPr id="13" name="Shape 13"/>
          <p:cNvSpPr/>
          <p:nvPr/>
        </p:nvSpPr>
        <p:spPr>
          <a:xfrm>
            <a:off x="4325112" y="1691640"/>
            <a:ext cx="3611880" cy="2057400"/>
          </a:xfrm>
          <a:prstGeom prst="roundRect">
            <a:avLst>
              <a:gd name="adj" fmla="val 2278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4599431" y="20025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/>
          <p:nvPr/>
        </p:nvSpPr>
        <p:spPr>
          <a:xfrm>
            <a:off x="4599431" y="231343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kern="0" dirty="0">
                <a:solidFill>
                  <a:srgbClr val="2B2A27"/>
                </a:solidFill>
                <a:latin typeface="Arial" pitchFamily="34" charset="0"/>
                <a:cs typeface="Arial" pitchFamily="34" charset="-120"/>
              </a:rPr>
              <a:t>Standardize and template easy-to-develop APIs</a:t>
            </a:r>
          </a:p>
        </p:txBody>
      </p:sp>
      <p:sp>
        <p:nvSpPr>
          <p:cNvPr id="16" name="Shape 16"/>
          <p:cNvSpPr/>
          <p:nvPr/>
        </p:nvSpPr>
        <p:spPr>
          <a:xfrm>
            <a:off x="8147304" y="1691640"/>
            <a:ext cx="3611880" cy="2057400"/>
          </a:xfrm>
          <a:prstGeom prst="roundRect">
            <a:avLst>
              <a:gd name="adj" fmla="val 2278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8421624" y="20025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993C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/>
          <p:nvPr/>
        </p:nvSpPr>
        <p:spPr>
          <a:xfrm>
            <a:off x="8421624" y="231343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kern="0" dirty="0">
                <a:solidFill>
                  <a:srgbClr val="2B2A27"/>
                </a:solidFill>
                <a:latin typeface="Arial" pitchFamily="34" charset="0"/>
                <a:cs typeface="Arial" pitchFamily="34" charset="-120"/>
              </a:rPr>
              <a:t>Standardize and template easy-to-deploy Trino clusters</a:t>
            </a:r>
          </a:p>
        </p:txBody>
      </p:sp>
      <p:sp>
        <p:nvSpPr>
          <p:cNvPr id="19" name="Shape 19"/>
          <p:cNvSpPr/>
          <p:nvPr/>
        </p:nvSpPr>
        <p:spPr>
          <a:xfrm>
            <a:off x="502920" y="3977639"/>
            <a:ext cx="3611880" cy="2057400"/>
          </a:xfrm>
          <a:prstGeom prst="roundRect">
            <a:avLst>
              <a:gd name="adj" fmla="val 2278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777240" y="42885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993C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/>
          <p:nvPr/>
        </p:nvSpPr>
        <p:spPr>
          <a:xfrm>
            <a:off x="777240" y="4599431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kern="0" dirty="0">
                <a:solidFill>
                  <a:srgbClr val="2B2A27"/>
                </a:solidFill>
                <a:latin typeface="Arial" pitchFamily="34" charset="0"/>
                <a:cs typeface="Arial" pitchFamily="34" charset="-120"/>
              </a:rPr>
              <a:t>Minimize overhead through shared infrastructure</a:t>
            </a:r>
          </a:p>
        </p:txBody>
      </p:sp>
      <p:sp>
        <p:nvSpPr>
          <p:cNvPr id="22" name="Shape 22"/>
          <p:cNvSpPr/>
          <p:nvPr/>
        </p:nvSpPr>
        <p:spPr>
          <a:xfrm>
            <a:off x="4325112" y="3977639"/>
            <a:ext cx="3611880" cy="2057400"/>
          </a:xfrm>
          <a:prstGeom prst="roundRect">
            <a:avLst>
              <a:gd name="adj" fmla="val 2278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4599431" y="42885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4"/>
          <p:cNvSpPr/>
          <p:nvPr/>
        </p:nvSpPr>
        <p:spPr>
          <a:xfrm>
            <a:off x="4599431" y="4599431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kern="0" dirty="0">
                <a:solidFill>
                  <a:srgbClr val="2B2A27"/>
                </a:solidFill>
                <a:latin typeface="Arial" pitchFamily="34" charset="0"/>
                <a:cs typeface="Arial" pitchFamily="34" charset="-120"/>
              </a:rPr>
              <a:t>Automate metadata collection and publication</a:t>
            </a:r>
          </a:p>
        </p:txBody>
      </p:sp>
      <p:sp>
        <p:nvSpPr>
          <p:cNvPr id="25" name="Shape 25"/>
          <p:cNvSpPr/>
          <p:nvPr/>
        </p:nvSpPr>
        <p:spPr>
          <a:xfrm>
            <a:off x="8147304" y="3977639"/>
            <a:ext cx="3611880" cy="2057400"/>
          </a:xfrm>
          <a:prstGeom prst="roundRect">
            <a:avLst>
              <a:gd name="adj" fmla="val 2278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6"/>
          <p:cNvSpPr/>
          <p:nvPr/>
        </p:nvSpPr>
        <p:spPr>
          <a:xfrm>
            <a:off x="8421624" y="42885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7"/>
          <p:cNvSpPr/>
          <p:nvPr/>
        </p:nvSpPr>
        <p:spPr>
          <a:xfrm>
            <a:off x="8421624" y="4599431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kern="0" dirty="0">
                <a:solidFill>
                  <a:srgbClr val="2B2A27"/>
                </a:solidFill>
                <a:latin typeface="Arial" pitchFamily="34" charset="0"/>
                <a:cs typeface="Arial" pitchFamily="34" charset="-120"/>
              </a:rPr>
              <a:t>Hide system management complexities from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serves governed data products in the Data Catalog and provides the governance capabilities required to manage them.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5852160" cy="4800600"/>
          </a:xfrm>
          <a:prstGeom prst="roundRect">
            <a:avLst>
              <a:gd name="adj" fmla="val 1714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discovery and transparency for cataloged products</a:t>
            </a:r>
            <a:endParaRPr lang="en-US" sz="12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Access-controlled metastore (Apache Polaris) for lake reads/writes</a:t>
            </a:r>
            <a:endParaRPr lang="en-US" sz="12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Cross-dataset discovery via Discovery Products and global search</a:t>
            </a:r>
            <a:endParaRPr lang="en-US" sz="12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Dataset-level content and natural-language search</a:t>
            </a:r>
            <a:endParaRPr lang="en-US" sz="12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of data artifacts bound to records at runtime</a:t>
            </a:r>
            <a:endParaRPr lang="en-US" sz="12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and status built on data lake services</a:t>
            </a:r>
            <a:endParaRPr lang="en-US" sz="12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UI — two-step build into the Unified Experience</a:t>
            </a:r>
            <a:endParaRPr lang="en-US" sz="12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Under-one-week methodology for governed, documented Data APIs</a:t>
            </a:r>
            <a:endParaRPr lang="en-US" sz="12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 of cost-accumulating shared infrastructure</a:t>
            </a:r>
            <a:endParaRPr lang="en-US" sz="12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 governed engines for other ecosystems</a:t>
            </a:r>
            <a:endParaRPr lang="en-US" sz="12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cataloging and record purging with lake services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20840" y="1600200"/>
            <a:ext cx="4983480" cy="4800600"/>
          </a:xfrm>
          <a:prstGeom prst="roundRect">
            <a:avLst>
              <a:gd name="adj" fmla="val 1714"/>
            </a:avLst>
          </a:prstGeom>
          <a:solidFill>
            <a:srgbClr val="FAE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2194560"/>
            <a:ext cx="4434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 / query-as-a-service beyond the Enterprise Catalog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User-level workspace discovery or management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Multi–data lake product governance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Rebuilding of Data Lake services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parent–child governance handling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 forms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tracking and UI display  (inherits from Catalog)</a:t>
            </a:r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cs typeface="Arial" pitchFamily="34" charset="-120"/>
              </a:rPr>
              <a:t>Triage un-processed data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tracking and UI display  (inherits from Catalog)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— Four Planes</a:t>
            </a:r>
            <a:endParaRPr lang="en-US" sz="3000" dirty="0"/>
          </a:p>
        </p:txBody>
      </p:sp>
      <p:pic>
        <p:nvPicPr>
          <p:cNvPr id="5" name="Image 0" descr="docx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4206240" cy="5257800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257800" y="1325880"/>
            <a:ext cx="6446520" cy="1133856"/>
          </a:xfrm>
          <a:prstGeom prst="roundRect">
            <a:avLst>
              <a:gd name="adj" fmla="val 6452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0" y="1527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42432" y="139903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plane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42432" y="1728216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record: product registry correlating the metastore, access control, and the model / agreement / rule / tool registries.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257800" y="2624328"/>
            <a:ext cx="6446520" cy="1133856"/>
          </a:xfrm>
          <a:prstGeom prst="roundRect">
            <a:avLst>
              <a:gd name="adj" fmla="val 6452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0" y="28254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42432" y="269748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 &amp; Query plane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742432" y="3026664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engine layer — Trino for SQL, OpenSearch for discovery and reference indexes, a vector DB for semantic retrieval.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257800" y="3922776"/>
            <a:ext cx="6446520" cy="1133856"/>
          </a:xfrm>
          <a:prstGeom prst="roundRect">
            <a:avLst>
              <a:gd name="adj" fmla="val 6452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486400" y="412394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993C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42432" y="399592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plane (FastAPI)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742432" y="4325112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doorway in: data APIs, metadata APIs, and forwarding into the enterprise catalog's search index.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257800" y="5221224"/>
            <a:ext cx="6446520" cy="1133856"/>
          </a:xfrm>
          <a:prstGeom prst="roundRect">
            <a:avLst>
              <a:gd name="adj" fmla="val 6452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486400" y="54223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6B6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742432" y="5294376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plane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742432" y="5623560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Experience UI — product pages, search, sandboxes, Artifact Library, actions, and chat — a client over the APIs.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257800" y="6446520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are assembled at runtime from registry bindings — never copied downstream.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3.1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Plane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486400" cy="2359152"/>
          </a:xfrm>
          <a:prstGeom prst="roundRect">
            <a:avLst>
              <a:gd name="adj" fmla="val 3488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160934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481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Registry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8952" y="18745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aggregator every product record originates from; models, agreements, rules, and tools are all joined to product records.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758952" y="331012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through:  </a:t>
            </a:r>
            <a:r>
              <a:rPr lang="en-US" sz="105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Library &amp; product page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86400" cy="2359152"/>
          </a:xfrm>
          <a:prstGeom prst="roundRect">
            <a:avLst>
              <a:gd name="adj" fmla="val 3488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73952" y="160934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20840" y="1481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</a:t>
            </a:r>
            <a:r>
              <a:rPr lang="en-US" sz="1550" b="1" dirty="0" err="1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Metastore</a:t>
            </a:r>
            <a:r>
              <a:rPr lang="en-US" sz="155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Apache Polaris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73952" y="18745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Access-controlled front door for reading and writing lake tables: one consistent view of schemas and snapshots for Trino and remote engines. Considerations: credential vending, entitlements.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473952" y="331012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through:  </a:t>
            </a:r>
            <a:r>
              <a:rPr lang="en-US" sz="105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engine and ETL job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913632"/>
            <a:ext cx="5486400" cy="2359152"/>
          </a:xfrm>
          <a:prstGeom prst="roundRect">
            <a:avLst>
              <a:gd name="adj" fmla="val 3488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8952" y="415137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Access Control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58952" y="4416552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governance-plane policy service — entitlements down to column and row level — from which every enforcement point (Trino filters, OpenSearch permissions, FastAPI authorization) derives.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758952" y="585216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through:  </a:t>
            </a:r>
            <a:r>
              <a:rPr lang="en-US" sz="105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Access &amp; role-gated features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913632"/>
            <a:ext cx="5486400" cy="2359152"/>
          </a:xfrm>
          <a:prstGeom prst="roundRect">
            <a:avLst>
              <a:gd name="adj" fmla="val 3488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73952" y="415137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2084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Registries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73952" y="4416552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models, agreements, quality rules, and tools that records bind to at runtime. Pushed via CI/CD from the owning code — manual forms drift. Semantic versioning lets consumers pin safely.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6473952" y="585216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through:  </a:t>
            </a:r>
            <a:r>
              <a:rPr lang="en-US" sz="105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Library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3.2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 &amp; Query Plane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486400" cy="2359152"/>
          </a:xfrm>
          <a:prstGeom prst="roundRect">
            <a:avLst>
              <a:gd name="adj" fmla="val 3488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160934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481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8952" y="18745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engine over structured products — interactive query directly against lake tables through the metastore, with no data copies. Product-scoped access resolves through Polaris grants, not Trino-local rules.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758952" y="331012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through:  </a:t>
            </a:r>
            <a:r>
              <a:rPr lang="en-US" sz="105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(Table) tab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86400" cy="2359152"/>
          </a:xfrm>
          <a:prstGeom prst="roundRect">
            <a:avLst>
              <a:gd name="adj" fmla="val 3488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73952" y="160934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20840" y="1481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OpenSearch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73952" y="18745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and reference indexes: product metadata for global search, extracted content for dataset full-text search, and reference datasets. Fast keyword and faceted retrieval — not big-data serving.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473952" y="331012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through:  </a:t>
            </a:r>
            <a:r>
              <a:rPr lang="en-US" sz="105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Data APIs, Discovery APIs, Query (Files) tab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913632"/>
            <a:ext cx="5486400" cy="2359152"/>
          </a:xfrm>
          <a:prstGeom prst="roundRect">
            <a:avLst>
              <a:gd name="adj" fmla="val 3488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8952" y="415137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58952" y="4416552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of extracted dataset content, powering semantic search and the grounding retrieval behind chat — meaning-based retrieval where keyword search falls short.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758952" y="585216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through:  </a:t>
            </a:r>
            <a:r>
              <a:rPr lang="en-US" sz="105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913632"/>
            <a:ext cx="5486400" cy="2359152"/>
          </a:xfrm>
          <a:prstGeom prst="roundRect">
            <a:avLst>
              <a:gd name="adj" fmla="val 3488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73952" y="415137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2084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 Query Engines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73952" y="4416552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engine images other ecosystems can deploy: metastore endpoint and policy enforcement baked in, central authentication, centrally patched, mandatory audit logging.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6473952" y="585216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through:  </a:t>
            </a:r>
            <a:r>
              <a:rPr lang="en-US" sz="105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offered to data partners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3.3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93C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Plane (</a:t>
            </a:r>
            <a:r>
              <a:rPr lang="en-US" sz="3000" b="1" dirty="0" err="1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supported doorway to the platform — three surfaces: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611880" cy="2240280"/>
          </a:xfrm>
          <a:prstGeom prst="roundRect">
            <a:avLst>
              <a:gd name="adj" fmla="val 4615"/>
            </a:avLst>
          </a:prstGeom>
          <a:solidFill>
            <a:srgbClr val="FAE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APIs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8952" y="2084832"/>
            <a:ext cx="3127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and discovery data drawn from OpenSearch — intentionally not for big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554480"/>
            <a:ext cx="3611880" cy="2240280"/>
          </a:xfrm>
          <a:prstGeom prst="roundRect">
            <a:avLst>
              <a:gd name="adj" fmla="val 4615"/>
            </a:avLst>
          </a:prstGeom>
          <a:solidFill>
            <a:srgbClr val="FAE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81144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APIs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81144" y="2084832"/>
            <a:ext cx="3127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Assembled product records, bindings, validation results, and lineage.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7304" y="1554480"/>
            <a:ext cx="3611880" cy="2240280"/>
          </a:xfrm>
          <a:prstGeom prst="roundRect">
            <a:avLst>
              <a:gd name="adj" fmla="val 4615"/>
            </a:avLst>
          </a:prstGeom>
          <a:solidFill>
            <a:srgbClr val="FAE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03336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Forwarding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403336" y="2084832"/>
            <a:ext cx="3127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Pushes searchable product metadata into the enterprise catalog's global search index, event-driven.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69080"/>
            <a:ext cx="11201400" cy="1234440"/>
          </a:xfrm>
          <a:prstGeom prst="roundRect">
            <a:avLst>
              <a:gd name="adj" fmla="val 6667"/>
            </a:avLst>
          </a:prstGeom>
          <a:solidFill>
            <a:srgbClr val="F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22452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Under-one-week API methodology.  </a:t>
            </a: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FastAPI template with authentication, product-scoped authorization, usage reporting, and OpenAPI docs baked in — a new Data API is configuration plus schema, not new infrastructure. Rate-limited and metered per consumer.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598932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Serves: data partners · reference data users · catalog search bar · metadata publishers &amp; consumers · Catalog API tab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8F8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6974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</a:t>
            </a: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Plane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DC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catalog as users see it — every surface below is a projection of the planes above.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Page</a:t>
            </a:r>
            <a:endParaRPr lang="en-US" sz="3000" dirty="0"/>
          </a:p>
        </p:txBody>
      </p:sp>
      <p:pic>
        <p:nvPicPr>
          <p:cNvPr id="5" name="Image 0" descr="docx_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7863840" cy="4126468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641080" y="1645920"/>
            <a:ext cx="3063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record for a representative product — assembled entirely from registry bindings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 span Details, Model Info, Agreement, Lineage, Validation, Tooling, Query, Search, and API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tab tracks the agreement-defined delivery lifecycle (currently Silver) with stage timestamps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Info and Agreement tabs bind at runtime to registry records — point-in-time, semantically versioned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Header &amp; Identifier</a:t>
            </a:r>
            <a:endParaRPr lang="en-US" sz="3000" dirty="0"/>
          </a:p>
        </p:txBody>
      </p:sp>
      <p:pic>
        <p:nvPicPr>
          <p:cNvPr id="5" name="Image 0" descr="docx_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11201400" cy="1657540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pic>
        <p:nvPicPr>
          <p:cNvPr id="6" name="Image 1" descr="docx_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20440"/>
            <a:ext cx="2377440" cy="1151955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3429000" y="3611880"/>
            <a:ext cx="8275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Header: identifier, created / last-updated / first-available dates, environment chips (U/S/J/A), periodicity, and a Request Access control gating entitlement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identifier is an editable combo box — typing filters registered product identifiers; arriving from a dataset pre-populates it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deliveries are sub-products, not new top-level records — the catalog stays concise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sub-product inherits business unit, parent datasets, model, and agreement; all other metadata is independent per delivery variant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cs typeface="Arial" pitchFamily="34" charset="-120"/>
              </a:rPr>
              <a:t>SECTION 5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4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dirty="0">
                <a:solidFill>
                  <a:srgbClr val="2B2A27"/>
                </a:solidFill>
                <a:latin typeface="Arial" pitchFamily="34" charset="0"/>
                <a:cs typeface="Arial" pitchFamily="34" charset="-120"/>
              </a:rPr>
              <a:t>Details Block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6217920" cy="2082516"/>
          </a:xfrm>
          <a:prstGeom prst="rect">
            <a:avLst/>
          </a:prstGeom>
          <a:effectLst>
            <a:outerShdw blurRad="76200" dist="25400" dir="5400000" algn="tl" rotWithShape="0">
              <a:srgbClr val="999999">
                <a:alpha val="35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28436"/>
            <a:ext cx="6217920" cy="1747356"/>
          </a:xfrm>
          <a:prstGeom prst="rect">
            <a:avLst/>
          </a:prstGeom>
          <a:effectLst>
            <a:outerShdw blurRad="76200" dist="25400" dir="5400000" algn="tl" rotWithShape="0">
              <a:srgbClr val="999999">
                <a:alpha val="35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5658672"/>
            <a:ext cx="6217920" cy="1020419"/>
          </a:xfrm>
          <a:prstGeom prst="rect">
            <a:avLst/>
          </a:prstGeom>
          <a:effectLst>
            <a:outerShdw blurRad="76200" dist="25400" dir="5400000" algn="tl" rotWithShape="0">
              <a:srgbClr val="999999">
                <a:alpha val="35000"/>
              </a:srgbClr>
            </a:outerShdw>
          </a:effectLst>
        </p:spPr>
      </p:pic>
      <p:sp>
        <p:nvSpPr>
          <p:cNvPr id="20" name="Text 20"/>
          <p:cNvSpPr/>
          <p:nvPr/>
        </p:nvSpPr>
        <p:spPr>
          <a:xfrm>
            <a:off x="7086600" y="1600200"/>
            <a:ext cx="4617720" cy="189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kern="0" dirty="0">
                <a:solidFill>
                  <a:srgbClr val="2B2A27"/>
                </a:solidFill>
                <a:latin typeface="Arial" pitchFamily="34" charset="0"/>
                <a:cs typeface="Arial" pitchFamily="34" charset="-120"/>
              </a:rPr>
              <a:t>Details — </a:t>
            </a:r>
            <a:r>
              <a:rPr lang="en-US" sz="1250" kern="0" dirty="0">
                <a:solidFill>
                  <a:srgbClr val="2B2A27"/>
                </a:solidFill>
                <a:latin typeface="Arial" pitchFamily="34" charset="0"/>
                <a:cs typeface="Arial" pitchFamily="34" charset="-120"/>
              </a:rPr>
              <a:t>the delivery-stage tracker with per-stage timestamps, the producer description, ETL producer comments, location, and tags.</a:t>
            </a:r>
          </a:p>
        </p:txBody>
      </p:sp>
      <p:sp>
        <p:nvSpPr>
          <p:cNvPr id="21" name="Text 21"/>
          <p:cNvSpPr/>
          <p:nvPr/>
        </p:nvSpPr>
        <p:spPr>
          <a:xfrm>
            <a:off x="7086600" y="3819876"/>
            <a:ext cx="4617720" cy="1655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kern="0" dirty="0">
                <a:solidFill>
                  <a:srgbClr val="2B2A27"/>
                </a:solidFill>
                <a:latin typeface="Arial" pitchFamily="34" charset="0"/>
                <a:cs typeface="Arial" pitchFamily="34" charset="-120"/>
              </a:rPr>
              <a:t>Agreement — </a:t>
            </a:r>
            <a:r>
              <a:rPr lang="en-US" sz="1250" kern="0" dirty="0">
                <a:solidFill>
                  <a:srgbClr val="2B2A27"/>
                </a:solidFill>
                <a:latin typeface="Arial" pitchFamily="34" charset="0"/>
                <a:cs typeface="Arial" pitchFamily="34" charset="-120"/>
              </a:rPr>
              <a:t>the runtime-bound product agreement: data lake, providers, producers, consumers, and networks.</a:t>
            </a:r>
          </a:p>
        </p:txBody>
      </p:sp>
      <p:sp>
        <p:nvSpPr>
          <p:cNvPr id="22" name="Text 22"/>
          <p:cNvSpPr/>
          <p:nvPr/>
        </p:nvSpPr>
        <p:spPr>
          <a:xfrm>
            <a:off x="7086600" y="5658672"/>
            <a:ext cx="4617720" cy="1203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kern="0" dirty="0">
                <a:solidFill>
                  <a:srgbClr val="2B2A27"/>
                </a:solidFill>
                <a:latin typeface="Arial" pitchFamily="34" charset="0"/>
                <a:cs typeface="Arial" pitchFamily="34" charset="-120"/>
              </a:rPr>
              <a:t>Model Info — </a:t>
            </a:r>
            <a:r>
              <a:rPr lang="en-US" sz="1250" kern="0" dirty="0">
                <a:solidFill>
                  <a:srgbClr val="2B2A27"/>
                </a:solidFill>
                <a:latin typeface="Arial" pitchFamily="34" charset="0"/>
                <a:cs typeface="Arial" pitchFamily="34" charset="-120"/>
              </a:rPr>
              <a:t>the bound logical model with tier, spec maintainer, and semantic versioning on breaking changes.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Discovery</a:t>
            </a:r>
            <a:endParaRPr lang="en-US" sz="3000" dirty="0"/>
          </a:p>
        </p:txBody>
      </p:sp>
      <p:pic>
        <p:nvPicPr>
          <p:cNvPr id="5" name="Image 0" descr="docx_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11201400" cy="1918758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777240" y="406908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search supports two scopes: searching data products directly, or searching by keyword / tag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operators like is:product and keyword:pii narrow results without leaving the search bar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is backed by the OpenSearch indexes in the engines layer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</a:t>
            </a:r>
            <a:endParaRPr lang="en-US" sz="3000" dirty="0"/>
          </a:p>
        </p:txBody>
      </p:sp>
      <p:pic>
        <p:nvPicPr>
          <p:cNvPr id="5" name="Image 0" descr="docx_media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6949440" cy="3365041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7726680" y="155448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lineage maps source headers to destination headers for structured tabular products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Product-level metadata columns are documented on the right, with no source arrow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 and Data P&amp;L (Provenance &amp; Lineage) views inherit from the Catalog — out of scope for this effort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8 – 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Tooling</a:t>
            </a:r>
            <a:endParaRPr lang="en-US" sz="3000" dirty="0"/>
          </a:p>
        </p:txBody>
      </p:sp>
      <p:pic>
        <p:nvPicPr>
          <p:cNvPr id="5" name="Image 0" descr="docx_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766560" cy="3249759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pic>
        <p:nvPicPr>
          <p:cNvPr id="6" name="Image 1" descr="docx_media/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892040"/>
            <a:ext cx="6766560" cy="1380378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7543800" y="1508760"/>
            <a:ext cx="4160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is generated per product run — pick from the last ten jobs, filter by table, or search 100 runs by run ID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rule card: identifier, plain-language description, pass / fail / warning, and a link to its Artifact Library record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tab lists transform and analysis components bound to the exact versions that ran during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Interfaces</a:t>
            </a:r>
            <a:endParaRPr lang="en-US" sz="3000" dirty="0"/>
          </a:p>
        </p:txBody>
      </p:sp>
      <p:pic>
        <p:nvPicPr>
          <p:cNvPr id="5" name="Image 0" descr="docx_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6035040" cy="3039722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pic>
        <p:nvPicPr>
          <p:cNvPr id="6" name="Image 1" descr="docx_media/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709160"/>
            <a:ext cx="6035040" cy="1830764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903720" y="1554480"/>
            <a:ext cx="4800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(Table): SQL sandbox over the product-scoped metastore, powered by Trino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comments surface producer decision points right beside the data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(Files): filterable JSON file inspector for file-delivered products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gated by product entitlements — queryable by anyone with proper access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93C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 Search &amp; Chat</a:t>
            </a:r>
            <a:endParaRPr lang="en-US" sz="3000" dirty="0"/>
          </a:p>
        </p:txBody>
      </p:sp>
      <p:pic>
        <p:nvPicPr>
          <p:cNvPr id="5" name="Image 0" descr="docx_media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6492240" cy="3311216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pic>
        <p:nvPicPr>
          <p:cNvPr id="6" name="Image 1" descr="docx_media/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463040"/>
            <a:ext cx="3039096" cy="3291840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777240" y="512064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Dataset-scoped full-text search over extracted content, with highlighted hits and an inline viewer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from dataset records — built for discovery and reference data, not big data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Data answers grounded in the product's own index, served by OpenSearch + the vector DB behind FastAPI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93C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APIs</a:t>
            </a:r>
            <a:endParaRPr lang="en-US" sz="3000" dirty="0"/>
          </a:p>
        </p:txBody>
      </p:sp>
      <p:pic>
        <p:nvPicPr>
          <p:cNvPr id="5" name="Image 0" descr="docx_media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7863840" cy="3248222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641080" y="1645920"/>
            <a:ext cx="3063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tab documents the REST endpoints published for the product, with a try-it-out console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Intended for discovery data products and reference data — not for big data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API ships from the FastAPI template: authenticated, product-scoped, metered, and documented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93C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Library</a:t>
            </a:r>
            <a:endParaRPr lang="en-US" sz="3000" dirty="0"/>
          </a:p>
        </p:txBody>
      </p:sp>
      <p:pic>
        <p:nvPicPr>
          <p:cNvPr id="5" name="Image 0" descr="docx_media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733" y="1463040"/>
            <a:ext cx="2366920" cy="3566160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pic>
        <p:nvPicPr>
          <p:cNvPr id="6" name="Image 1" descr="docx_media/imag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973" y="1463040"/>
            <a:ext cx="2826779" cy="3566160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pic>
        <p:nvPicPr>
          <p:cNvPr id="7" name="Image 2" descr="docx_media/image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2072" y="1463040"/>
            <a:ext cx="2725211" cy="3566160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8" name="Text 3"/>
          <p:cNvSpPr/>
          <p:nvPr/>
        </p:nvSpPr>
        <p:spPr>
          <a:xfrm>
            <a:off x="777240" y="54406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Models — </a:t>
            </a: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 for modeling data.</a:t>
            </a:r>
            <a:r>
              <a:rPr lang="en-US" sz="125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Rules — </a:t>
            </a: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specs pushed from validator CI/CD.   </a:t>
            </a:r>
            <a:r>
              <a:rPr lang="en-US" sz="125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Agreements — </a:t>
            </a: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dynamic, versioned data contracts bound into records at runtime.   </a:t>
            </a:r>
            <a:r>
              <a:rPr lang="en-US" sz="125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— </a:t>
            </a: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components with tags, versions, and source links, pushed from tool CI/CD.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77724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filterable panel across models, tools, rules, agreements, systems, lakes, identities, and tags — lifecycle status (Draft, In Review, Published) on every record.</a:t>
            </a:r>
            <a:endParaRPr lang="en-US" sz="11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BDD469-74D8-47E7-D475-B0DA8C6519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410" y="1463040"/>
            <a:ext cx="2481002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Menu</a:t>
            </a:r>
            <a:endParaRPr lang="en-US" sz="3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F95456C-1D73-FC77-5E90-086BEF223A9E}"/>
              </a:ext>
            </a:extLst>
          </p:cNvPr>
          <p:cNvGrpSpPr/>
          <p:nvPr/>
        </p:nvGrpSpPr>
        <p:grpSpPr>
          <a:xfrm>
            <a:off x="1511328" y="1123992"/>
            <a:ext cx="2865121" cy="5285232"/>
            <a:chOff x="1511328" y="1123992"/>
            <a:chExt cx="2865121" cy="5285232"/>
          </a:xfrm>
        </p:grpSpPr>
        <p:pic>
          <p:nvPicPr>
            <p:cNvPr id="5" name="Image 0" descr="docx_media/image2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1328" y="1123992"/>
              <a:ext cx="2865121" cy="3790401"/>
            </a:xfrm>
            <a:prstGeom prst="rect">
              <a:avLst/>
            </a:prstGeom>
            <a:effectLst>
              <a:outerShdw blurRad="76200" dist="25400" dir="5400000" algn="bl" rotWithShape="0">
                <a:srgbClr val="999999">
                  <a:alpha val="35000"/>
                </a:srgbClr>
              </a:outerShdw>
            </a:effectLst>
          </p:spPr>
        </p:pic>
        <p:pic>
          <p:nvPicPr>
            <p:cNvPr id="6" name="Image 1" descr="docx_media/image24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97631" y="4845653"/>
              <a:ext cx="2778818" cy="1563571"/>
            </a:xfrm>
            <a:prstGeom prst="rect">
              <a:avLst/>
            </a:prstGeom>
            <a:effectLst>
              <a:outerShdw blurRad="76200" dist="25400" dir="5400000" algn="bl" rotWithShape="0">
                <a:srgbClr val="999999">
                  <a:alpha val="35000"/>
                </a:srgbClr>
              </a:outerShdw>
            </a:effectLst>
          </p:spPr>
        </p:pic>
      </p:grpSp>
      <p:sp>
        <p:nvSpPr>
          <p:cNvPr id="7" name="Text 3"/>
          <p:cNvSpPr/>
          <p:nvPr/>
        </p:nvSpPr>
        <p:spPr>
          <a:xfrm>
            <a:off x="8503920" y="1554480"/>
            <a:ext cx="3200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menu of searchable, self-service workflows — register a model or tool, create an agreement, request conditioning, profiling, or enhanced discovery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are gated by data professional roles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action invokes the same governed APIs available to automation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320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Assistant</a:t>
            </a:r>
            <a:endParaRPr lang="en-US" sz="3000" dirty="0"/>
          </a:p>
        </p:txBody>
      </p:sp>
      <p:pic>
        <p:nvPicPr>
          <p:cNvPr id="5" name="Image 0" descr="docx_media/image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3302533" cy="4846320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754880" y="155448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floating widget available throughout the portal, launched and dismissed from a persistent corner button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users find their way around, explains Data Services, and points them to the right place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shortcuts — Catalog, Transport, Conditioning, Data Lakes, Dashboards, Content Triage, Workbench — scope the conversation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Portal-wide navigation and self-service help, distinct from the product-scoped Chat with Data feature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2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registration to transparency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237744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2E2A63"/>
          </a:solidFill>
          <a:ln w="15875">
            <a:solidFill>
              <a:srgbClr val="8B8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8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04088" y="30632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C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· agreement · tooling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60904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8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98648" y="237744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2E2A63"/>
          </a:solidFill>
          <a:ln w="15875">
            <a:solidFill>
              <a:srgbClr val="3FBF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3580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FB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ETL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08376" y="30632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C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bound validation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5192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8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202936" y="237744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2E2A63"/>
          </a:solidFill>
          <a:ln w="15875">
            <a:solidFill>
              <a:srgbClr val="3FBF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40096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FB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12664" y="30632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C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metadata &amp; content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69480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8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507224" y="237744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2E2A63"/>
          </a:solidFill>
          <a:ln w="15875">
            <a:solidFill>
              <a:srgbClr val="3FBF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44384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FBF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616952" y="30632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C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&amp; search indexes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73768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8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811512" y="237744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2E2A63"/>
          </a:solidFill>
          <a:ln w="15875">
            <a:solidFill>
              <a:srgbClr val="E89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48672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9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921240" y="30632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C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· queryable · transparent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DC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capability in this deck is a projection of this pipeline — no step is manual, and re-running it is always safe.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8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Product Technical Catalog · August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1687</Words>
  <Application>Microsoft Macintosh PowerPoint</Application>
  <PresentationFormat>Widescreen</PresentationFormat>
  <Paragraphs>192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Aaron W</cp:lastModifiedBy>
  <cp:revision>13</cp:revision>
  <dcterms:created xsi:type="dcterms:W3CDTF">2026-08-04T03:33:27Z</dcterms:created>
  <dcterms:modified xsi:type="dcterms:W3CDTF">2026-08-04T04:01:35Z</dcterms:modified>
</cp:coreProperties>
</file>