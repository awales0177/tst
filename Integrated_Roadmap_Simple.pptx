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81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 by initiative, left to right by quarter. Colors show the owning team; stacked bars in a row show teams working in parallel on the same initiative. Yellow diamonds mark go-live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 Integrated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initiatives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35240" y="384048"/>
            <a:ext cx="237744" cy="146304"/>
          </a:xfrm>
          <a:prstGeom prst="roundRect">
            <a:avLst>
              <a:gd name="adj" fmla="val 31250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936992" y="3474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52560" y="384048"/>
            <a:ext cx="237744" cy="146304"/>
          </a:xfrm>
          <a:prstGeom prst="roundRect">
            <a:avLst>
              <a:gd name="adj" fmla="val 31250"/>
            </a:avLst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54312" y="3474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69880" y="384048"/>
            <a:ext cx="237744" cy="146304"/>
          </a:xfrm>
          <a:prstGeom prst="roundRect">
            <a:avLst>
              <a:gd name="adj" fmla="val 31250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771632" y="3474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694944"/>
            <a:ext cx="237744" cy="146304"/>
          </a:xfrm>
          <a:prstGeom prst="roundRect">
            <a:avLst>
              <a:gd name="adj" fmla="val 31250"/>
            </a:avLst>
          </a:prstGeom>
          <a:solidFill>
            <a:srgbClr val="DB2777">
              <a:alpha val="30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36992" y="658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694944"/>
            <a:ext cx="237744" cy="146304"/>
          </a:xfrm>
          <a:prstGeom prst="roundRect">
            <a:avLst>
              <a:gd name="adj" fmla="val 31250"/>
            </a:avLst>
          </a:prstGeom>
          <a:solidFill>
            <a:srgbClr val="D97706">
              <a:alpha val="3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354312" y="658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69880" y="694944"/>
            <a:ext cx="237744" cy="146304"/>
          </a:xfrm>
          <a:prstGeom prst="roundRect">
            <a:avLst>
              <a:gd name="adj" fmla="val 31250"/>
            </a:avLst>
          </a:prstGeom>
          <a:solidFill>
            <a:srgbClr val="16A34A">
              <a:alpha val="3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771632" y="6583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65576" y="1280160"/>
            <a:ext cx="2002536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429000" y="128016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41264" y="1280160"/>
            <a:ext cx="2002536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504688" y="128016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16952" y="1280160"/>
            <a:ext cx="2002536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80376" y="128016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1280160"/>
            <a:ext cx="2002536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656064" y="128016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120896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2792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504688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196584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88480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580376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72272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964168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656064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347960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39856" y="1581912"/>
            <a:ext cx="691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1581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1828800"/>
            <a:ext cx="1141171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2743200"/>
            <a:ext cx="1141171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1141171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1141171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5486400"/>
            <a:ext cx="1141171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29000" y="1828800"/>
            <a:ext cx="0" cy="4572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20896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12792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04688" y="1828800"/>
            <a:ext cx="0" cy="4572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96584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88480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80376" y="1828800"/>
            <a:ext cx="0" cy="4572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272272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964168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56064" y="1828800"/>
            <a:ext cx="0" cy="4572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347960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039856" y="1828800"/>
            <a:ext cx="0" cy="457200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731752" y="1828800"/>
            <a:ext cx="0" cy="4572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2920" y="19202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Migration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3456432" y="1869948"/>
            <a:ext cx="3404616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3529584" y="1869948"/>
            <a:ext cx="28590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core services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148328" y="2071116"/>
            <a:ext cx="2366772" cy="173736"/>
          </a:xfrm>
          <a:prstGeom prst="roundRect">
            <a:avLst>
              <a:gd name="adj" fmla="val 31579"/>
            </a:avLst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4221480" y="2071116"/>
            <a:ext cx="22753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cost consolidation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15912" y="1869948"/>
            <a:ext cx="1328928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6989064" y="1869948"/>
            <a:ext cx="123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DC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180832" y="19659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02920" y="23774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5029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Data Hub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3456432" y="2327148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3529584" y="2327148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model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24016" y="2327148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6297168" y="2327148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840224" y="2528316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4913376" y="2528316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API layer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872728" y="24231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02920" y="28346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5029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91440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Support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4840224" y="2784348"/>
            <a:ext cx="3404616" cy="173736"/>
          </a:xfrm>
          <a:prstGeom prst="roundRect">
            <a:avLst>
              <a:gd name="adj" fmla="val 31579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 txBox="1"/>
          <p:nvPr/>
        </p:nvSpPr>
        <p:spPr>
          <a:xfrm>
            <a:off x="4913376" y="2784348"/>
            <a:ext cx="3313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532120" y="2985516"/>
            <a:ext cx="1328928" cy="173736"/>
          </a:xfrm>
          <a:prstGeom prst="roundRect">
            <a:avLst>
              <a:gd name="adj" fmla="val 31579"/>
            </a:avLst>
          </a:prstGeom>
          <a:solidFill>
            <a:srgbClr val="DB2777">
              <a:alpha val="22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 txBox="1"/>
          <p:nvPr/>
        </p:nvSpPr>
        <p:spPr>
          <a:xfrm>
            <a:off x="5605272" y="2985516"/>
            <a:ext cx="123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UX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915912" y="2985516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 txBox="1"/>
          <p:nvPr/>
        </p:nvSpPr>
        <p:spPr>
          <a:xfrm>
            <a:off x="6989064" y="2985516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rollout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517327" y="3057407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02920" y="32918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91440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Relaunch</a:t>
            </a:r>
            <a:endParaRPr lang="en-US" sz="1250" dirty="0"/>
          </a:p>
        </p:txBody>
      </p:sp>
      <p:sp>
        <p:nvSpPr>
          <p:cNvPr id="88" name="Shape 86"/>
          <p:cNvSpPr/>
          <p:nvPr/>
        </p:nvSpPr>
        <p:spPr>
          <a:xfrm>
            <a:off x="3456432" y="3241548"/>
            <a:ext cx="2020824" cy="173736"/>
          </a:xfrm>
          <a:prstGeom prst="roundRect">
            <a:avLst>
              <a:gd name="adj" fmla="val 31579"/>
            </a:avLst>
          </a:prstGeom>
          <a:solidFill>
            <a:srgbClr val="DB2777">
              <a:alpha val="22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 txBox="1"/>
          <p:nvPr/>
        </p:nvSpPr>
        <p:spPr>
          <a:xfrm>
            <a:off x="3529584" y="3241548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design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532120" y="3241548"/>
            <a:ext cx="3404616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 txBox="1"/>
          <p:nvPr/>
        </p:nvSpPr>
        <p:spPr>
          <a:xfrm>
            <a:off x="5605272" y="3241548"/>
            <a:ext cx="3313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 v2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148328" y="3442716"/>
            <a:ext cx="2020824" cy="173736"/>
          </a:xfrm>
          <a:prstGeom prst="roundRect">
            <a:avLst>
              <a:gd name="adj" fmla="val 31579"/>
            </a:avLst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 txBox="1"/>
          <p:nvPr/>
        </p:nvSpPr>
        <p:spPr>
          <a:xfrm>
            <a:off x="4221480" y="3442716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&amp; roadmap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299704" y="3442716"/>
            <a:ext cx="1674876" cy="173736"/>
          </a:xfrm>
          <a:prstGeom prst="roundRect">
            <a:avLst>
              <a:gd name="adj" fmla="val 31579"/>
            </a:avLst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 txBox="1"/>
          <p:nvPr/>
        </p:nvSpPr>
        <p:spPr>
          <a:xfrm>
            <a:off x="8372856" y="3442716"/>
            <a:ext cx="15834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campaign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902952" y="3477348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02920" y="37490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 txBox="1"/>
          <p:nvPr/>
        </p:nvSpPr>
        <p:spPr>
          <a:xfrm>
            <a:off x="5029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9" name="Text 97"/>
          <p:cNvSpPr txBox="1"/>
          <p:nvPr/>
        </p:nvSpPr>
        <p:spPr>
          <a:xfrm>
            <a:off x="91440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</a:t>
            </a:r>
            <a:endParaRPr lang="en-US" sz="1250" dirty="0"/>
          </a:p>
        </p:txBody>
      </p:sp>
      <p:sp>
        <p:nvSpPr>
          <p:cNvPr id="100" name="Shape 98"/>
          <p:cNvSpPr/>
          <p:nvPr/>
        </p:nvSpPr>
        <p:spPr>
          <a:xfrm>
            <a:off x="3456432" y="3698748"/>
            <a:ext cx="4096512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 txBox="1"/>
          <p:nvPr/>
        </p:nvSpPr>
        <p:spPr>
          <a:xfrm>
            <a:off x="3529584" y="3698748"/>
            <a:ext cx="4005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controls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224016" y="3899916"/>
            <a:ext cx="4096512" cy="173736"/>
          </a:xfrm>
          <a:prstGeom prst="roundRect">
            <a:avLst>
              <a:gd name="adj" fmla="val 31579"/>
            </a:avLst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 txBox="1"/>
          <p:nvPr/>
        </p:nvSpPr>
        <p:spPr>
          <a:xfrm>
            <a:off x="6297168" y="3899916"/>
            <a:ext cx="4005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compliance audit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0256520" y="37947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02920" y="42062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 txBox="1"/>
          <p:nvPr/>
        </p:nvSpPr>
        <p:spPr>
          <a:xfrm>
            <a:off x="50292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91440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250" dirty="0"/>
          </a:p>
        </p:txBody>
      </p:sp>
      <p:sp>
        <p:nvSpPr>
          <p:cNvPr id="108" name="Shape 106"/>
          <p:cNvSpPr/>
          <p:nvPr/>
        </p:nvSpPr>
        <p:spPr>
          <a:xfrm>
            <a:off x="4840224" y="4155948"/>
            <a:ext cx="2020824" cy="173736"/>
          </a:xfrm>
          <a:prstGeom prst="roundRect">
            <a:avLst>
              <a:gd name="adj" fmla="val 31579"/>
            </a:avLst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 txBox="1"/>
          <p:nvPr/>
        </p:nvSpPr>
        <p:spPr>
          <a:xfrm>
            <a:off x="4913376" y="4155948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mapping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915912" y="4155948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 txBox="1"/>
          <p:nvPr/>
        </p:nvSpPr>
        <p:spPr>
          <a:xfrm>
            <a:off x="6989064" y="4155948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A/B test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532120" y="4357116"/>
            <a:ext cx="2366772" cy="173736"/>
          </a:xfrm>
          <a:prstGeom prst="roundRect">
            <a:avLst>
              <a:gd name="adj" fmla="val 31579"/>
            </a:avLst>
          </a:prstGeom>
          <a:solidFill>
            <a:srgbClr val="DB2777">
              <a:alpha val="22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 txBox="1"/>
          <p:nvPr/>
        </p:nvSpPr>
        <p:spPr>
          <a:xfrm>
            <a:off x="5605272" y="4357116"/>
            <a:ext cx="22753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redesign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564624" y="42519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502920" y="46634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 txBox="1"/>
          <p:nvPr/>
        </p:nvSpPr>
        <p:spPr>
          <a:xfrm>
            <a:off x="50292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7" name="Text 115"/>
          <p:cNvSpPr txBox="1"/>
          <p:nvPr/>
        </p:nvSpPr>
        <p:spPr>
          <a:xfrm>
            <a:off x="91440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 Refresh</a:t>
            </a:r>
            <a:endParaRPr lang="en-US" sz="1250" dirty="0"/>
          </a:p>
        </p:txBody>
      </p:sp>
      <p:sp>
        <p:nvSpPr>
          <p:cNvPr id="118" name="Shape 116"/>
          <p:cNvSpPr/>
          <p:nvPr/>
        </p:nvSpPr>
        <p:spPr>
          <a:xfrm>
            <a:off x="6224016" y="4613148"/>
            <a:ext cx="2020824" cy="173736"/>
          </a:xfrm>
          <a:prstGeom prst="roundRect">
            <a:avLst>
              <a:gd name="adj" fmla="val 31579"/>
            </a:avLst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 txBox="1"/>
          <p:nvPr/>
        </p:nvSpPr>
        <p:spPr>
          <a:xfrm>
            <a:off x="6297168" y="4613148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research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607808" y="4814316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 txBox="1"/>
          <p:nvPr/>
        </p:nvSpPr>
        <p:spPr>
          <a:xfrm>
            <a:off x="7680960" y="4814316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0256520" y="47091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 txBox="1"/>
          <p:nvPr/>
        </p:nvSpPr>
        <p:spPr>
          <a:xfrm>
            <a:off x="50292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5" name="Text 123"/>
          <p:cNvSpPr txBox="1"/>
          <p:nvPr/>
        </p:nvSpPr>
        <p:spPr>
          <a:xfrm>
            <a:off x="914400" y="5029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Ecosystem Launch</a:t>
            </a:r>
            <a:endParaRPr lang="en-US" sz="1250" dirty="0"/>
          </a:p>
        </p:txBody>
      </p:sp>
      <p:sp>
        <p:nvSpPr>
          <p:cNvPr id="126" name="Shape 124"/>
          <p:cNvSpPr/>
          <p:nvPr/>
        </p:nvSpPr>
        <p:spPr>
          <a:xfrm>
            <a:off x="6915912" y="5070348"/>
            <a:ext cx="2020824" cy="173736"/>
          </a:xfrm>
          <a:prstGeom prst="roundRect">
            <a:avLst>
              <a:gd name="adj" fmla="val 31579"/>
            </a:avLst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 txBox="1"/>
          <p:nvPr/>
        </p:nvSpPr>
        <p:spPr>
          <a:xfrm>
            <a:off x="6989064" y="5070348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991600" y="5070348"/>
            <a:ext cx="2020824" cy="173736"/>
          </a:xfrm>
          <a:prstGeom prst="roundRect">
            <a:avLst>
              <a:gd name="adj" fmla="val 31579"/>
            </a:avLst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 txBox="1"/>
          <p:nvPr/>
        </p:nvSpPr>
        <p:spPr>
          <a:xfrm>
            <a:off x="9064752" y="5070348"/>
            <a:ext cx="19293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recruitment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7607808" y="5271516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 txBox="1"/>
          <p:nvPr/>
        </p:nvSpPr>
        <p:spPr>
          <a:xfrm>
            <a:off x="7680960" y="5271516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marketplace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0948416" y="51663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02920" y="55778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 txBox="1"/>
          <p:nvPr/>
        </p:nvSpPr>
        <p:spPr>
          <a:xfrm>
            <a:off x="50292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35" name="Text 133"/>
          <p:cNvSpPr txBox="1"/>
          <p:nvPr/>
        </p:nvSpPr>
        <p:spPr>
          <a:xfrm>
            <a:off x="914400" y="5486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Market Expansion</a:t>
            </a:r>
            <a:endParaRPr lang="en-US" sz="1250" dirty="0"/>
          </a:p>
        </p:txBody>
      </p:sp>
      <p:sp>
        <p:nvSpPr>
          <p:cNvPr id="136" name="Shape 134"/>
          <p:cNvSpPr/>
          <p:nvPr/>
        </p:nvSpPr>
        <p:spPr>
          <a:xfrm>
            <a:off x="5532120" y="5527548"/>
            <a:ext cx="5964631" cy="173736"/>
          </a:xfrm>
          <a:prstGeom prst="roundRect">
            <a:avLst>
              <a:gd name="adj" fmla="val 31579"/>
            </a:avLst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 txBox="1"/>
          <p:nvPr/>
        </p:nvSpPr>
        <p:spPr>
          <a:xfrm>
            <a:off x="5605272" y="5527548"/>
            <a:ext cx="587319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&amp; sales hiring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148328" y="5728716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 txBox="1"/>
          <p:nvPr/>
        </p:nvSpPr>
        <p:spPr>
          <a:xfrm>
            <a:off x="4221480" y="5728716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&amp; payroll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7607808" y="5728716"/>
            <a:ext cx="1674876" cy="173736"/>
          </a:xfrm>
          <a:prstGeom prst="roundRect">
            <a:avLst>
              <a:gd name="adj" fmla="val 31579"/>
            </a:avLst>
          </a:prstGeom>
          <a:solidFill>
            <a:srgbClr val="DB2777">
              <a:alpha val="22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 txBox="1"/>
          <p:nvPr/>
        </p:nvSpPr>
        <p:spPr>
          <a:xfrm>
            <a:off x="7680960" y="5728716"/>
            <a:ext cx="15834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1571122" y="56235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502920" y="6035040"/>
            <a:ext cx="274320" cy="27432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 txBox="1"/>
          <p:nvPr/>
        </p:nvSpPr>
        <p:spPr>
          <a:xfrm>
            <a:off x="502920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45" name="Text 143"/>
          <p:cNvSpPr txBox="1"/>
          <p:nvPr/>
        </p:nvSpPr>
        <p:spPr>
          <a:xfrm>
            <a:off x="914400" y="5943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50" dirty="0"/>
          </a:p>
        </p:txBody>
      </p:sp>
      <p:sp>
        <p:nvSpPr>
          <p:cNvPr id="146" name="Shape 144"/>
          <p:cNvSpPr/>
          <p:nvPr/>
        </p:nvSpPr>
        <p:spPr>
          <a:xfrm>
            <a:off x="3456432" y="5984748"/>
            <a:ext cx="2712720" cy="173736"/>
          </a:xfrm>
          <a:prstGeom prst="roundRect">
            <a:avLst>
              <a:gd name="adj" fmla="val 31579"/>
            </a:avLst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 txBox="1"/>
          <p:nvPr/>
        </p:nvSpPr>
        <p:spPr>
          <a:xfrm>
            <a:off x="3529584" y="5984748"/>
            <a:ext cx="262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audit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6224016" y="5984748"/>
            <a:ext cx="3404616" cy="173736"/>
          </a:xfrm>
          <a:prstGeom prst="roundRect">
            <a:avLst>
              <a:gd name="adj" fmla="val 31579"/>
            </a:avLst>
          </a:prstGeom>
          <a:solidFill>
            <a:srgbClr val="16A34A">
              <a:alpha val="2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 txBox="1"/>
          <p:nvPr/>
        </p:nvSpPr>
        <p:spPr>
          <a:xfrm>
            <a:off x="6297168" y="5984748"/>
            <a:ext cx="3313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rollout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7607808" y="6185916"/>
            <a:ext cx="3404616" cy="173736"/>
          </a:xfrm>
          <a:prstGeom prst="roundRect">
            <a:avLst>
              <a:gd name="adj" fmla="val 31579"/>
            </a:avLst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 txBox="1"/>
          <p:nvPr/>
        </p:nvSpPr>
        <p:spPr>
          <a:xfrm>
            <a:off x="7680960" y="6185916"/>
            <a:ext cx="3313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11294364" y="6080760"/>
            <a:ext cx="182880" cy="182880"/>
          </a:xfrm>
          <a:prstGeom prst="diamond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02920" y="6556248"/>
            <a:ext cx="146304" cy="146304"/>
          </a:xfrm>
          <a:prstGeom prst="diamond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 txBox="1"/>
          <p:nvPr/>
        </p:nvSpPr>
        <p:spPr>
          <a:xfrm>
            <a:off x="731520" y="6528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 / go-live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2606040" y="6547104"/>
            <a:ext cx="274320" cy="73152"/>
          </a:xfrm>
          <a:prstGeom prst="roundRect">
            <a:avLst>
              <a:gd name="adj" fmla="val 37500"/>
            </a:avLst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2606040" y="6638544"/>
            <a:ext cx="274320" cy="73152"/>
          </a:xfrm>
          <a:prstGeom prst="roundRect">
            <a:avLst>
              <a:gd name="adj" fmla="val 37500"/>
            </a:avLst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 txBox="1"/>
          <p:nvPr/>
        </p:nvSpPr>
        <p:spPr>
          <a:xfrm>
            <a:off x="2971800" y="6528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bars = teams working in parallel</a:t>
            </a:r>
            <a:endParaRPr lang="en-US" sz="1000" dirty="0"/>
          </a:p>
        </p:txBody>
      </p:sp>
      <p:sp>
        <p:nvSpPr>
          <p:cNvPr id="158" name="Text 156"/>
          <p:cNvSpPr txBox="1"/>
          <p:nvPr/>
        </p:nvSpPr>
        <p:spPr>
          <a:xfrm>
            <a:off x="8046720" y="652881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plan · dates subject to quarterly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216</Words>
  <Application>Microsoft Macintosh PowerPoint</Application>
  <PresentationFormat>Widescreen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Aaron W</cp:lastModifiedBy>
  <cp:revision>3</cp:revision>
  <dcterms:created xsi:type="dcterms:W3CDTF">2026-09-23T00:52:13Z</dcterms:created>
  <dcterms:modified xsi:type="dcterms:W3CDTF">2026-09-23T02:07:59Z</dcterms:modified>
</cp:coreProperties>
</file>