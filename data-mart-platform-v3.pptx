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84"/>
    <p:restoredTop sz="94610"/>
  </p:normalViewPr>
  <p:slideViewPr>
    <p:cSldViewPr snapToGrid="0" snapToObjects="1">
      <p:cViewPr>
        <p:scale>
          <a:sx n="96" d="100"/>
          <a:sy n="96" d="100"/>
        </p:scale>
        <p:origin x="101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3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jp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19">
            <a:extLst>
              <a:ext uri="{FF2B5EF4-FFF2-40B4-BE49-F238E27FC236}">
                <a16:creationId xmlns:a16="http://schemas.microsoft.com/office/drawing/2014/main" id="{EF0F4C48-FB09-D9F0-56AB-104FEABF7577}"/>
              </a:ext>
            </a:extLst>
          </p:cNvPr>
          <p:cNvSpPr/>
          <p:nvPr/>
        </p:nvSpPr>
        <p:spPr>
          <a:xfrm>
            <a:off x="583811" y="4817998"/>
            <a:ext cx="13858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2229729" y="243456"/>
            <a:ext cx="7040880" cy="5623560"/>
          </a:xfrm>
          <a:prstGeom prst="roundRect">
            <a:avLst>
              <a:gd name="adj" fmla="val 1301"/>
            </a:avLst>
          </a:prstGeom>
          <a:solidFill>
            <a:srgbClr val="EDF2FA"/>
          </a:solidFill>
          <a:ln w="15875">
            <a:solidFill>
              <a:srgbClr val="9AB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75649" y="250288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PLATFORM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12609" y="574900"/>
            <a:ext cx="6355080" cy="1097280"/>
          </a:xfrm>
          <a:prstGeom prst="rect">
            <a:avLst/>
          </a:prstGeom>
          <a:solidFill>
            <a:srgbClr val="FDF9F4"/>
          </a:solidFill>
          <a:ln w="12700">
            <a:solidFill>
              <a:srgbClr val="E8A1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412609" y="611476"/>
            <a:ext cx="6355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(DISCOVERY &amp; GOVERNANCE)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4976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32738" y="903512"/>
            <a:ext cx="1134529" cy="1904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Tooling</a:t>
            </a:r>
            <a:r>
              <a:rPr lang="en-US" sz="850" b="1" dirty="0"/>
              <a:t> &amp; Rules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0424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496135" y="885796"/>
            <a:ext cx="819477" cy="1948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850" dirty="0"/>
              <a:t>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5872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92485" y="901036"/>
            <a:ext cx="9875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r>
              <a:rPr lang="en-US" sz="850" dirty="0"/>
              <a:t>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13209" y="867508"/>
            <a:ext cx="1444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60859" y="866916"/>
            <a:ext cx="1175439" cy="238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r>
              <a:rPr lang="en-US" sz="850" dirty="0"/>
              <a:t> </a:t>
            </a: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12609" y="1919068"/>
            <a:ext cx="1645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467473" y="1983076"/>
            <a:ext cx="1536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APIs 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87129" y="1873348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9AB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332849" y="1946500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81689" y="1873348"/>
            <a:ext cx="1325880" cy="1463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9C7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50268" y="1847509"/>
            <a:ext cx="12344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GRAINED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87129" y="3564988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12700">
            <a:solidFill>
              <a:srgbClr val="7A9C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87129" y="3610708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24289" y="3885028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401430" y="391246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Retrieval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67289" y="3885028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567289" y="393989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10289" y="3885028"/>
            <a:ext cx="1005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710289" y="393989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81888" y="1877919"/>
            <a:ext cx="109728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55040" y="1964788"/>
            <a:ext cx="950976" cy="2976371"/>
          </a:xfrm>
          <a:prstGeom prst="roundRect">
            <a:avLst>
              <a:gd name="adj" fmla="val 4808"/>
            </a:avLst>
          </a:prstGeom>
          <a:solidFill>
            <a:srgbClr val="F5F1FB"/>
          </a:solidFill>
          <a:ln w="12700">
            <a:solidFill>
              <a:srgbClr val="9C7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203809" y="233512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33385" y="3310095"/>
            <a:ext cx="731520" cy="0"/>
          </a:xfrm>
          <a:prstGeom prst="line">
            <a:avLst/>
          </a:prstGeom>
          <a:noFill/>
          <a:ln w="9525">
            <a:solidFill>
              <a:srgbClr val="9C7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75449" y="6024069"/>
            <a:ext cx="699516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5875">
            <a:solidFill>
              <a:srgbClr val="9AB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429629" y="6076005"/>
            <a:ext cx="2514600" cy="2389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3849" y="1050388"/>
            <a:ext cx="1051560" cy="3291840"/>
          </a:xfrm>
          <a:prstGeom prst="roundRect">
            <a:avLst>
              <a:gd name="adj" fmla="val 5217"/>
            </a:avLst>
          </a:prstGeom>
          <a:solidFill>
            <a:srgbClr val="FDF3EA"/>
          </a:solidFill>
          <a:ln w="12700">
            <a:solidFill>
              <a:srgbClr val="E8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931281" y="1141828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950192" y="3953608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Streaming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648580" y="2470758"/>
            <a:ext cx="160172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r>
              <a:rPr lang="en-US" sz="750" dirty="0"/>
              <a:t> </a:t>
            </a: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933257" y="3244948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Bi-Products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910689" y="5439508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10020417" y="551266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020417" y="5841844"/>
            <a:ext cx="27432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10367889" y="575040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020417" y="6043012"/>
            <a:ext cx="274320" cy="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10367889" y="5951572"/>
            <a:ext cx="126187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Control Flow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020417" y="6244180"/>
            <a:ext cx="274320" cy="0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10367889" y="6152740"/>
            <a:ext cx="126187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955409" y="4067908"/>
            <a:ext cx="4572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115929" y="2604868"/>
            <a:ext cx="36576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807569" y="2604868"/>
            <a:ext cx="27432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807569" y="4159348"/>
            <a:ext cx="27432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270609" y="2147668"/>
            <a:ext cx="123444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270609" y="3244948"/>
            <a:ext cx="123444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270609" y="4342228"/>
            <a:ext cx="123444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 flipH="1" flipV="1">
            <a:off x="1927977" y="1544164"/>
            <a:ext cx="457201" cy="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H="1" flipV="1">
            <a:off x="6297727" y="1672180"/>
            <a:ext cx="0" cy="1863732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72929" y="3290668"/>
            <a:ext cx="0" cy="27432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795889" y="3290668"/>
            <a:ext cx="0" cy="27432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167489" y="3336388"/>
            <a:ext cx="0" cy="228600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927209" y="5421220"/>
            <a:ext cx="4523537" cy="22856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27609" y="48790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C7BC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Enabled</a:t>
            </a:r>
            <a:endParaRPr lang="en-US" sz="800" dirty="0"/>
          </a:p>
        </p:txBody>
      </p:sp>
      <p:sp>
        <p:nvSpPr>
          <p:cNvPr id="90" name="Shape 86">
            <a:extLst>
              <a:ext uri="{FF2B5EF4-FFF2-40B4-BE49-F238E27FC236}">
                <a16:creationId xmlns:a16="http://schemas.microsoft.com/office/drawing/2014/main" id="{AB87E224-4115-5484-6AEB-37CDE2038D0D}"/>
              </a:ext>
            </a:extLst>
          </p:cNvPr>
          <p:cNvSpPr/>
          <p:nvPr/>
        </p:nvSpPr>
        <p:spPr>
          <a:xfrm>
            <a:off x="9432914" y="1164697"/>
            <a:ext cx="1324" cy="4274806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D995455-8984-A100-8F0F-FAEBB0323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609" y="3019723"/>
            <a:ext cx="241590" cy="24159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E181B16-F94E-1364-290D-A1236FC0A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553" y="2887899"/>
            <a:ext cx="217112" cy="217112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6E69E70-75D2-6B57-02F1-7AC53B160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783" y="3006551"/>
            <a:ext cx="285532" cy="27842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993C6A51-3AF9-A3A0-56C2-5B9ED90AC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783" y="4369659"/>
            <a:ext cx="323522" cy="32352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EC19FA5E-DF7E-4BC0-406E-007AA8ABC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727" y="4366501"/>
            <a:ext cx="266700" cy="26670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F0567A6C-A5D4-B334-C98E-F6A70D478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463431" y="4397892"/>
            <a:ext cx="228602" cy="228602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D55033F0-EA75-D4F9-4BDD-DF480F08C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98759" y="1278987"/>
            <a:ext cx="268329" cy="268329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FE390695-466B-E05F-5C3C-7DC28502B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6798" y="1272840"/>
            <a:ext cx="268329" cy="268329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87B41680-CAE6-1778-B891-3A194ED567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7179" y="1275835"/>
            <a:ext cx="268329" cy="268329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48F04659-1631-68FD-62A8-3F5461962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0492" y="1268144"/>
            <a:ext cx="268329" cy="268329"/>
          </a:xfrm>
          <a:prstGeom prst="rect">
            <a:avLst/>
          </a:prstGeom>
        </p:spPr>
      </p:pic>
      <p:sp>
        <p:nvSpPr>
          <p:cNvPr id="111" name="Shape 87">
            <a:extLst>
              <a:ext uri="{FF2B5EF4-FFF2-40B4-BE49-F238E27FC236}">
                <a16:creationId xmlns:a16="http://schemas.microsoft.com/office/drawing/2014/main" id="{1514EB1E-09AC-33E1-A6B9-8E3E097A3BC2}"/>
              </a:ext>
            </a:extLst>
          </p:cNvPr>
          <p:cNvSpPr/>
          <p:nvPr/>
        </p:nvSpPr>
        <p:spPr>
          <a:xfrm flipV="1">
            <a:off x="4927209" y="4673016"/>
            <a:ext cx="0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87">
            <a:extLst>
              <a:ext uri="{FF2B5EF4-FFF2-40B4-BE49-F238E27FC236}">
                <a16:creationId xmlns:a16="http://schemas.microsoft.com/office/drawing/2014/main" id="{A82F9442-A1EC-6491-8134-81B106235EE5}"/>
              </a:ext>
            </a:extLst>
          </p:cNvPr>
          <p:cNvSpPr/>
          <p:nvPr/>
        </p:nvSpPr>
        <p:spPr>
          <a:xfrm flipV="1">
            <a:off x="6070209" y="4673016"/>
            <a:ext cx="0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87">
            <a:extLst>
              <a:ext uri="{FF2B5EF4-FFF2-40B4-BE49-F238E27FC236}">
                <a16:creationId xmlns:a16="http://schemas.microsoft.com/office/drawing/2014/main" id="{A9F0A4BA-2DB8-D13D-6652-380CBFE37398}"/>
              </a:ext>
            </a:extLst>
          </p:cNvPr>
          <p:cNvSpPr/>
          <p:nvPr/>
        </p:nvSpPr>
        <p:spPr>
          <a:xfrm flipV="1">
            <a:off x="7213209" y="4662268"/>
            <a:ext cx="0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89F28D40-DD05-D2AE-3309-44BB9B3DAA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4656" y="6335620"/>
            <a:ext cx="275665" cy="275665"/>
          </a:xfrm>
          <a:prstGeom prst="rect">
            <a:avLst/>
          </a:prstGeom>
        </p:spPr>
      </p:pic>
      <p:sp>
        <p:nvSpPr>
          <p:cNvPr id="118" name="Shape 73">
            <a:extLst>
              <a:ext uri="{FF2B5EF4-FFF2-40B4-BE49-F238E27FC236}">
                <a16:creationId xmlns:a16="http://schemas.microsoft.com/office/drawing/2014/main" id="{4F283B3E-11E4-24BF-5D6D-FDBAB6FE7945}"/>
              </a:ext>
            </a:extLst>
          </p:cNvPr>
          <p:cNvSpPr/>
          <p:nvPr/>
        </p:nvSpPr>
        <p:spPr>
          <a:xfrm flipH="1">
            <a:off x="4677000" y="4673017"/>
            <a:ext cx="21608" cy="1340303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73">
            <a:extLst>
              <a:ext uri="{FF2B5EF4-FFF2-40B4-BE49-F238E27FC236}">
                <a16:creationId xmlns:a16="http://schemas.microsoft.com/office/drawing/2014/main" id="{AC9DDE60-2BBA-EC1C-10FD-6445B4CDAEE6}"/>
              </a:ext>
            </a:extLst>
          </p:cNvPr>
          <p:cNvSpPr/>
          <p:nvPr/>
        </p:nvSpPr>
        <p:spPr>
          <a:xfrm flipV="1">
            <a:off x="5841609" y="4680555"/>
            <a:ext cx="15236" cy="1343513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73">
            <a:extLst>
              <a:ext uri="{FF2B5EF4-FFF2-40B4-BE49-F238E27FC236}">
                <a16:creationId xmlns:a16="http://schemas.microsoft.com/office/drawing/2014/main" id="{F6479897-F5C3-8441-92EA-6CE4B692ADD5}"/>
              </a:ext>
            </a:extLst>
          </p:cNvPr>
          <p:cNvSpPr/>
          <p:nvPr/>
        </p:nvSpPr>
        <p:spPr>
          <a:xfrm flipH="1">
            <a:off x="7067473" y="4683766"/>
            <a:ext cx="21608" cy="1340303"/>
          </a:xfrm>
          <a:prstGeom prst="line">
            <a:avLst/>
          </a:prstGeom>
          <a:noFill/>
          <a:ln w="12700">
            <a:solidFill>
              <a:srgbClr val="E8891E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2">
            <a:extLst>
              <a:ext uri="{FF2B5EF4-FFF2-40B4-BE49-F238E27FC236}">
                <a16:creationId xmlns:a16="http://schemas.microsoft.com/office/drawing/2014/main" id="{1B503AB4-2285-5144-70D6-941874FD6C63}"/>
              </a:ext>
            </a:extLst>
          </p:cNvPr>
          <p:cNvSpPr txBox="1"/>
          <p:nvPr/>
        </p:nvSpPr>
        <p:spPr>
          <a:xfrm>
            <a:off x="8173328" y="3827659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800" dirty="0"/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CA383394-2DDE-36FF-339D-3D9131612B5C}"/>
              </a:ext>
            </a:extLst>
          </p:cNvPr>
          <p:cNvSpPr txBox="1"/>
          <p:nvPr/>
        </p:nvSpPr>
        <p:spPr>
          <a:xfrm>
            <a:off x="3545277" y="1783689"/>
            <a:ext cx="612648" cy="24688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C7BC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Enabled</a:t>
            </a:r>
            <a:endParaRPr lang="en-US" sz="800" dirty="0"/>
          </a:p>
        </p:txBody>
      </p:sp>
      <p:sp>
        <p:nvSpPr>
          <p:cNvPr id="124" name="Text 2">
            <a:extLst>
              <a:ext uri="{FF2B5EF4-FFF2-40B4-BE49-F238E27FC236}">
                <a16:creationId xmlns:a16="http://schemas.microsoft.com/office/drawing/2014/main" id="{5D7EB1F8-407D-17AC-EF24-A02E68BE0CE9}"/>
              </a:ext>
            </a:extLst>
          </p:cNvPr>
          <p:cNvSpPr txBox="1"/>
          <p:nvPr/>
        </p:nvSpPr>
        <p:spPr>
          <a:xfrm>
            <a:off x="7342228" y="3476880"/>
            <a:ext cx="612648" cy="24688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9C7BC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Enabled</a:t>
            </a:r>
            <a:endParaRPr lang="en-US" sz="800" dirty="0"/>
          </a:p>
        </p:txBody>
      </p:sp>
      <p:sp>
        <p:nvSpPr>
          <p:cNvPr id="125" name="Text 44">
            <a:extLst>
              <a:ext uri="{FF2B5EF4-FFF2-40B4-BE49-F238E27FC236}">
                <a16:creationId xmlns:a16="http://schemas.microsoft.com/office/drawing/2014/main" id="{6EE440D6-04A2-3D1C-34ED-14A76B787509}"/>
              </a:ext>
            </a:extLst>
          </p:cNvPr>
          <p:cNvSpPr txBox="1"/>
          <p:nvPr/>
        </p:nvSpPr>
        <p:spPr>
          <a:xfrm>
            <a:off x="969382" y="1768953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through CI/CD</a:t>
            </a:r>
            <a:endParaRPr lang="en-US" sz="7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961E90D-314A-C954-4623-857C0F095E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6499" y="4601663"/>
            <a:ext cx="317771" cy="31777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36B3BF2-2DDC-0225-D321-BB201CD1B7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2529" y="3034950"/>
            <a:ext cx="201168" cy="201168"/>
          </a:xfrm>
          <a:prstGeom prst="rect">
            <a:avLst/>
          </a:prstGeom>
        </p:spPr>
      </p:pic>
      <p:sp>
        <p:nvSpPr>
          <p:cNvPr id="202" name="Connector"/>
          <p:cNvSpPr/>
          <p:nvPr/>
        </p:nvSpPr>
        <p:spPr>
          <a:xfrm flipH="1">
            <a:off x="820502" y="6214488"/>
            <a:ext cx="2765" cy="254912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Connector"/>
          <p:cNvSpPr/>
          <p:nvPr/>
        </p:nvSpPr>
        <p:spPr>
          <a:xfrm>
            <a:off x="822131" y="6461578"/>
            <a:ext cx="1453317" cy="7817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4" name="Connector"/>
          <p:cNvSpPr/>
          <p:nvPr/>
        </p:nvSpPr>
        <p:spPr>
          <a:xfrm>
            <a:off x="4168257" y="2988916"/>
            <a:ext cx="0" cy="3035808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Connector"/>
          <p:cNvSpPr/>
          <p:nvPr/>
        </p:nvSpPr>
        <p:spPr>
          <a:xfrm>
            <a:off x="4058529" y="2988916"/>
            <a:ext cx="109728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3" name="Content"/>
          <p:cNvSpPr txBox="1"/>
          <p:nvPr/>
        </p:nvSpPr>
        <p:spPr>
          <a:xfrm>
            <a:off x="4442577" y="2284828"/>
            <a:ext cx="15544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/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APPEND, DELETE Access to NPE’s or Users</a:t>
            </a:r>
            <a:endParaRPr lang="en-US" sz="750" dirty="0"/>
          </a:p>
        </p:txBody>
      </p:sp>
      <p:sp>
        <p:nvSpPr>
          <p:cNvPr id="214" name="Content"/>
          <p:cNvSpPr txBox="1"/>
          <p:nvPr/>
        </p:nvSpPr>
        <p:spPr>
          <a:xfrm>
            <a:off x="6573129" y="2385412"/>
            <a:ext cx="117043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/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 policies</a:t>
            </a:r>
            <a:r>
              <a:rPr lang="en-US" sz="700" dirty="0"/>
              <a:t> and </a:t>
            </a: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700" dirty="0"/>
          </a:p>
        </p:txBody>
      </p:sp>
      <p:sp>
        <p:nvSpPr>
          <p:cNvPr id="215" name="Content"/>
          <p:cNvSpPr txBox="1"/>
          <p:nvPr/>
        </p:nvSpPr>
        <p:spPr>
          <a:xfrm>
            <a:off x="2549769" y="2458564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access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governed data</a:t>
            </a:r>
            <a:endParaRPr lang="en-US" sz="750" dirty="0"/>
          </a:p>
        </p:txBody>
      </p:sp>
      <p:sp>
        <p:nvSpPr>
          <p:cNvPr id="217" name="Content"/>
          <p:cNvSpPr txBox="1"/>
          <p:nvPr/>
        </p:nvSpPr>
        <p:spPr>
          <a:xfrm>
            <a:off x="4442577" y="4177636"/>
            <a:ext cx="9692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lookups</a:t>
            </a:r>
            <a:endParaRPr lang="en-US" sz="650" dirty="0"/>
          </a:p>
        </p:txBody>
      </p:sp>
      <p:sp>
        <p:nvSpPr>
          <p:cNvPr id="218" name="Content"/>
          <p:cNvSpPr txBox="1"/>
          <p:nvPr/>
        </p:nvSpPr>
        <p:spPr>
          <a:xfrm>
            <a:off x="5585577" y="4177636"/>
            <a:ext cx="9692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SQL</a:t>
            </a:r>
            <a:endParaRPr lang="en-US" sz="650" dirty="0"/>
          </a:p>
        </p:txBody>
      </p:sp>
      <p:sp>
        <p:nvSpPr>
          <p:cNvPr id="219" name="Content"/>
          <p:cNvSpPr txBox="1"/>
          <p:nvPr/>
        </p:nvSpPr>
        <p:spPr>
          <a:xfrm>
            <a:off x="6728577" y="4177636"/>
            <a:ext cx="9692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650" dirty="0"/>
          </a:p>
        </p:txBody>
      </p:sp>
      <p:sp>
        <p:nvSpPr>
          <p:cNvPr id="220" name="Content"/>
          <p:cNvSpPr txBox="1"/>
          <p:nvPr/>
        </p:nvSpPr>
        <p:spPr>
          <a:xfrm>
            <a:off x="8191617" y="2566720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for AI access to API’s and tools</a:t>
            </a:r>
            <a:endParaRPr lang="en-US" sz="650" dirty="0"/>
          </a:p>
        </p:txBody>
      </p:sp>
      <p:sp>
        <p:nvSpPr>
          <p:cNvPr id="221" name="Content"/>
          <p:cNvSpPr txBox="1"/>
          <p:nvPr/>
        </p:nvSpPr>
        <p:spPr>
          <a:xfrm>
            <a:off x="8191617" y="4049620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data</a:t>
            </a:r>
            <a:endParaRPr lang="en-US" sz="650" dirty="0"/>
          </a:p>
        </p:txBody>
      </p:sp>
      <p:sp>
        <p:nvSpPr>
          <p:cNvPr id="223" name="Content"/>
          <p:cNvSpPr txBox="1"/>
          <p:nvPr/>
        </p:nvSpPr>
        <p:spPr>
          <a:xfrm>
            <a:off x="4418445" y="6417969"/>
            <a:ext cx="636678" cy="19433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Products</a:t>
            </a:r>
            <a:endParaRPr lang="en-US" sz="800" dirty="0"/>
          </a:p>
        </p:txBody>
      </p:sp>
      <p:sp>
        <p:nvSpPr>
          <p:cNvPr id="32" name="Shape 59">
            <a:extLst>
              <a:ext uri="{FF2B5EF4-FFF2-40B4-BE49-F238E27FC236}">
                <a16:creationId xmlns:a16="http://schemas.microsoft.com/office/drawing/2014/main" id="{0570049B-7D78-C890-DB73-835816842959}"/>
              </a:ext>
            </a:extLst>
          </p:cNvPr>
          <p:cNvSpPr/>
          <p:nvPr/>
        </p:nvSpPr>
        <p:spPr>
          <a:xfrm>
            <a:off x="1955409" y="1324708"/>
            <a:ext cx="45720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0" name="Content">
            <a:extLst>
              <a:ext uri="{FF2B5EF4-FFF2-40B4-BE49-F238E27FC236}">
                <a16:creationId xmlns:a16="http://schemas.microsoft.com/office/drawing/2014/main" id="{4F6C7935-42CE-C3ED-7F66-BE71383A469D}"/>
              </a:ext>
            </a:extLst>
          </p:cNvPr>
          <p:cNvSpPr txBox="1"/>
          <p:nvPr/>
        </p:nvSpPr>
        <p:spPr>
          <a:xfrm>
            <a:off x="5505006" y="6401883"/>
            <a:ext cx="472822" cy="212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</a:t>
            </a:r>
            <a:endParaRPr lang="en-US" sz="800" dirty="0"/>
          </a:p>
        </p:txBody>
      </p:sp>
      <p:sp>
        <p:nvSpPr>
          <p:cNvPr id="64" name="Content">
            <a:extLst>
              <a:ext uri="{FF2B5EF4-FFF2-40B4-BE49-F238E27FC236}">
                <a16:creationId xmlns:a16="http://schemas.microsoft.com/office/drawing/2014/main" id="{4A379A13-DE5C-50D8-99D9-83423F453129}"/>
              </a:ext>
            </a:extLst>
          </p:cNvPr>
          <p:cNvSpPr txBox="1"/>
          <p:nvPr/>
        </p:nvSpPr>
        <p:spPr>
          <a:xfrm>
            <a:off x="6564427" y="6425162"/>
            <a:ext cx="459234" cy="212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</a:t>
            </a:r>
            <a:endParaRPr lang="en-US" sz="800" dirty="0"/>
          </a:p>
        </p:txBody>
      </p:sp>
      <p:sp>
        <p:nvSpPr>
          <p:cNvPr id="69" name="Content">
            <a:extLst>
              <a:ext uri="{FF2B5EF4-FFF2-40B4-BE49-F238E27FC236}">
                <a16:creationId xmlns:a16="http://schemas.microsoft.com/office/drawing/2014/main" id="{13F7FEDE-E29F-3519-C5BC-269F45D67B50}"/>
              </a:ext>
            </a:extLst>
          </p:cNvPr>
          <p:cNvSpPr txBox="1"/>
          <p:nvPr/>
        </p:nvSpPr>
        <p:spPr>
          <a:xfrm>
            <a:off x="6399491" y="6415656"/>
            <a:ext cx="1535993" cy="2125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</a:t>
            </a:r>
            <a:endParaRPr lang="en-US" sz="800" dirty="0"/>
          </a:p>
        </p:txBody>
      </p:sp>
      <p:sp>
        <p:nvSpPr>
          <p:cNvPr id="70" name="Content">
            <a:extLst>
              <a:ext uri="{FF2B5EF4-FFF2-40B4-BE49-F238E27FC236}">
                <a16:creationId xmlns:a16="http://schemas.microsoft.com/office/drawing/2014/main" id="{62E63680-A60D-B76B-13E7-94F4E733F56E}"/>
              </a:ext>
            </a:extLst>
          </p:cNvPr>
          <p:cNvSpPr txBox="1"/>
          <p:nvPr/>
        </p:nvSpPr>
        <p:spPr>
          <a:xfrm>
            <a:off x="3351665" y="6410762"/>
            <a:ext cx="387882" cy="2263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800" dirty="0"/>
          </a:p>
        </p:txBody>
      </p:sp>
      <p:sp>
        <p:nvSpPr>
          <p:cNvPr id="71" name="Content">
            <a:extLst>
              <a:ext uri="{FF2B5EF4-FFF2-40B4-BE49-F238E27FC236}">
                <a16:creationId xmlns:a16="http://schemas.microsoft.com/office/drawing/2014/main" id="{CA2AC35F-79ED-FD58-9788-E9154958BA47}"/>
              </a:ext>
            </a:extLst>
          </p:cNvPr>
          <p:cNvSpPr txBox="1"/>
          <p:nvPr/>
        </p:nvSpPr>
        <p:spPr>
          <a:xfrm>
            <a:off x="2618348" y="1097261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CI/CD</a:t>
            </a:r>
            <a:endParaRPr lang="en-US" sz="750" dirty="0"/>
          </a:p>
        </p:txBody>
      </p:sp>
      <p:sp>
        <p:nvSpPr>
          <p:cNvPr id="82" name="Content">
            <a:extLst>
              <a:ext uri="{FF2B5EF4-FFF2-40B4-BE49-F238E27FC236}">
                <a16:creationId xmlns:a16="http://schemas.microsoft.com/office/drawing/2014/main" id="{923AA95F-1756-3C16-058F-8161F19686D0}"/>
              </a:ext>
            </a:extLst>
          </p:cNvPr>
          <p:cNvSpPr txBox="1"/>
          <p:nvPr/>
        </p:nvSpPr>
        <p:spPr>
          <a:xfrm>
            <a:off x="4233118" y="1085220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Jobs</a:t>
            </a:r>
            <a:endParaRPr lang="en-US" sz="750" dirty="0"/>
          </a:p>
        </p:txBody>
      </p:sp>
      <p:sp>
        <p:nvSpPr>
          <p:cNvPr id="83" name="Content">
            <a:extLst>
              <a:ext uri="{FF2B5EF4-FFF2-40B4-BE49-F238E27FC236}">
                <a16:creationId xmlns:a16="http://schemas.microsoft.com/office/drawing/2014/main" id="{FB1DE87D-E90B-030A-3BAF-8FD8016FDDB0}"/>
              </a:ext>
            </a:extLst>
          </p:cNvPr>
          <p:cNvSpPr txBox="1"/>
          <p:nvPr/>
        </p:nvSpPr>
        <p:spPr>
          <a:xfrm>
            <a:off x="7315612" y="1087575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750" dirty="0"/>
          </a:p>
        </p:txBody>
      </p:sp>
      <p:sp>
        <p:nvSpPr>
          <p:cNvPr id="84" name="Content">
            <a:extLst>
              <a:ext uri="{FF2B5EF4-FFF2-40B4-BE49-F238E27FC236}">
                <a16:creationId xmlns:a16="http://schemas.microsoft.com/office/drawing/2014/main" id="{BE85CB13-DFBE-B111-FCBB-B1A8564EC213}"/>
              </a:ext>
            </a:extLst>
          </p:cNvPr>
          <p:cNvSpPr txBox="1"/>
          <p:nvPr/>
        </p:nvSpPr>
        <p:spPr>
          <a:xfrm>
            <a:off x="5795889" y="1073941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registered through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75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7AF99B7-C0F2-71B8-42FD-D0A3A5CA3A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5855" y="5779030"/>
            <a:ext cx="342409" cy="34240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A0C76D3-F8AD-1B80-5098-A50393B3DF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478" y="5803979"/>
            <a:ext cx="358448" cy="35844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D4A8C0F-74F1-9B6E-D517-A5805037A61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106" y="5804980"/>
            <a:ext cx="384048" cy="384048"/>
          </a:xfrm>
          <a:prstGeom prst="rect">
            <a:avLst/>
          </a:prstGeom>
        </p:spPr>
      </p:pic>
      <p:sp>
        <p:nvSpPr>
          <p:cNvPr id="100" name="Text 20">
            <a:extLst>
              <a:ext uri="{FF2B5EF4-FFF2-40B4-BE49-F238E27FC236}">
                <a16:creationId xmlns:a16="http://schemas.microsoft.com/office/drawing/2014/main" id="{F05AD466-F4BD-70FB-B7BC-E6823B9D5A6D}"/>
              </a:ext>
            </a:extLst>
          </p:cNvPr>
          <p:cNvSpPr txBox="1"/>
          <p:nvPr/>
        </p:nvSpPr>
        <p:spPr>
          <a:xfrm>
            <a:off x="510659" y="4874840"/>
            <a:ext cx="1536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Platform</a:t>
            </a:r>
            <a:endParaRPr lang="en-US" sz="850" dirty="0"/>
          </a:p>
        </p:txBody>
      </p:sp>
      <p:sp>
        <p:nvSpPr>
          <p:cNvPr id="102" name="Connector">
            <a:extLst>
              <a:ext uri="{FF2B5EF4-FFF2-40B4-BE49-F238E27FC236}">
                <a16:creationId xmlns:a16="http://schemas.microsoft.com/office/drawing/2014/main" id="{CDFAEB7B-CB8B-C51A-AC1E-00F279299D2D}"/>
              </a:ext>
            </a:extLst>
          </p:cNvPr>
          <p:cNvSpPr/>
          <p:nvPr/>
        </p:nvSpPr>
        <p:spPr>
          <a:xfrm flipH="1">
            <a:off x="1415913" y="4342229"/>
            <a:ext cx="0" cy="47577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4" name="Content">
            <a:extLst>
              <a:ext uri="{FF2B5EF4-FFF2-40B4-BE49-F238E27FC236}">
                <a16:creationId xmlns:a16="http://schemas.microsoft.com/office/drawing/2014/main" id="{DCDC6647-C7EF-41B1-4BE1-B2711725FFE5}"/>
              </a:ext>
            </a:extLst>
          </p:cNvPr>
          <p:cNvSpPr txBox="1"/>
          <p:nvPr/>
        </p:nvSpPr>
        <p:spPr>
          <a:xfrm>
            <a:off x="670965" y="5276888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ETL platform and tools</a:t>
            </a:r>
            <a:endParaRPr lang="en-US" sz="750" dirty="0"/>
          </a:p>
        </p:txBody>
      </p:sp>
      <p:pic>
        <p:nvPicPr>
          <p:cNvPr id="114" name="Graphic 113">
            <a:extLst>
              <a:ext uri="{FF2B5EF4-FFF2-40B4-BE49-F238E27FC236}">
                <a16:creationId xmlns:a16="http://schemas.microsoft.com/office/drawing/2014/main" id="{EB440687-FD29-34BB-0CE9-AC8028E560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61480" y="1417657"/>
            <a:ext cx="582017" cy="582017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A2F7C81A-8D91-9822-BCE5-846EC99EE9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3063" y="2145357"/>
            <a:ext cx="387317" cy="38731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ADB90F31-E2C1-5137-6FAA-0D9A518BD0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7822" y="2846692"/>
            <a:ext cx="384951" cy="384951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81EC021A-B523-D4AC-9C05-FE1B1E8B120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6091" y="3539967"/>
            <a:ext cx="401358" cy="401358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A4C6FDDC-52B3-9566-45C5-1C681A7F328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7819" y="6038438"/>
            <a:ext cx="256031" cy="256031"/>
          </a:xfrm>
          <a:prstGeom prst="rect">
            <a:avLst/>
          </a:prstGeom>
        </p:spPr>
      </p:pic>
      <p:sp>
        <p:nvSpPr>
          <p:cNvPr id="39" name="Shape 63">
            <a:extLst>
              <a:ext uri="{FF2B5EF4-FFF2-40B4-BE49-F238E27FC236}">
                <a16:creationId xmlns:a16="http://schemas.microsoft.com/office/drawing/2014/main" id="{B1C4356B-016A-2C14-44AA-65151C2B0518}"/>
              </a:ext>
            </a:extLst>
          </p:cNvPr>
          <p:cNvSpPr/>
          <p:nvPr/>
        </p:nvSpPr>
        <p:spPr>
          <a:xfrm flipV="1">
            <a:off x="4424289" y="4778880"/>
            <a:ext cx="0" cy="123444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87">
            <a:extLst>
              <a:ext uri="{FF2B5EF4-FFF2-40B4-BE49-F238E27FC236}">
                <a16:creationId xmlns:a16="http://schemas.microsoft.com/office/drawing/2014/main" id="{1C0FB90A-AE24-A9AC-EEE7-9625C87BE882}"/>
              </a:ext>
            </a:extLst>
          </p:cNvPr>
          <p:cNvSpPr/>
          <p:nvPr/>
        </p:nvSpPr>
        <p:spPr>
          <a:xfrm flipV="1">
            <a:off x="8544168" y="4956843"/>
            <a:ext cx="14514" cy="493832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87">
            <a:extLst>
              <a:ext uri="{FF2B5EF4-FFF2-40B4-BE49-F238E27FC236}">
                <a16:creationId xmlns:a16="http://schemas.microsoft.com/office/drawing/2014/main" id="{4C8D8688-02FC-48D7-80FE-90EE50D0B360}"/>
              </a:ext>
            </a:extLst>
          </p:cNvPr>
          <p:cNvSpPr/>
          <p:nvPr/>
        </p:nvSpPr>
        <p:spPr>
          <a:xfrm flipH="1" flipV="1">
            <a:off x="8767689" y="1100684"/>
            <a:ext cx="1737360" cy="2820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1F78A940-274D-BA64-B1CE-AB61E632E7C1}"/>
              </a:ext>
            </a:extLst>
          </p:cNvPr>
          <p:cNvSpPr/>
          <p:nvPr/>
        </p:nvSpPr>
        <p:spPr>
          <a:xfrm>
            <a:off x="10573629" y="901036"/>
            <a:ext cx="1051560" cy="3989832"/>
          </a:xfrm>
          <a:prstGeom prst="roundRect">
            <a:avLst>
              <a:gd name="adj" fmla="val 5217"/>
            </a:avLst>
          </a:prstGeom>
          <a:solidFill>
            <a:srgbClr val="FDF3EA"/>
          </a:solidFill>
          <a:ln w="12700">
            <a:solidFill>
              <a:srgbClr val="E8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A0E26568-B2EA-6CE2-47DF-C6E1A332E648}"/>
              </a:ext>
            </a:extLst>
          </p:cNvPr>
          <p:cNvSpPr txBox="1"/>
          <p:nvPr/>
        </p:nvSpPr>
        <p:spPr>
          <a:xfrm>
            <a:off x="10605633" y="1637964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850" dirty="0"/>
          </a:p>
        </p:txBody>
      </p:sp>
      <p:sp>
        <p:nvSpPr>
          <p:cNvPr id="61" name="Shape 33">
            <a:extLst>
              <a:ext uri="{FF2B5EF4-FFF2-40B4-BE49-F238E27FC236}">
                <a16:creationId xmlns:a16="http://schemas.microsoft.com/office/drawing/2014/main" id="{EEAB878F-5A75-EC30-F54F-228DA9C461D1}"/>
              </a:ext>
            </a:extLst>
          </p:cNvPr>
          <p:cNvSpPr/>
          <p:nvPr/>
        </p:nvSpPr>
        <p:spPr>
          <a:xfrm>
            <a:off x="10760276" y="2790798"/>
            <a:ext cx="731520" cy="0"/>
          </a:xfrm>
          <a:prstGeom prst="line">
            <a:avLst/>
          </a:prstGeom>
          <a:noFill/>
          <a:ln w="9525">
            <a:solidFill>
              <a:schemeClr val="accent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ext 42">
            <a:extLst>
              <a:ext uri="{FF2B5EF4-FFF2-40B4-BE49-F238E27FC236}">
                <a16:creationId xmlns:a16="http://schemas.microsoft.com/office/drawing/2014/main" id="{0665A694-D853-49BF-1E3F-AAE513683015}"/>
              </a:ext>
            </a:extLst>
          </p:cNvPr>
          <p:cNvSpPr txBox="1"/>
          <p:nvPr/>
        </p:nvSpPr>
        <p:spPr>
          <a:xfrm>
            <a:off x="10605633" y="3336388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641E"/>
                </a:solidFill>
                <a:latin typeface="Calibri" pitchFamily="34" charset="0"/>
                <a:cs typeface="Calibri" pitchFamily="34" charset="-120"/>
              </a:rPr>
              <a:t>EXTERNAL CONSUMERS</a:t>
            </a:r>
            <a:endParaRPr lang="en-US" sz="850" dirty="0"/>
          </a:p>
        </p:txBody>
      </p:sp>
      <p:sp>
        <p:nvSpPr>
          <p:cNvPr id="63" name="Content">
            <a:extLst>
              <a:ext uri="{FF2B5EF4-FFF2-40B4-BE49-F238E27FC236}">
                <a16:creationId xmlns:a16="http://schemas.microsoft.com/office/drawing/2014/main" id="{61CBDA13-93D3-0BA4-F0E5-F6A6212412D2}"/>
              </a:ext>
            </a:extLst>
          </p:cNvPr>
          <p:cNvSpPr txBox="1"/>
          <p:nvPr/>
        </p:nvSpPr>
        <p:spPr>
          <a:xfrm>
            <a:off x="10659567" y="1954564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for AI access to API’s and tools</a:t>
            </a:r>
            <a:endParaRPr lang="en-US" sz="650" dirty="0"/>
          </a:p>
        </p:txBody>
      </p:sp>
      <p:sp>
        <p:nvSpPr>
          <p:cNvPr id="85" name="Content">
            <a:extLst>
              <a:ext uri="{FF2B5EF4-FFF2-40B4-BE49-F238E27FC236}">
                <a16:creationId xmlns:a16="http://schemas.microsoft.com/office/drawing/2014/main" id="{F0B71A4E-229E-36C2-E47D-E2B926CBFBBC}"/>
              </a:ext>
            </a:extLst>
          </p:cNvPr>
          <p:cNvSpPr txBox="1"/>
          <p:nvPr/>
        </p:nvSpPr>
        <p:spPr>
          <a:xfrm>
            <a:off x="10653639" y="3695806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data</a:t>
            </a:r>
            <a:endParaRPr lang="en-US" sz="650" dirty="0"/>
          </a:p>
        </p:txBody>
      </p:sp>
      <p:sp>
        <p:nvSpPr>
          <p:cNvPr id="87" name="Shape 87">
            <a:extLst>
              <a:ext uri="{FF2B5EF4-FFF2-40B4-BE49-F238E27FC236}">
                <a16:creationId xmlns:a16="http://schemas.microsoft.com/office/drawing/2014/main" id="{307C4856-04DA-EFC9-2419-60513B07547B}"/>
              </a:ext>
            </a:extLst>
          </p:cNvPr>
          <p:cNvSpPr/>
          <p:nvPr/>
        </p:nvSpPr>
        <p:spPr>
          <a:xfrm flipV="1">
            <a:off x="1969698" y="5473771"/>
            <a:ext cx="1265870" cy="2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6">
            <a:extLst>
              <a:ext uri="{FF2B5EF4-FFF2-40B4-BE49-F238E27FC236}">
                <a16:creationId xmlns:a16="http://schemas.microsoft.com/office/drawing/2014/main" id="{9814F3EC-B313-06E6-6EBE-A50DDE41B608}"/>
              </a:ext>
            </a:extLst>
          </p:cNvPr>
          <p:cNvSpPr/>
          <p:nvPr/>
        </p:nvSpPr>
        <p:spPr>
          <a:xfrm flipH="1">
            <a:off x="3266310" y="4739043"/>
            <a:ext cx="1" cy="748204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87">
            <a:extLst>
              <a:ext uri="{FF2B5EF4-FFF2-40B4-BE49-F238E27FC236}">
                <a16:creationId xmlns:a16="http://schemas.microsoft.com/office/drawing/2014/main" id="{4C452721-4666-56B6-FC10-8BC0419C1D5B}"/>
              </a:ext>
            </a:extLst>
          </p:cNvPr>
          <p:cNvSpPr/>
          <p:nvPr/>
        </p:nvSpPr>
        <p:spPr>
          <a:xfrm flipH="1">
            <a:off x="10983783" y="4941159"/>
            <a:ext cx="1326" cy="250948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86">
            <a:extLst>
              <a:ext uri="{FF2B5EF4-FFF2-40B4-BE49-F238E27FC236}">
                <a16:creationId xmlns:a16="http://schemas.microsoft.com/office/drawing/2014/main" id="{68CEF1D7-0DA8-8CA1-FE32-AF7DF9DE276C}"/>
              </a:ext>
            </a:extLst>
          </p:cNvPr>
          <p:cNvSpPr/>
          <p:nvPr/>
        </p:nvSpPr>
        <p:spPr>
          <a:xfrm flipH="1">
            <a:off x="3235568" y="5156044"/>
            <a:ext cx="7699248" cy="0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5" name="Shape 86">
            <a:extLst>
              <a:ext uri="{FF2B5EF4-FFF2-40B4-BE49-F238E27FC236}">
                <a16:creationId xmlns:a16="http://schemas.microsoft.com/office/drawing/2014/main" id="{524B82BB-37C9-808C-C024-15CF80536A41}"/>
              </a:ext>
            </a:extLst>
          </p:cNvPr>
          <p:cNvSpPr/>
          <p:nvPr/>
        </p:nvSpPr>
        <p:spPr>
          <a:xfrm>
            <a:off x="3803878" y="3188147"/>
            <a:ext cx="23879" cy="1956383"/>
          </a:xfrm>
          <a:prstGeom prst="line">
            <a:avLst/>
          </a:prstGeom>
          <a:noFill/>
          <a:ln w="15875">
            <a:solidFill>
              <a:srgbClr val="6B3F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12609" y="3382108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6F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467473" y="3446116"/>
            <a:ext cx="1536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 </a:t>
            </a:r>
            <a:endParaRPr lang="en-US" sz="85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E06DB0BB-6A26-CB98-7CD9-31033291E2C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55595" y="4432620"/>
            <a:ext cx="569596" cy="299403"/>
          </a:xfrm>
          <a:prstGeom prst="rect">
            <a:avLst/>
          </a:prstGeom>
        </p:spPr>
      </p:pic>
      <p:sp>
        <p:nvSpPr>
          <p:cNvPr id="216" name="Content"/>
          <p:cNvSpPr txBox="1"/>
          <p:nvPr/>
        </p:nvSpPr>
        <p:spPr>
          <a:xfrm>
            <a:off x="2549769" y="3939892"/>
            <a:ext cx="1234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 for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consumers</a:t>
            </a:r>
            <a:endParaRPr lang="en-US" sz="750" dirty="0"/>
          </a:p>
        </p:txBody>
      </p:sp>
      <p:sp>
        <p:nvSpPr>
          <p:cNvPr id="116" name="Connector">
            <a:extLst>
              <a:ext uri="{FF2B5EF4-FFF2-40B4-BE49-F238E27FC236}">
                <a16:creationId xmlns:a16="http://schemas.microsoft.com/office/drawing/2014/main" id="{BF9E35DD-843B-DA18-70CE-19113F7F7797}"/>
              </a:ext>
            </a:extLst>
          </p:cNvPr>
          <p:cNvSpPr/>
          <p:nvPr/>
        </p:nvSpPr>
        <p:spPr>
          <a:xfrm flipV="1">
            <a:off x="1414686" y="4318059"/>
            <a:ext cx="1922" cy="375122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EDC3E579-DA21-4915-C1BD-6FC532EE3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06435" y="6100954"/>
            <a:ext cx="372883" cy="372883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1589701C-1333-3EC9-3E3A-AB33917839B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84309" y="6068184"/>
            <a:ext cx="347848" cy="384048"/>
          </a:xfrm>
          <a:prstGeom prst="rect">
            <a:avLst/>
          </a:prstGeom>
        </p:spPr>
      </p:pic>
      <p:pic>
        <p:nvPicPr>
          <p:cNvPr id="194" name="Graphic 193">
            <a:extLst>
              <a:ext uri="{FF2B5EF4-FFF2-40B4-BE49-F238E27FC236}">
                <a16:creationId xmlns:a16="http://schemas.microsoft.com/office/drawing/2014/main" id="{ED54459B-5CBA-895F-B890-3CE71D3A7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58729" y="6061299"/>
            <a:ext cx="364814" cy="364814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57C6417F-3360-365D-5F1E-15EF31F37BD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38115" y="6077223"/>
            <a:ext cx="391010" cy="391010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19A85495-0089-987C-91ED-FC1AFB7374C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60859" y="5951572"/>
            <a:ext cx="632108" cy="632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"/>
          <p:cNvSpPr txBox="1"/>
          <p:nvPr/>
        </p:nvSpPr>
        <p:spPr>
          <a:xfrm>
            <a:off x="3355848" y="91440"/>
            <a:ext cx="5486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LAYER</a:t>
            </a:r>
            <a:endParaRPr lang="en-US" sz="2400" dirty="0"/>
          </a:p>
        </p:txBody>
      </p:sp>
      <p:sp>
        <p:nvSpPr>
          <p:cNvPr id="402" name="Text"/>
          <p:cNvSpPr txBox="1"/>
          <p:nvPr/>
        </p:nvSpPr>
        <p:spPr>
          <a:xfrm>
            <a:off x="3355848" y="512064"/>
            <a:ext cx="5486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</a:t>
            </a:r>
            <a:r>
              <a:rPr lang="en-US" sz="130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r>
              <a:rPr lang="en-US" sz="130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</a:t>
            </a:r>
            <a:endParaRPr lang="en-US" sz="800" dirty="0"/>
          </a:p>
        </p:txBody>
      </p:sp>
      <p:sp>
        <p:nvSpPr>
          <p:cNvPr id="403" name="Shape"/>
          <p:cNvSpPr/>
          <p:nvPr/>
        </p:nvSpPr>
        <p:spPr>
          <a:xfrm>
            <a:off x="1755648" y="1005840"/>
            <a:ext cx="8686800" cy="5212080"/>
          </a:xfrm>
          <a:prstGeom prst="ellipse">
            <a:avLst/>
          </a:prstGeom>
          <a:noFill/>
          <a:ln w="12700">
            <a:solidFill>
              <a:srgbClr val="C9C9C9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"/>
          <p:cNvSpPr/>
          <p:nvPr/>
        </p:nvSpPr>
        <p:spPr>
          <a:xfrm>
            <a:off x="4224528" y="1527048"/>
            <a:ext cx="3749040" cy="3749040"/>
          </a:xfrm>
          <a:prstGeom prst="ellipse">
            <a:avLst/>
          </a:prstGeom>
          <a:noFill/>
          <a:ln w="12700">
            <a:solidFill>
              <a:srgbClr val="F0A86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"/>
          <p:cNvSpPr/>
          <p:nvPr/>
        </p:nvSpPr>
        <p:spPr>
          <a:xfrm>
            <a:off x="6099048" y="2249424"/>
            <a:ext cx="0" cy="100584"/>
          </a:xfrm>
          <a:prstGeom prst="line">
            <a:avLst/>
          </a:prstGeom>
          <a:noFill/>
          <a:ln w="15875">
            <a:solidFill>
              <a:srgbClr val="EA7A22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"/>
          <p:cNvSpPr/>
          <p:nvPr/>
        </p:nvSpPr>
        <p:spPr>
          <a:xfrm>
            <a:off x="4681728" y="2743200"/>
            <a:ext cx="466344" cy="210312"/>
          </a:xfrm>
          <a:prstGeom prst="line">
            <a:avLst/>
          </a:prstGeom>
          <a:noFill/>
          <a:ln w="15875">
            <a:solidFill>
              <a:srgbClr val="EA7A22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"/>
          <p:cNvSpPr/>
          <p:nvPr/>
        </p:nvSpPr>
        <p:spPr>
          <a:xfrm flipV="1">
            <a:off x="7050024" y="2743200"/>
            <a:ext cx="466344" cy="210312"/>
          </a:xfrm>
          <a:prstGeom prst="line">
            <a:avLst/>
          </a:prstGeom>
          <a:noFill/>
          <a:ln w="15875">
            <a:solidFill>
              <a:srgbClr val="EA7A22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"/>
          <p:cNvSpPr/>
          <p:nvPr/>
        </p:nvSpPr>
        <p:spPr>
          <a:xfrm flipV="1">
            <a:off x="4992624" y="4169664"/>
            <a:ext cx="347472" cy="497245"/>
          </a:xfrm>
          <a:prstGeom prst="line">
            <a:avLst/>
          </a:prstGeom>
          <a:noFill/>
          <a:ln w="15875">
            <a:solidFill>
              <a:srgbClr val="EA7A22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"/>
          <p:cNvSpPr/>
          <p:nvPr/>
        </p:nvSpPr>
        <p:spPr>
          <a:xfrm>
            <a:off x="6702552" y="4261104"/>
            <a:ext cx="292608" cy="420624"/>
          </a:xfrm>
          <a:prstGeom prst="line">
            <a:avLst/>
          </a:prstGeom>
          <a:noFill/>
          <a:ln w="15875">
            <a:solidFill>
              <a:srgbClr val="EA7A22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"/>
          <p:cNvSpPr/>
          <p:nvPr/>
        </p:nvSpPr>
        <p:spPr>
          <a:xfrm>
            <a:off x="5047488" y="2350008"/>
            <a:ext cx="2103120" cy="2103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Text"/>
          <p:cNvSpPr txBox="1"/>
          <p:nvPr/>
        </p:nvSpPr>
        <p:spPr>
          <a:xfrm>
            <a:off x="5038344" y="3148111"/>
            <a:ext cx="2103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</a:t>
            </a:r>
            <a:endParaRPr lang="en-US" sz="2200" dirty="0"/>
          </a:p>
        </p:txBody>
      </p:sp>
      <p:sp>
        <p:nvSpPr>
          <p:cNvPr id="413" name="Text"/>
          <p:cNvSpPr txBox="1"/>
          <p:nvPr/>
        </p:nvSpPr>
        <p:spPr>
          <a:xfrm>
            <a:off x="5074920" y="3458901"/>
            <a:ext cx="2103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 in one place</a:t>
            </a:r>
            <a:endParaRPr lang="en-US" sz="850" dirty="0"/>
          </a:p>
        </p:txBody>
      </p:sp>
      <p:sp>
        <p:nvSpPr>
          <p:cNvPr id="414" name="Shape"/>
          <p:cNvSpPr/>
          <p:nvPr/>
        </p:nvSpPr>
        <p:spPr>
          <a:xfrm>
            <a:off x="5788152" y="1216152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"/>
          <p:cNvSpPr/>
          <p:nvPr/>
        </p:nvSpPr>
        <p:spPr>
          <a:xfrm>
            <a:off x="4087368" y="229514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"/>
          <p:cNvSpPr/>
          <p:nvPr/>
        </p:nvSpPr>
        <p:spPr>
          <a:xfrm>
            <a:off x="7488936" y="229514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"/>
          <p:cNvSpPr/>
          <p:nvPr/>
        </p:nvSpPr>
        <p:spPr>
          <a:xfrm>
            <a:off x="4581144" y="465177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"/>
          <p:cNvSpPr/>
          <p:nvPr/>
        </p:nvSpPr>
        <p:spPr>
          <a:xfrm>
            <a:off x="6867144" y="462686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Text"/>
          <p:cNvSpPr txBox="1"/>
          <p:nvPr/>
        </p:nvSpPr>
        <p:spPr>
          <a:xfrm>
            <a:off x="5184648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50" dirty="0"/>
          </a:p>
        </p:txBody>
      </p:sp>
      <p:sp>
        <p:nvSpPr>
          <p:cNvPr id="420" name="Text"/>
          <p:cNvSpPr txBox="1"/>
          <p:nvPr/>
        </p:nvSpPr>
        <p:spPr>
          <a:xfrm>
            <a:off x="4956048" y="2048256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contract registries · lineage</a:t>
            </a:r>
            <a:endParaRPr lang="en-US" sz="800" dirty="0"/>
          </a:p>
        </p:txBody>
      </p:sp>
      <p:sp>
        <p:nvSpPr>
          <p:cNvPr id="421" name="Text"/>
          <p:cNvSpPr txBox="1"/>
          <p:nvPr/>
        </p:nvSpPr>
        <p:spPr>
          <a:xfrm>
            <a:off x="3538728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50" dirty="0"/>
          </a:p>
        </p:txBody>
      </p:sp>
      <p:sp>
        <p:nvSpPr>
          <p:cNvPr id="422" name="Text"/>
          <p:cNvSpPr txBox="1"/>
          <p:nvPr/>
        </p:nvSpPr>
        <p:spPr>
          <a:xfrm>
            <a:off x="3538728" y="3310128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curated tables</a:t>
            </a:r>
            <a:endParaRPr lang="en-US" sz="800" dirty="0"/>
          </a:p>
        </p:txBody>
      </p:sp>
      <p:sp>
        <p:nvSpPr>
          <p:cNvPr id="423" name="Text"/>
          <p:cNvSpPr txBox="1"/>
          <p:nvPr/>
        </p:nvSpPr>
        <p:spPr>
          <a:xfrm>
            <a:off x="7671816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50" dirty="0"/>
          </a:p>
        </p:txBody>
      </p:sp>
      <p:sp>
        <p:nvSpPr>
          <p:cNvPr id="424" name="Text"/>
          <p:cNvSpPr txBox="1"/>
          <p:nvPr/>
        </p:nvSpPr>
        <p:spPr>
          <a:xfrm>
            <a:off x="7671816" y="3145536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Iceberg raw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storage</a:t>
            </a:r>
            <a:endParaRPr lang="en-US" sz="800" dirty="0"/>
          </a:p>
        </p:txBody>
      </p:sp>
      <p:sp>
        <p:nvSpPr>
          <p:cNvPr id="425" name="Text"/>
          <p:cNvSpPr txBox="1"/>
          <p:nvPr/>
        </p:nvSpPr>
        <p:spPr>
          <a:xfrm>
            <a:off x="3913632" y="5367528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PUB/SUB</a:t>
            </a:r>
            <a:endParaRPr lang="en-US" sz="1050" dirty="0"/>
          </a:p>
        </p:txBody>
      </p:sp>
      <p:sp>
        <p:nvSpPr>
          <p:cNvPr id="426" name="Text"/>
          <p:cNvSpPr txBox="1"/>
          <p:nvPr/>
        </p:nvSpPr>
        <p:spPr>
          <a:xfrm>
            <a:off x="3913632" y="5559552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subscribe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governed topics</a:t>
            </a:r>
            <a:endParaRPr lang="en-US" sz="800" dirty="0"/>
          </a:p>
        </p:txBody>
      </p:sp>
      <p:sp>
        <p:nvSpPr>
          <p:cNvPr id="427" name="Text"/>
          <p:cNvSpPr txBox="1"/>
          <p:nvPr/>
        </p:nvSpPr>
        <p:spPr>
          <a:xfrm>
            <a:off x="6309360" y="5276088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</a:t>
            </a:r>
            <a:endParaRPr lang="en-US" sz="1050" dirty="0"/>
          </a:p>
        </p:txBody>
      </p:sp>
      <p:sp>
        <p:nvSpPr>
          <p:cNvPr id="428" name="Text"/>
          <p:cNvSpPr txBox="1"/>
          <p:nvPr/>
        </p:nvSpPr>
        <p:spPr>
          <a:xfrm>
            <a:off x="6309360" y="5468112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query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 APIs</a:t>
            </a:r>
            <a:endParaRPr lang="en-US" sz="800" dirty="0"/>
          </a:p>
        </p:txBody>
      </p:sp>
      <p:sp>
        <p:nvSpPr>
          <p:cNvPr id="430" name="Shape"/>
          <p:cNvSpPr/>
          <p:nvPr/>
        </p:nvSpPr>
        <p:spPr>
          <a:xfrm>
            <a:off x="2770632" y="151790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"/>
          <p:cNvSpPr/>
          <p:nvPr/>
        </p:nvSpPr>
        <p:spPr>
          <a:xfrm>
            <a:off x="1499616" y="335584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"/>
          <p:cNvSpPr/>
          <p:nvPr/>
        </p:nvSpPr>
        <p:spPr>
          <a:xfrm>
            <a:off x="2286000" y="484632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"/>
          <p:cNvSpPr/>
          <p:nvPr/>
        </p:nvSpPr>
        <p:spPr>
          <a:xfrm>
            <a:off x="3538728" y="5568696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"/>
          <p:cNvSpPr/>
          <p:nvPr/>
        </p:nvSpPr>
        <p:spPr>
          <a:xfrm>
            <a:off x="8915400" y="151790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"/>
          <p:cNvSpPr/>
          <p:nvPr/>
        </p:nvSpPr>
        <p:spPr>
          <a:xfrm>
            <a:off x="10186416" y="335584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"/>
          <p:cNvSpPr/>
          <p:nvPr/>
        </p:nvSpPr>
        <p:spPr>
          <a:xfrm>
            <a:off x="9400032" y="484632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"/>
          <p:cNvSpPr/>
          <p:nvPr/>
        </p:nvSpPr>
        <p:spPr>
          <a:xfrm>
            <a:off x="8147304" y="5568696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Text"/>
          <p:cNvSpPr txBox="1"/>
          <p:nvPr/>
        </p:nvSpPr>
        <p:spPr>
          <a:xfrm>
            <a:off x="1234440" y="1682496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BI</a:t>
            </a:r>
            <a:endParaRPr lang="en-US" sz="850" dirty="0"/>
          </a:p>
        </p:txBody>
      </p:sp>
      <p:sp>
        <p:nvSpPr>
          <p:cNvPr id="439" name="Text"/>
          <p:cNvSpPr txBox="1"/>
          <p:nvPr/>
        </p:nvSpPr>
        <p:spPr>
          <a:xfrm>
            <a:off x="246888" y="3557016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440" name="Text"/>
          <p:cNvSpPr txBox="1"/>
          <p:nvPr/>
        </p:nvSpPr>
        <p:spPr>
          <a:xfrm>
            <a:off x="731520" y="5010912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</a:t>
            </a:r>
            <a:endParaRPr lang="en-US" sz="850" dirty="0"/>
          </a:p>
        </p:txBody>
      </p:sp>
      <p:sp>
        <p:nvSpPr>
          <p:cNvPr id="441" name="Text"/>
          <p:cNvSpPr txBox="1"/>
          <p:nvPr/>
        </p:nvSpPr>
        <p:spPr>
          <a:xfrm>
            <a:off x="2103120" y="5742432"/>
            <a:ext cx="1353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Partners</a:t>
            </a:r>
            <a:endParaRPr lang="en-US" sz="850" dirty="0"/>
          </a:p>
        </p:txBody>
      </p:sp>
      <p:sp>
        <p:nvSpPr>
          <p:cNvPr id="442" name="Text"/>
          <p:cNvSpPr txBox="1"/>
          <p:nvPr/>
        </p:nvSpPr>
        <p:spPr>
          <a:xfrm>
            <a:off x="9555480" y="1682496"/>
            <a:ext cx="1645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Applications</a:t>
            </a:r>
            <a:endParaRPr lang="en-US" sz="850" dirty="0"/>
          </a:p>
        </p:txBody>
      </p:sp>
      <p:sp>
        <p:nvSpPr>
          <p:cNvPr id="443" name="Text"/>
          <p:cNvSpPr txBox="1"/>
          <p:nvPr/>
        </p:nvSpPr>
        <p:spPr>
          <a:xfrm>
            <a:off x="10378440" y="3508668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850" dirty="0"/>
          </a:p>
        </p:txBody>
      </p:sp>
      <p:sp>
        <p:nvSpPr>
          <p:cNvPr id="444" name="Text"/>
          <p:cNvSpPr txBox="1"/>
          <p:nvPr/>
        </p:nvSpPr>
        <p:spPr>
          <a:xfrm>
            <a:off x="9966960" y="5010912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Systems</a:t>
            </a:r>
            <a:endParaRPr lang="en-US" sz="850" dirty="0"/>
          </a:p>
        </p:txBody>
      </p:sp>
      <p:sp>
        <p:nvSpPr>
          <p:cNvPr id="445" name="Text"/>
          <p:cNvSpPr txBox="1"/>
          <p:nvPr/>
        </p:nvSpPr>
        <p:spPr>
          <a:xfrm>
            <a:off x="8741664" y="5742432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EC20B-0079-1BF7-7756-32DDDD61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31" y="177800"/>
            <a:ext cx="6502400" cy="6502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5F62C2-C25B-140D-3AD9-139ED977962B}"/>
              </a:ext>
            </a:extLst>
          </p:cNvPr>
          <p:cNvSpPr txBox="1"/>
          <p:nvPr/>
        </p:nvSpPr>
        <p:spPr>
          <a:xfrm>
            <a:off x="7401378" y="3244334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Dremio</a:t>
            </a:r>
            <a:r>
              <a:rPr lang="en-US" dirty="0"/>
              <a:t> architecture inspiration</a:t>
            </a:r>
          </a:p>
        </p:txBody>
      </p:sp>
    </p:spTree>
    <p:extLst>
      <p:ext uri="{BB962C8B-B14F-4D97-AF65-F5344CB8AC3E}">
        <p14:creationId xmlns:p14="http://schemas.microsoft.com/office/powerpoint/2010/main" val="1730882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250</Words>
  <Application>Microsoft Macintosh PowerPoint</Application>
  <PresentationFormat>Widescreen</PresentationFormat>
  <Paragraphs>94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W</cp:lastModifiedBy>
  <cp:revision>41</cp:revision>
  <dcterms:created xsi:type="dcterms:W3CDTF">2026-09-01T23:58:44Z</dcterms:created>
  <dcterms:modified xsi:type="dcterms:W3CDTF">2026-09-02T05:17:38Z</dcterms:modified>
</cp:coreProperties>
</file>