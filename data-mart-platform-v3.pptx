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84"/>
    <p:restoredTop sz="94610"/>
  </p:normalViewPr>
  <p:slideViewPr>
    <p:cSldViewPr snapToGrid="0" snapToObjects="1">
      <p:cViewPr>
        <p:scale>
          <a:sx n="78" d="100"/>
          <a:sy n="78" d="100"/>
        </p:scale>
        <p:origin x="584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934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19">
            <a:extLst>
              <a:ext uri="{FF2B5EF4-FFF2-40B4-BE49-F238E27FC236}">
                <a16:creationId xmlns:a16="http://schemas.microsoft.com/office/drawing/2014/main" id="{EF0F4C48-FB09-D9F0-56AB-104FEABF7577}"/>
              </a:ext>
            </a:extLst>
          </p:cNvPr>
          <p:cNvSpPr/>
          <p:nvPr/>
        </p:nvSpPr>
        <p:spPr>
          <a:xfrm>
            <a:off x="1005842" y="4864890"/>
            <a:ext cx="13858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2651760" y="290348"/>
            <a:ext cx="7040880" cy="5623560"/>
          </a:xfrm>
          <a:prstGeom prst="roundRect">
            <a:avLst>
              <a:gd name="adj" fmla="val 1301"/>
            </a:avLst>
          </a:prstGeom>
          <a:solidFill>
            <a:srgbClr val="EDF2FA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4297680" y="297180"/>
            <a:ext cx="3931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MART PLATFORM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834640" y="621792"/>
            <a:ext cx="6355080" cy="1097280"/>
          </a:xfrm>
          <a:prstGeom prst="rect">
            <a:avLst/>
          </a:prstGeom>
          <a:solidFill>
            <a:srgbClr val="FDF9F4"/>
          </a:solidFill>
          <a:ln w="12700">
            <a:solidFill>
              <a:srgbClr val="E8A15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2834640" y="658368"/>
            <a:ext cx="63550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 (DISCOVERY &amp; GOVERNANCE)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71800" y="914400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154769" y="950404"/>
            <a:ext cx="1134529" cy="19049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ea typeface="Calibri" pitchFamily="34" charset="-122"/>
                <a:cs typeface="Calibri" pitchFamily="34" charset="-120"/>
              </a:rPr>
              <a:t>Tooling</a:t>
            </a:r>
            <a:r>
              <a:rPr lang="en-US" sz="850" b="1" dirty="0"/>
              <a:t> &amp; Rules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918166" y="932688"/>
            <a:ext cx="819477" cy="1948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80760" y="914400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14516" y="947928"/>
            <a:ext cx="98755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882890" y="913808"/>
            <a:ext cx="1175439" cy="238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34640" y="1965960"/>
            <a:ext cx="1645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2889504" y="2029968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CONTROLLED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APIs 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09160" y="1920240"/>
            <a:ext cx="1828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754880" y="1993392"/>
            <a:ext cx="17373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920240"/>
            <a:ext cx="1325880" cy="14630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972299" y="1894401"/>
            <a:ext cx="12344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GRAINED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361188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F7FAFD"/>
          </a:solidFill>
          <a:ln w="12700">
            <a:solidFill>
              <a:srgbClr val="7A9CC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4709160" y="3657600"/>
            <a:ext cx="3520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LAYER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4823461" y="3959352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Retrieval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89320" y="3931920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5989320" y="3986784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32320" y="3931920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7132320" y="3986784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503919" y="1924811"/>
            <a:ext cx="109728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577071" y="2011680"/>
            <a:ext cx="950976" cy="2976371"/>
          </a:xfrm>
          <a:prstGeom prst="roundRect">
            <a:avLst>
              <a:gd name="adj" fmla="val 4808"/>
            </a:avLst>
          </a:prstGeom>
          <a:solidFill>
            <a:srgbClr val="F5F1FB"/>
          </a:solidFill>
          <a:ln w="12700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8625840" y="2382012"/>
            <a:ext cx="914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655416" y="3356987"/>
            <a:ext cx="731520" cy="0"/>
          </a:xfrm>
          <a:prstGeom prst="line">
            <a:avLst/>
          </a:prstGeom>
          <a:noFill/>
          <a:ln w="9525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697480" y="6070961"/>
            <a:ext cx="6995160" cy="640080"/>
          </a:xfrm>
          <a:prstGeom prst="roundRect">
            <a:avLst>
              <a:gd name="adj" fmla="val 8571"/>
            </a:avLst>
          </a:prstGeom>
          <a:solidFill>
            <a:srgbClr val="F2F6FC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3566160" y="6125282"/>
            <a:ext cx="5394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325880" y="1097280"/>
            <a:ext cx="1051560" cy="3291840"/>
          </a:xfrm>
          <a:prstGeom prst="roundRect">
            <a:avLst>
              <a:gd name="adj" fmla="val 5217"/>
            </a:avLst>
          </a:prstGeom>
          <a:solidFill>
            <a:srgbClr val="FDF3EA"/>
          </a:solidFill>
          <a:ln w="12700">
            <a:solidFill>
              <a:srgbClr val="E8A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 txBox="1"/>
          <p:nvPr/>
        </p:nvSpPr>
        <p:spPr>
          <a:xfrm>
            <a:off x="1353312" y="1188720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1372223" y="4000500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/ Streaming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1070611" y="2517650"/>
            <a:ext cx="160172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r>
              <a:rPr lang="en-US" sz="750" dirty="0"/>
              <a:t> </a:t>
            </a: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1355288" y="3291840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Bi-Products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0332720" y="5486400"/>
            <a:ext cx="17373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 txBox="1"/>
          <p:nvPr/>
        </p:nvSpPr>
        <p:spPr>
          <a:xfrm>
            <a:off x="10442448" y="5559552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0442448" y="5888736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 txBox="1"/>
          <p:nvPr/>
        </p:nvSpPr>
        <p:spPr>
          <a:xfrm>
            <a:off x="10789920" y="5797296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2448" y="6089904"/>
            <a:ext cx="274320" cy="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 txBox="1"/>
          <p:nvPr/>
        </p:nvSpPr>
        <p:spPr>
          <a:xfrm>
            <a:off x="10789920" y="5998464"/>
            <a:ext cx="126187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Control Flow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2448" y="6291072"/>
            <a:ext cx="274320" cy="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 txBox="1"/>
          <p:nvPr/>
        </p:nvSpPr>
        <p:spPr>
          <a:xfrm>
            <a:off x="10789920" y="6199632"/>
            <a:ext cx="126187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377440" y="4114800"/>
            <a:ext cx="45720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537960" y="2651760"/>
            <a:ext cx="36576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229600" y="2651760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229600" y="4206240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692640" y="2194560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92640" y="3291840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692640" y="4389120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 flipH="1" flipV="1">
            <a:off x="2350008" y="1591056"/>
            <a:ext cx="457201" cy="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H="1" flipV="1">
            <a:off x="6719758" y="1719072"/>
            <a:ext cx="0" cy="1863732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394960" y="3337560"/>
            <a:ext cx="0" cy="27432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6217920" y="3337560"/>
            <a:ext cx="0" cy="27432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7589520" y="3383280"/>
            <a:ext cx="0" cy="22860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5349240" y="5468112"/>
            <a:ext cx="4523537" cy="22856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549640" y="534800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90" name="Shape 86">
            <a:extLst>
              <a:ext uri="{FF2B5EF4-FFF2-40B4-BE49-F238E27FC236}">
                <a16:creationId xmlns:a16="http://schemas.microsoft.com/office/drawing/2014/main" id="{AB87E224-4115-5484-6AEB-37CDE2038D0D}"/>
              </a:ext>
            </a:extLst>
          </p:cNvPr>
          <p:cNvSpPr/>
          <p:nvPr/>
        </p:nvSpPr>
        <p:spPr>
          <a:xfrm>
            <a:off x="9854945" y="1211589"/>
            <a:ext cx="1324" cy="4274806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D995455-8984-A100-8F0F-FAEBB0323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066615"/>
            <a:ext cx="241590" cy="24159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2E181B16-F94E-1364-290D-A1236FC0A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8584" y="2934791"/>
            <a:ext cx="217112" cy="217112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46E69E70-75D2-6B57-02F1-7AC53B16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6814" y="3053443"/>
            <a:ext cx="285532" cy="278429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993C6A51-3AF9-A3A0-56C2-5B9ED90AC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2814" y="4416551"/>
            <a:ext cx="323522" cy="323522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EC19FA5E-DF7E-4BC0-406E-007AA8ABCC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9758" y="4413393"/>
            <a:ext cx="266700" cy="26670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F0567A6C-A5D4-B334-C98E-F6A70D478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885462" y="4444784"/>
            <a:ext cx="228602" cy="228602"/>
          </a:xfrm>
          <a:prstGeom prst="rect">
            <a:avLst/>
          </a:prstGeom>
        </p:spPr>
      </p:pic>
      <p:pic>
        <p:nvPicPr>
          <p:cNvPr id="107" name="Graphic 106">
            <a:extLst>
              <a:ext uri="{FF2B5EF4-FFF2-40B4-BE49-F238E27FC236}">
                <a16:creationId xmlns:a16="http://schemas.microsoft.com/office/drawing/2014/main" id="{D55033F0-EA75-D4F9-4BDD-DF480F08CE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20790" y="1325879"/>
            <a:ext cx="268329" cy="268329"/>
          </a:xfrm>
          <a:prstGeom prst="rect">
            <a:avLst/>
          </a:prstGeom>
        </p:spPr>
      </p:pic>
      <p:pic>
        <p:nvPicPr>
          <p:cNvPr id="108" name="Graphic 107">
            <a:extLst>
              <a:ext uri="{FF2B5EF4-FFF2-40B4-BE49-F238E27FC236}">
                <a16:creationId xmlns:a16="http://schemas.microsoft.com/office/drawing/2014/main" id="{FE390695-466B-E05F-5C3C-7DC28502B5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88829" y="1319732"/>
            <a:ext cx="268329" cy="268329"/>
          </a:xfrm>
          <a:prstGeom prst="rect">
            <a:avLst/>
          </a:prstGeom>
        </p:spPr>
      </p:pic>
      <p:pic>
        <p:nvPicPr>
          <p:cNvPr id="109" name="Graphic 108">
            <a:extLst>
              <a:ext uri="{FF2B5EF4-FFF2-40B4-BE49-F238E27FC236}">
                <a16:creationId xmlns:a16="http://schemas.microsoft.com/office/drawing/2014/main" id="{87B41680-CAE6-1778-B891-3A194ED56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39210" y="1322727"/>
            <a:ext cx="268329" cy="268329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48F04659-1631-68FD-62A8-3F54619625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82523" y="1315036"/>
            <a:ext cx="268329" cy="268329"/>
          </a:xfrm>
          <a:prstGeom prst="rect">
            <a:avLst/>
          </a:prstGeom>
        </p:spPr>
      </p:pic>
      <p:sp>
        <p:nvSpPr>
          <p:cNvPr id="111" name="Shape 87">
            <a:extLst>
              <a:ext uri="{FF2B5EF4-FFF2-40B4-BE49-F238E27FC236}">
                <a16:creationId xmlns:a16="http://schemas.microsoft.com/office/drawing/2014/main" id="{1514EB1E-09AC-33E1-A6B9-8E3E097A3BC2}"/>
              </a:ext>
            </a:extLst>
          </p:cNvPr>
          <p:cNvSpPr/>
          <p:nvPr/>
        </p:nvSpPr>
        <p:spPr>
          <a:xfrm flipV="1">
            <a:off x="5349240" y="4719908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87">
            <a:extLst>
              <a:ext uri="{FF2B5EF4-FFF2-40B4-BE49-F238E27FC236}">
                <a16:creationId xmlns:a16="http://schemas.microsoft.com/office/drawing/2014/main" id="{A82F9442-A1EC-6491-8134-81B106235EE5}"/>
              </a:ext>
            </a:extLst>
          </p:cNvPr>
          <p:cNvSpPr/>
          <p:nvPr/>
        </p:nvSpPr>
        <p:spPr>
          <a:xfrm flipV="1">
            <a:off x="6492240" y="4719908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87">
            <a:extLst>
              <a:ext uri="{FF2B5EF4-FFF2-40B4-BE49-F238E27FC236}">
                <a16:creationId xmlns:a16="http://schemas.microsoft.com/office/drawing/2014/main" id="{A9F0A4BA-2DB8-D13D-6652-380CBFE37398}"/>
              </a:ext>
            </a:extLst>
          </p:cNvPr>
          <p:cNvSpPr/>
          <p:nvPr/>
        </p:nvSpPr>
        <p:spPr>
          <a:xfrm flipV="1">
            <a:off x="7635240" y="4709160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89F28D40-DD05-D2AE-3309-44BB9B3DAA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6687" y="6382512"/>
            <a:ext cx="275665" cy="275665"/>
          </a:xfrm>
          <a:prstGeom prst="rect">
            <a:avLst/>
          </a:prstGeom>
        </p:spPr>
      </p:pic>
      <p:sp>
        <p:nvSpPr>
          <p:cNvPr id="118" name="Shape 73">
            <a:extLst>
              <a:ext uri="{FF2B5EF4-FFF2-40B4-BE49-F238E27FC236}">
                <a16:creationId xmlns:a16="http://schemas.microsoft.com/office/drawing/2014/main" id="{4F283B3E-11E4-24BF-5D6D-FDBAB6FE7945}"/>
              </a:ext>
            </a:extLst>
          </p:cNvPr>
          <p:cNvSpPr/>
          <p:nvPr/>
        </p:nvSpPr>
        <p:spPr>
          <a:xfrm flipH="1">
            <a:off x="5099031" y="4719909"/>
            <a:ext cx="21608" cy="134030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73">
            <a:extLst>
              <a:ext uri="{FF2B5EF4-FFF2-40B4-BE49-F238E27FC236}">
                <a16:creationId xmlns:a16="http://schemas.microsoft.com/office/drawing/2014/main" id="{AC9DDE60-2BBA-EC1C-10FD-6445B4CDAEE6}"/>
              </a:ext>
            </a:extLst>
          </p:cNvPr>
          <p:cNvSpPr/>
          <p:nvPr/>
        </p:nvSpPr>
        <p:spPr>
          <a:xfrm flipV="1">
            <a:off x="6263640" y="4727447"/>
            <a:ext cx="15236" cy="134351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73">
            <a:extLst>
              <a:ext uri="{FF2B5EF4-FFF2-40B4-BE49-F238E27FC236}">
                <a16:creationId xmlns:a16="http://schemas.microsoft.com/office/drawing/2014/main" id="{F6479897-F5C3-8441-92EA-6CE4B692ADD5}"/>
              </a:ext>
            </a:extLst>
          </p:cNvPr>
          <p:cNvSpPr/>
          <p:nvPr/>
        </p:nvSpPr>
        <p:spPr>
          <a:xfrm flipH="1">
            <a:off x="7489504" y="4730658"/>
            <a:ext cx="21608" cy="134030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32">
            <a:extLst>
              <a:ext uri="{FF2B5EF4-FFF2-40B4-BE49-F238E27FC236}">
                <a16:creationId xmlns:a16="http://schemas.microsoft.com/office/drawing/2014/main" id="{1B503AB4-2285-5144-70D6-941874FD6C63}"/>
              </a:ext>
            </a:extLst>
          </p:cNvPr>
          <p:cNvSpPr txBox="1"/>
          <p:nvPr/>
        </p:nvSpPr>
        <p:spPr>
          <a:xfrm>
            <a:off x="8595359" y="3874551"/>
            <a:ext cx="914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800" dirty="0"/>
          </a:p>
        </p:txBody>
      </p:sp>
      <p:sp>
        <p:nvSpPr>
          <p:cNvPr id="123" name="Text 2">
            <a:extLst>
              <a:ext uri="{FF2B5EF4-FFF2-40B4-BE49-F238E27FC236}">
                <a16:creationId xmlns:a16="http://schemas.microsoft.com/office/drawing/2014/main" id="{CA383394-2DDE-36FF-339D-3D9131612B5C}"/>
              </a:ext>
            </a:extLst>
          </p:cNvPr>
          <p:cNvSpPr txBox="1"/>
          <p:nvPr/>
        </p:nvSpPr>
        <p:spPr>
          <a:xfrm>
            <a:off x="3967308" y="1830581"/>
            <a:ext cx="612648" cy="2468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124" name="Text 2">
            <a:extLst>
              <a:ext uri="{FF2B5EF4-FFF2-40B4-BE49-F238E27FC236}">
                <a16:creationId xmlns:a16="http://schemas.microsoft.com/office/drawing/2014/main" id="{5D7EB1F8-407D-17AC-EF24-A02E68BE0CE9}"/>
              </a:ext>
            </a:extLst>
          </p:cNvPr>
          <p:cNvSpPr txBox="1"/>
          <p:nvPr/>
        </p:nvSpPr>
        <p:spPr>
          <a:xfrm>
            <a:off x="7764259" y="3523772"/>
            <a:ext cx="612648" cy="2468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125" name="Text 44">
            <a:extLst>
              <a:ext uri="{FF2B5EF4-FFF2-40B4-BE49-F238E27FC236}">
                <a16:creationId xmlns:a16="http://schemas.microsoft.com/office/drawing/2014/main" id="{6EE440D6-04A2-3D1C-34ED-14A76B787509}"/>
              </a:ext>
            </a:extLst>
          </p:cNvPr>
          <p:cNvSpPr txBox="1"/>
          <p:nvPr/>
        </p:nvSpPr>
        <p:spPr>
          <a:xfrm>
            <a:off x="1391413" y="1815845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/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through CI/CD</a:t>
            </a:r>
            <a:endParaRPr lang="en-US" sz="75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961E90D-314A-C954-4623-857C0F095E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8530" y="4648555"/>
            <a:ext cx="317771" cy="31777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836B3BF2-2DDC-0225-D321-BB201CD1B7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4560" y="3081842"/>
            <a:ext cx="201168" cy="201168"/>
          </a:xfrm>
          <a:prstGeom prst="rect">
            <a:avLst/>
          </a:prstGeom>
        </p:spPr>
      </p:pic>
      <p:sp>
        <p:nvSpPr>
          <p:cNvPr id="202" name="Connector"/>
          <p:cNvSpPr/>
          <p:nvPr/>
        </p:nvSpPr>
        <p:spPr>
          <a:xfrm flipH="1">
            <a:off x="1242533" y="6261380"/>
            <a:ext cx="2765" cy="254912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Connector"/>
          <p:cNvSpPr/>
          <p:nvPr/>
        </p:nvSpPr>
        <p:spPr>
          <a:xfrm>
            <a:off x="1244162" y="6508470"/>
            <a:ext cx="1453317" cy="7817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04" name="Connector"/>
          <p:cNvSpPr/>
          <p:nvPr/>
        </p:nvSpPr>
        <p:spPr>
          <a:xfrm>
            <a:off x="4590288" y="3035808"/>
            <a:ext cx="0" cy="3035808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Connector"/>
          <p:cNvSpPr/>
          <p:nvPr/>
        </p:nvSpPr>
        <p:spPr>
          <a:xfrm>
            <a:off x="4480560" y="3035808"/>
            <a:ext cx="109728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3" name="Content"/>
          <p:cNvSpPr txBox="1"/>
          <p:nvPr/>
        </p:nvSpPr>
        <p:spPr>
          <a:xfrm>
            <a:off x="4864608" y="2331720"/>
            <a:ext cx="15544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/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APPEND, DELETE Access to NPE’s or Users</a:t>
            </a:r>
            <a:endParaRPr lang="en-US" sz="750" dirty="0"/>
          </a:p>
        </p:txBody>
      </p:sp>
      <p:sp>
        <p:nvSpPr>
          <p:cNvPr id="214" name="Content"/>
          <p:cNvSpPr txBox="1"/>
          <p:nvPr/>
        </p:nvSpPr>
        <p:spPr>
          <a:xfrm>
            <a:off x="6995160" y="2432304"/>
            <a:ext cx="117043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/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/ column policies</a:t>
            </a:r>
            <a:r>
              <a:rPr lang="en-US" sz="700" dirty="0"/>
              <a:t> and </a:t>
            </a: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700" dirty="0"/>
          </a:p>
        </p:txBody>
      </p:sp>
      <p:sp>
        <p:nvSpPr>
          <p:cNvPr id="215" name="Content"/>
          <p:cNvSpPr txBox="1"/>
          <p:nvPr/>
        </p:nvSpPr>
        <p:spPr>
          <a:xfrm>
            <a:off x="2971800" y="2505456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access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governed data</a:t>
            </a:r>
            <a:endParaRPr lang="en-US" sz="750" dirty="0"/>
          </a:p>
        </p:txBody>
      </p:sp>
      <p:sp>
        <p:nvSpPr>
          <p:cNvPr id="217" name="Content"/>
          <p:cNvSpPr txBox="1"/>
          <p:nvPr/>
        </p:nvSpPr>
        <p:spPr>
          <a:xfrm>
            <a:off x="4864608" y="4224528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lookups</a:t>
            </a:r>
            <a:endParaRPr lang="en-US" sz="650" dirty="0"/>
          </a:p>
        </p:txBody>
      </p:sp>
      <p:sp>
        <p:nvSpPr>
          <p:cNvPr id="218" name="Content"/>
          <p:cNvSpPr txBox="1"/>
          <p:nvPr/>
        </p:nvSpPr>
        <p:spPr>
          <a:xfrm>
            <a:off x="6007608" y="4224528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SQL</a:t>
            </a:r>
            <a:endParaRPr lang="en-US" sz="650" dirty="0"/>
          </a:p>
        </p:txBody>
      </p:sp>
      <p:sp>
        <p:nvSpPr>
          <p:cNvPr id="219" name="Content"/>
          <p:cNvSpPr txBox="1"/>
          <p:nvPr/>
        </p:nvSpPr>
        <p:spPr>
          <a:xfrm>
            <a:off x="7150608" y="4224528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</a:t>
            </a:r>
            <a:endParaRPr lang="en-US" sz="650" dirty="0"/>
          </a:p>
        </p:txBody>
      </p:sp>
      <p:sp>
        <p:nvSpPr>
          <p:cNvPr id="220" name="Content"/>
          <p:cNvSpPr txBox="1"/>
          <p:nvPr/>
        </p:nvSpPr>
        <p:spPr>
          <a:xfrm>
            <a:off x="8613648" y="2613612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for AI access to API’s and tools</a:t>
            </a:r>
            <a:endParaRPr lang="en-US" sz="650" dirty="0"/>
          </a:p>
        </p:txBody>
      </p:sp>
      <p:sp>
        <p:nvSpPr>
          <p:cNvPr id="221" name="Content"/>
          <p:cNvSpPr txBox="1"/>
          <p:nvPr/>
        </p:nvSpPr>
        <p:spPr>
          <a:xfrm>
            <a:off x="8613648" y="4096512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with data</a:t>
            </a:r>
            <a:endParaRPr lang="en-US" sz="650" dirty="0"/>
          </a:p>
        </p:txBody>
      </p:sp>
      <p:sp>
        <p:nvSpPr>
          <p:cNvPr id="222" name="Content"/>
          <p:cNvSpPr txBox="1"/>
          <p:nvPr/>
        </p:nvSpPr>
        <p:spPr>
          <a:xfrm>
            <a:off x="2788920" y="6140612"/>
            <a:ext cx="868679" cy="1596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·  Object storage</a:t>
            </a:r>
            <a:endParaRPr lang="en-US" sz="800" dirty="0"/>
          </a:p>
        </p:txBody>
      </p:sp>
      <p:sp>
        <p:nvSpPr>
          <p:cNvPr id="223" name="Content"/>
          <p:cNvSpPr txBox="1"/>
          <p:nvPr/>
        </p:nvSpPr>
        <p:spPr>
          <a:xfrm>
            <a:off x="4346666" y="6382512"/>
            <a:ext cx="1142999" cy="1943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Products</a:t>
            </a:r>
            <a:endParaRPr lang="en-US" sz="800" dirty="0"/>
          </a:p>
        </p:txBody>
      </p:sp>
      <p:sp>
        <p:nvSpPr>
          <p:cNvPr id="32" name="Shape 59">
            <a:extLst>
              <a:ext uri="{FF2B5EF4-FFF2-40B4-BE49-F238E27FC236}">
                <a16:creationId xmlns:a16="http://schemas.microsoft.com/office/drawing/2014/main" id="{0570049B-7D78-C890-DB73-835816842959}"/>
              </a:ext>
            </a:extLst>
          </p:cNvPr>
          <p:cNvSpPr/>
          <p:nvPr/>
        </p:nvSpPr>
        <p:spPr>
          <a:xfrm>
            <a:off x="2377440" y="1371600"/>
            <a:ext cx="45720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0" name="Content">
            <a:extLst>
              <a:ext uri="{FF2B5EF4-FFF2-40B4-BE49-F238E27FC236}">
                <a16:creationId xmlns:a16="http://schemas.microsoft.com/office/drawing/2014/main" id="{4F6C7935-42CE-C3ED-7F66-BE71383A469D}"/>
              </a:ext>
            </a:extLst>
          </p:cNvPr>
          <p:cNvSpPr txBox="1"/>
          <p:nvPr/>
        </p:nvSpPr>
        <p:spPr>
          <a:xfrm>
            <a:off x="4926149" y="6369184"/>
            <a:ext cx="1535993" cy="2125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</a:t>
            </a:r>
            <a:endParaRPr lang="en-US" sz="800" dirty="0"/>
          </a:p>
        </p:txBody>
      </p:sp>
      <p:sp>
        <p:nvSpPr>
          <p:cNvPr id="64" name="Content">
            <a:extLst>
              <a:ext uri="{FF2B5EF4-FFF2-40B4-BE49-F238E27FC236}">
                <a16:creationId xmlns:a16="http://schemas.microsoft.com/office/drawing/2014/main" id="{4A379A13-DE5C-50D8-99D9-83423F453129}"/>
              </a:ext>
            </a:extLst>
          </p:cNvPr>
          <p:cNvSpPr txBox="1"/>
          <p:nvPr/>
        </p:nvSpPr>
        <p:spPr>
          <a:xfrm>
            <a:off x="5921781" y="6391001"/>
            <a:ext cx="1535993" cy="2125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</a:t>
            </a:r>
            <a:endParaRPr lang="en-US" sz="800" dirty="0"/>
          </a:p>
        </p:txBody>
      </p:sp>
      <p:sp>
        <p:nvSpPr>
          <p:cNvPr id="69" name="Content">
            <a:extLst>
              <a:ext uri="{FF2B5EF4-FFF2-40B4-BE49-F238E27FC236}">
                <a16:creationId xmlns:a16="http://schemas.microsoft.com/office/drawing/2014/main" id="{13F7FEDE-E29F-3519-C5BC-269F45D67B50}"/>
              </a:ext>
            </a:extLst>
          </p:cNvPr>
          <p:cNvSpPr txBox="1"/>
          <p:nvPr/>
        </p:nvSpPr>
        <p:spPr>
          <a:xfrm>
            <a:off x="6803136" y="6391001"/>
            <a:ext cx="1535993" cy="2125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Track</a:t>
            </a:r>
            <a:endParaRPr lang="en-US" sz="800" dirty="0"/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62E63680-A60D-B76B-13E7-94F4E733F56E}"/>
              </a:ext>
            </a:extLst>
          </p:cNvPr>
          <p:cNvSpPr txBox="1"/>
          <p:nvPr/>
        </p:nvSpPr>
        <p:spPr>
          <a:xfrm>
            <a:off x="2971800" y="6355080"/>
            <a:ext cx="1535993" cy="2125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800" dirty="0"/>
          </a:p>
        </p:txBody>
      </p:sp>
      <p:sp>
        <p:nvSpPr>
          <p:cNvPr id="71" name="Content">
            <a:extLst>
              <a:ext uri="{FF2B5EF4-FFF2-40B4-BE49-F238E27FC236}">
                <a16:creationId xmlns:a16="http://schemas.microsoft.com/office/drawing/2014/main" id="{CA2AC35F-79ED-FD58-9788-E9154958BA47}"/>
              </a:ext>
            </a:extLst>
          </p:cNvPr>
          <p:cNvSpPr txBox="1"/>
          <p:nvPr/>
        </p:nvSpPr>
        <p:spPr>
          <a:xfrm>
            <a:off x="3040379" y="1144153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CI/CD</a:t>
            </a:r>
            <a:endParaRPr lang="en-US" sz="750" dirty="0"/>
          </a:p>
        </p:txBody>
      </p:sp>
      <p:sp>
        <p:nvSpPr>
          <p:cNvPr id="82" name="Content">
            <a:extLst>
              <a:ext uri="{FF2B5EF4-FFF2-40B4-BE49-F238E27FC236}">
                <a16:creationId xmlns:a16="http://schemas.microsoft.com/office/drawing/2014/main" id="{923AA95F-1756-3C16-058F-8161F19686D0}"/>
              </a:ext>
            </a:extLst>
          </p:cNvPr>
          <p:cNvSpPr txBox="1"/>
          <p:nvPr/>
        </p:nvSpPr>
        <p:spPr>
          <a:xfrm>
            <a:off x="4655149" y="1132112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Jobs</a:t>
            </a:r>
            <a:endParaRPr lang="en-US" sz="750" dirty="0"/>
          </a:p>
        </p:txBody>
      </p:sp>
      <p:sp>
        <p:nvSpPr>
          <p:cNvPr id="83" name="Content">
            <a:extLst>
              <a:ext uri="{FF2B5EF4-FFF2-40B4-BE49-F238E27FC236}">
                <a16:creationId xmlns:a16="http://schemas.microsoft.com/office/drawing/2014/main" id="{FB1DE87D-E90B-030A-3BAF-8FD8016FDDB0}"/>
              </a:ext>
            </a:extLst>
          </p:cNvPr>
          <p:cNvSpPr txBox="1"/>
          <p:nvPr/>
        </p:nvSpPr>
        <p:spPr>
          <a:xfrm>
            <a:off x="7737643" y="1134467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750" dirty="0"/>
          </a:p>
        </p:txBody>
      </p:sp>
      <p:sp>
        <p:nvSpPr>
          <p:cNvPr id="84" name="Content">
            <a:extLst>
              <a:ext uri="{FF2B5EF4-FFF2-40B4-BE49-F238E27FC236}">
                <a16:creationId xmlns:a16="http://schemas.microsoft.com/office/drawing/2014/main" id="{BE85CB13-DFBE-B111-FCBB-B1A8564EC213}"/>
              </a:ext>
            </a:extLst>
          </p:cNvPr>
          <p:cNvSpPr txBox="1"/>
          <p:nvPr/>
        </p:nvSpPr>
        <p:spPr>
          <a:xfrm>
            <a:off x="6217920" y="1120833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750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C7AF99B7-C0F2-71B8-42FD-D0A3A5CA3A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07886" y="5825922"/>
            <a:ext cx="342409" cy="342409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0A0C76D3-F8AD-1B80-5098-A50393B3DFC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7509" y="5850871"/>
            <a:ext cx="358448" cy="358448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3D4A8C0F-74F1-9B6E-D517-A5805037A61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137" y="5851872"/>
            <a:ext cx="384048" cy="384048"/>
          </a:xfrm>
          <a:prstGeom prst="rect">
            <a:avLst/>
          </a:prstGeom>
        </p:spPr>
      </p:pic>
      <p:sp>
        <p:nvSpPr>
          <p:cNvPr id="100" name="Text 20">
            <a:extLst>
              <a:ext uri="{FF2B5EF4-FFF2-40B4-BE49-F238E27FC236}">
                <a16:creationId xmlns:a16="http://schemas.microsoft.com/office/drawing/2014/main" id="{F05AD466-F4BD-70FB-B7BC-E6823B9D5A6D}"/>
              </a:ext>
            </a:extLst>
          </p:cNvPr>
          <p:cNvSpPr txBox="1"/>
          <p:nvPr/>
        </p:nvSpPr>
        <p:spPr>
          <a:xfrm>
            <a:off x="932690" y="4921732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Platform</a:t>
            </a:r>
            <a:endParaRPr lang="en-US" sz="850" dirty="0"/>
          </a:p>
        </p:txBody>
      </p:sp>
      <p:sp>
        <p:nvSpPr>
          <p:cNvPr id="102" name="Connector">
            <a:extLst>
              <a:ext uri="{FF2B5EF4-FFF2-40B4-BE49-F238E27FC236}">
                <a16:creationId xmlns:a16="http://schemas.microsoft.com/office/drawing/2014/main" id="{CDFAEB7B-CB8B-C51A-AC1E-00F279299D2D}"/>
              </a:ext>
            </a:extLst>
          </p:cNvPr>
          <p:cNvSpPr/>
          <p:nvPr/>
        </p:nvSpPr>
        <p:spPr>
          <a:xfrm flipH="1">
            <a:off x="1837944" y="4389121"/>
            <a:ext cx="0" cy="47577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4" name="Content">
            <a:extLst>
              <a:ext uri="{FF2B5EF4-FFF2-40B4-BE49-F238E27FC236}">
                <a16:creationId xmlns:a16="http://schemas.microsoft.com/office/drawing/2014/main" id="{DCDC6647-C7EF-41B1-4BE1-B2711725FFE5}"/>
              </a:ext>
            </a:extLst>
          </p:cNvPr>
          <p:cNvSpPr txBox="1"/>
          <p:nvPr/>
        </p:nvSpPr>
        <p:spPr>
          <a:xfrm>
            <a:off x="1092996" y="5323780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ETL platform and tools</a:t>
            </a:r>
            <a:endParaRPr lang="en-US" sz="750" dirty="0"/>
          </a:p>
        </p:txBody>
      </p:sp>
      <p:pic>
        <p:nvPicPr>
          <p:cNvPr id="114" name="Graphic 113">
            <a:extLst>
              <a:ext uri="{FF2B5EF4-FFF2-40B4-BE49-F238E27FC236}">
                <a16:creationId xmlns:a16="http://schemas.microsoft.com/office/drawing/2014/main" id="{EB440687-FD29-34BB-0CE9-AC8028E56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583511" y="1464549"/>
            <a:ext cx="582017" cy="582017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A2F7C81A-8D91-9822-BCE5-846EC99EE9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95094" y="2192249"/>
            <a:ext cx="387317" cy="387317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ADB90F31-E2C1-5137-6FAA-0D9A518BD0E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9853" y="2893584"/>
            <a:ext cx="384951" cy="384951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81EC021A-B523-D4AC-9C05-FE1B1E8B120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28122" y="3586859"/>
            <a:ext cx="401358" cy="40135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A4C6FDDC-52B3-9566-45C5-1C681A7F328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79850" y="6085330"/>
            <a:ext cx="256031" cy="256031"/>
          </a:xfrm>
          <a:prstGeom prst="rect">
            <a:avLst/>
          </a:prstGeom>
        </p:spPr>
      </p:pic>
      <p:sp>
        <p:nvSpPr>
          <p:cNvPr id="39" name="Shape 63">
            <a:extLst>
              <a:ext uri="{FF2B5EF4-FFF2-40B4-BE49-F238E27FC236}">
                <a16:creationId xmlns:a16="http://schemas.microsoft.com/office/drawing/2014/main" id="{B1C4356B-016A-2C14-44AA-65151C2B0518}"/>
              </a:ext>
            </a:extLst>
          </p:cNvPr>
          <p:cNvSpPr/>
          <p:nvPr/>
        </p:nvSpPr>
        <p:spPr>
          <a:xfrm flipV="1">
            <a:off x="4846320" y="4825772"/>
            <a:ext cx="0" cy="123444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87">
            <a:extLst>
              <a:ext uri="{FF2B5EF4-FFF2-40B4-BE49-F238E27FC236}">
                <a16:creationId xmlns:a16="http://schemas.microsoft.com/office/drawing/2014/main" id="{1C0FB90A-AE24-A9AC-EEE7-9625C87BE882}"/>
              </a:ext>
            </a:extLst>
          </p:cNvPr>
          <p:cNvSpPr/>
          <p:nvPr/>
        </p:nvSpPr>
        <p:spPr>
          <a:xfrm flipV="1">
            <a:off x="8966199" y="5003735"/>
            <a:ext cx="14514" cy="493832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87">
            <a:extLst>
              <a:ext uri="{FF2B5EF4-FFF2-40B4-BE49-F238E27FC236}">
                <a16:creationId xmlns:a16="http://schemas.microsoft.com/office/drawing/2014/main" id="{4C8D8688-02FC-48D7-80FE-90EE50D0B360}"/>
              </a:ext>
            </a:extLst>
          </p:cNvPr>
          <p:cNvSpPr/>
          <p:nvPr/>
        </p:nvSpPr>
        <p:spPr>
          <a:xfrm flipH="1" flipV="1">
            <a:off x="9189720" y="1147576"/>
            <a:ext cx="1737360" cy="282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1">
            <a:extLst>
              <a:ext uri="{FF2B5EF4-FFF2-40B4-BE49-F238E27FC236}">
                <a16:creationId xmlns:a16="http://schemas.microsoft.com/office/drawing/2014/main" id="{1F78A940-274D-BA64-B1CE-AB61E632E7C1}"/>
              </a:ext>
            </a:extLst>
          </p:cNvPr>
          <p:cNvSpPr/>
          <p:nvPr/>
        </p:nvSpPr>
        <p:spPr>
          <a:xfrm>
            <a:off x="10995660" y="947928"/>
            <a:ext cx="1051560" cy="3989832"/>
          </a:xfrm>
          <a:prstGeom prst="roundRect">
            <a:avLst>
              <a:gd name="adj" fmla="val 5217"/>
            </a:avLst>
          </a:prstGeom>
          <a:solidFill>
            <a:srgbClr val="FDF3EA"/>
          </a:solidFill>
          <a:ln w="12700">
            <a:solidFill>
              <a:srgbClr val="E8A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2">
            <a:extLst>
              <a:ext uri="{FF2B5EF4-FFF2-40B4-BE49-F238E27FC236}">
                <a16:creationId xmlns:a16="http://schemas.microsoft.com/office/drawing/2014/main" id="{A0E26568-B2EA-6CE2-47DF-C6E1A332E648}"/>
              </a:ext>
            </a:extLst>
          </p:cNvPr>
          <p:cNvSpPr txBox="1"/>
          <p:nvPr/>
        </p:nvSpPr>
        <p:spPr>
          <a:xfrm>
            <a:off x="11027664" y="1684856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850" dirty="0"/>
          </a:p>
        </p:txBody>
      </p:sp>
      <p:sp>
        <p:nvSpPr>
          <p:cNvPr id="61" name="Shape 33">
            <a:extLst>
              <a:ext uri="{FF2B5EF4-FFF2-40B4-BE49-F238E27FC236}">
                <a16:creationId xmlns:a16="http://schemas.microsoft.com/office/drawing/2014/main" id="{EEAB878F-5A75-EC30-F54F-228DA9C461D1}"/>
              </a:ext>
            </a:extLst>
          </p:cNvPr>
          <p:cNvSpPr/>
          <p:nvPr/>
        </p:nvSpPr>
        <p:spPr>
          <a:xfrm>
            <a:off x="11182307" y="2837690"/>
            <a:ext cx="731520" cy="0"/>
          </a:xfrm>
          <a:prstGeom prst="line">
            <a:avLst/>
          </a:prstGeom>
          <a:noFill/>
          <a:ln w="9525">
            <a:solidFill>
              <a:schemeClr val="accent2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ext 42">
            <a:extLst>
              <a:ext uri="{FF2B5EF4-FFF2-40B4-BE49-F238E27FC236}">
                <a16:creationId xmlns:a16="http://schemas.microsoft.com/office/drawing/2014/main" id="{0665A694-D853-49BF-1E3F-AAE513683015}"/>
              </a:ext>
            </a:extLst>
          </p:cNvPr>
          <p:cNvSpPr txBox="1"/>
          <p:nvPr/>
        </p:nvSpPr>
        <p:spPr>
          <a:xfrm>
            <a:off x="11027664" y="3383280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cs typeface="Calibri" pitchFamily="34" charset="-120"/>
              </a:rPr>
              <a:t>EXTERNAL CONSUMERS</a:t>
            </a:r>
            <a:endParaRPr lang="en-US" sz="850" dirty="0"/>
          </a:p>
        </p:txBody>
      </p:sp>
      <p:sp>
        <p:nvSpPr>
          <p:cNvPr id="63" name="Content">
            <a:extLst>
              <a:ext uri="{FF2B5EF4-FFF2-40B4-BE49-F238E27FC236}">
                <a16:creationId xmlns:a16="http://schemas.microsoft.com/office/drawing/2014/main" id="{61CBDA13-93D3-0BA4-F0E5-F6A6212412D2}"/>
              </a:ext>
            </a:extLst>
          </p:cNvPr>
          <p:cNvSpPr txBox="1"/>
          <p:nvPr/>
        </p:nvSpPr>
        <p:spPr>
          <a:xfrm>
            <a:off x="11081598" y="2001456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for AI access to API’s and tools</a:t>
            </a:r>
            <a:endParaRPr lang="en-US" sz="650" dirty="0"/>
          </a:p>
        </p:txBody>
      </p:sp>
      <p:sp>
        <p:nvSpPr>
          <p:cNvPr id="85" name="Content">
            <a:extLst>
              <a:ext uri="{FF2B5EF4-FFF2-40B4-BE49-F238E27FC236}">
                <a16:creationId xmlns:a16="http://schemas.microsoft.com/office/drawing/2014/main" id="{F0B71A4E-229E-36C2-E47D-E2B926CBFBBC}"/>
              </a:ext>
            </a:extLst>
          </p:cNvPr>
          <p:cNvSpPr txBox="1"/>
          <p:nvPr/>
        </p:nvSpPr>
        <p:spPr>
          <a:xfrm>
            <a:off x="11075670" y="3742698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with data</a:t>
            </a:r>
            <a:endParaRPr lang="en-US" sz="650" dirty="0"/>
          </a:p>
        </p:txBody>
      </p:sp>
      <p:sp>
        <p:nvSpPr>
          <p:cNvPr id="87" name="Shape 87">
            <a:extLst>
              <a:ext uri="{FF2B5EF4-FFF2-40B4-BE49-F238E27FC236}">
                <a16:creationId xmlns:a16="http://schemas.microsoft.com/office/drawing/2014/main" id="{307C4856-04DA-EFC9-2419-60513B07547B}"/>
              </a:ext>
            </a:extLst>
          </p:cNvPr>
          <p:cNvSpPr/>
          <p:nvPr/>
        </p:nvSpPr>
        <p:spPr>
          <a:xfrm flipV="1">
            <a:off x="2391729" y="5520663"/>
            <a:ext cx="1265870" cy="2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6">
            <a:extLst>
              <a:ext uri="{FF2B5EF4-FFF2-40B4-BE49-F238E27FC236}">
                <a16:creationId xmlns:a16="http://schemas.microsoft.com/office/drawing/2014/main" id="{9814F3EC-B313-06E6-6EBE-A50DDE41B608}"/>
              </a:ext>
            </a:extLst>
          </p:cNvPr>
          <p:cNvSpPr/>
          <p:nvPr/>
        </p:nvSpPr>
        <p:spPr>
          <a:xfrm flipH="1">
            <a:off x="3688341" y="4785935"/>
            <a:ext cx="1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87">
            <a:extLst>
              <a:ext uri="{FF2B5EF4-FFF2-40B4-BE49-F238E27FC236}">
                <a16:creationId xmlns:a16="http://schemas.microsoft.com/office/drawing/2014/main" id="{4C452721-4666-56B6-FC10-8BC0419C1D5B}"/>
              </a:ext>
            </a:extLst>
          </p:cNvPr>
          <p:cNvSpPr/>
          <p:nvPr/>
        </p:nvSpPr>
        <p:spPr>
          <a:xfrm flipH="1">
            <a:off x="11405814" y="4988051"/>
            <a:ext cx="1326" cy="250948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86">
            <a:extLst>
              <a:ext uri="{FF2B5EF4-FFF2-40B4-BE49-F238E27FC236}">
                <a16:creationId xmlns:a16="http://schemas.microsoft.com/office/drawing/2014/main" id="{68CEF1D7-0DA8-8CA1-FE32-AF7DF9DE276C}"/>
              </a:ext>
            </a:extLst>
          </p:cNvPr>
          <p:cNvSpPr/>
          <p:nvPr/>
        </p:nvSpPr>
        <p:spPr>
          <a:xfrm flipH="1">
            <a:off x="3657599" y="5202936"/>
            <a:ext cx="7699248" cy="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5" name="Shape 86">
            <a:extLst>
              <a:ext uri="{FF2B5EF4-FFF2-40B4-BE49-F238E27FC236}">
                <a16:creationId xmlns:a16="http://schemas.microsoft.com/office/drawing/2014/main" id="{524B82BB-37C9-808C-C024-15CF80536A41}"/>
              </a:ext>
            </a:extLst>
          </p:cNvPr>
          <p:cNvSpPr/>
          <p:nvPr/>
        </p:nvSpPr>
        <p:spPr>
          <a:xfrm>
            <a:off x="4225909" y="3235039"/>
            <a:ext cx="23879" cy="1956383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834640" y="342900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2889504" y="3493008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CONTROLLED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STREAM </a:t>
            </a:r>
            <a:endParaRPr lang="en-US" sz="850" dirty="0"/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E06DB0BB-6A26-CB98-7CD9-31033291E2C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77626" y="4479512"/>
            <a:ext cx="569596" cy="299403"/>
          </a:xfrm>
          <a:prstGeom prst="rect">
            <a:avLst/>
          </a:prstGeom>
        </p:spPr>
      </p:pic>
      <p:sp>
        <p:nvSpPr>
          <p:cNvPr id="216" name="Content"/>
          <p:cNvSpPr txBox="1"/>
          <p:nvPr/>
        </p:nvSpPr>
        <p:spPr>
          <a:xfrm>
            <a:off x="2971800" y="3986784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topics for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consumers</a:t>
            </a:r>
            <a:endParaRPr lang="en-US" sz="750" dirty="0"/>
          </a:p>
        </p:txBody>
      </p:sp>
      <p:sp>
        <p:nvSpPr>
          <p:cNvPr id="116" name="Connector">
            <a:extLst>
              <a:ext uri="{FF2B5EF4-FFF2-40B4-BE49-F238E27FC236}">
                <a16:creationId xmlns:a16="http://schemas.microsoft.com/office/drawing/2014/main" id="{BF9E35DD-843B-DA18-70CE-19113F7F7797}"/>
              </a:ext>
            </a:extLst>
          </p:cNvPr>
          <p:cNvSpPr/>
          <p:nvPr/>
        </p:nvSpPr>
        <p:spPr>
          <a:xfrm flipV="1">
            <a:off x="1836717" y="4364951"/>
            <a:ext cx="1922" cy="375122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Text"/>
          <p:cNvSpPr txBox="1"/>
          <p:nvPr/>
        </p:nvSpPr>
        <p:spPr>
          <a:xfrm>
            <a:off x="3355848" y="91440"/>
            <a:ext cx="54864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MART LAYER</a:t>
            </a:r>
            <a:endParaRPr lang="en-US" sz="2400" dirty="0"/>
          </a:p>
        </p:txBody>
      </p:sp>
      <p:sp>
        <p:nvSpPr>
          <p:cNvPr id="402" name="Text"/>
          <p:cNvSpPr txBox="1"/>
          <p:nvPr/>
        </p:nvSpPr>
        <p:spPr>
          <a:xfrm>
            <a:off x="3355848" y="512064"/>
            <a:ext cx="5486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DISCOVERABLE</a:t>
            </a:r>
            <a:r>
              <a:rPr lang="en-US" sz="130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r>
              <a:rPr lang="en-US" sz="130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 </a:t>
            </a:r>
            <a:endParaRPr lang="en-US" sz="800" dirty="0"/>
          </a:p>
        </p:txBody>
      </p:sp>
      <p:sp>
        <p:nvSpPr>
          <p:cNvPr id="403" name="Shape"/>
          <p:cNvSpPr/>
          <p:nvPr/>
        </p:nvSpPr>
        <p:spPr>
          <a:xfrm>
            <a:off x="1755648" y="1005840"/>
            <a:ext cx="8686800" cy="5212080"/>
          </a:xfrm>
          <a:prstGeom prst="ellipse">
            <a:avLst/>
          </a:prstGeom>
          <a:noFill/>
          <a:ln w="12700">
            <a:solidFill>
              <a:srgbClr val="C9C9C9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"/>
          <p:cNvSpPr/>
          <p:nvPr/>
        </p:nvSpPr>
        <p:spPr>
          <a:xfrm>
            <a:off x="4224528" y="1527048"/>
            <a:ext cx="3749040" cy="3749040"/>
          </a:xfrm>
          <a:prstGeom prst="ellipse">
            <a:avLst/>
          </a:prstGeom>
          <a:noFill/>
          <a:ln w="12700">
            <a:solidFill>
              <a:srgbClr val="F0A868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"/>
          <p:cNvSpPr/>
          <p:nvPr/>
        </p:nvSpPr>
        <p:spPr>
          <a:xfrm>
            <a:off x="6099048" y="2249424"/>
            <a:ext cx="0" cy="100584"/>
          </a:xfrm>
          <a:prstGeom prst="line">
            <a:avLst/>
          </a:prstGeom>
          <a:noFill/>
          <a:ln w="15875">
            <a:solidFill>
              <a:srgbClr val="EA7A22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"/>
          <p:cNvSpPr/>
          <p:nvPr/>
        </p:nvSpPr>
        <p:spPr>
          <a:xfrm>
            <a:off x="4681728" y="2743200"/>
            <a:ext cx="466344" cy="210312"/>
          </a:xfrm>
          <a:prstGeom prst="line">
            <a:avLst/>
          </a:prstGeom>
          <a:noFill/>
          <a:ln w="15875">
            <a:solidFill>
              <a:srgbClr val="EA7A22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"/>
          <p:cNvSpPr/>
          <p:nvPr/>
        </p:nvSpPr>
        <p:spPr>
          <a:xfrm flipV="1">
            <a:off x="7050024" y="2743200"/>
            <a:ext cx="466344" cy="210312"/>
          </a:xfrm>
          <a:prstGeom prst="line">
            <a:avLst/>
          </a:prstGeom>
          <a:noFill/>
          <a:ln w="15875">
            <a:solidFill>
              <a:srgbClr val="EA7A22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"/>
          <p:cNvSpPr/>
          <p:nvPr/>
        </p:nvSpPr>
        <p:spPr>
          <a:xfrm flipV="1">
            <a:off x="4992624" y="4169664"/>
            <a:ext cx="347472" cy="497245"/>
          </a:xfrm>
          <a:prstGeom prst="line">
            <a:avLst/>
          </a:prstGeom>
          <a:noFill/>
          <a:ln w="15875">
            <a:solidFill>
              <a:srgbClr val="EA7A22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"/>
          <p:cNvSpPr/>
          <p:nvPr/>
        </p:nvSpPr>
        <p:spPr>
          <a:xfrm>
            <a:off x="6702552" y="4261104"/>
            <a:ext cx="292608" cy="420624"/>
          </a:xfrm>
          <a:prstGeom prst="line">
            <a:avLst/>
          </a:prstGeom>
          <a:noFill/>
          <a:ln w="15875">
            <a:solidFill>
              <a:srgbClr val="EA7A22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"/>
          <p:cNvSpPr/>
          <p:nvPr/>
        </p:nvSpPr>
        <p:spPr>
          <a:xfrm>
            <a:off x="5047488" y="2350008"/>
            <a:ext cx="2103120" cy="2103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Text"/>
          <p:cNvSpPr txBox="1"/>
          <p:nvPr/>
        </p:nvSpPr>
        <p:spPr>
          <a:xfrm>
            <a:off x="5038344" y="3148111"/>
            <a:ext cx="21031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MART</a:t>
            </a:r>
            <a:endParaRPr lang="en-US" sz="2200" dirty="0"/>
          </a:p>
        </p:txBody>
      </p:sp>
      <p:sp>
        <p:nvSpPr>
          <p:cNvPr id="413" name="Text"/>
          <p:cNvSpPr txBox="1"/>
          <p:nvPr/>
        </p:nvSpPr>
        <p:spPr>
          <a:xfrm>
            <a:off x="5074920" y="3458901"/>
            <a:ext cx="21031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Products in one place</a:t>
            </a:r>
            <a:endParaRPr lang="en-US" sz="850" dirty="0"/>
          </a:p>
        </p:txBody>
      </p:sp>
      <p:sp>
        <p:nvSpPr>
          <p:cNvPr id="414" name="Shape"/>
          <p:cNvSpPr/>
          <p:nvPr/>
        </p:nvSpPr>
        <p:spPr>
          <a:xfrm>
            <a:off x="5788152" y="1216152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"/>
          <p:cNvSpPr/>
          <p:nvPr/>
        </p:nvSpPr>
        <p:spPr>
          <a:xfrm>
            <a:off x="4087368" y="2295144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"/>
          <p:cNvSpPr/>
          <p:nvPr/>
        </p:nvSpPr>
        <p:spPr>
          <a:xfrm>
            <a:off x="7488936" y="2295144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"/>
          <p:cNvSpPr/>
          <p:nvPr/>
        </p:nvSpPr>
        <p:spPr>
          <a:xfrm>
            <a:off x="4581144" y="4651774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"/>
          <p:cNvSpPr/>
          <p:nvPr/>
        </p:nvSpPr>
        <p:spPr>
          <a:xfrm>
            <a:off x="6867144" y="4626864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A7A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Text"/>
          <p:cNvSpPr txBox="1"/>
          <p:nvPr/>
        </p:nvSpPr>
        <p:spPr>
          <a:xfrm>
            <a:off x="5184648" y="1865376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1050" dirty="0"/>
          </a:p>
        </p:txBody>
      </p:sp>
      <p:sp>
        <p:nvSpPr>
          <p:cNvPr id="420" name="Text"/>
          <p:cNvSpPr txBox="1"/>
          <p:nvPr/>
        </p:nvSpPr>
        <p:spPr>
          <a:xfrm>
            <a:off x="4956048" y="2048256"/>
            <a:ext cx="22860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contract registries · lineage</a:t>
            </a:r>
            <a:endParaRPr lang="en-US" sz="800" dirty="0"/>
          </a:p>
        </p:txBody>
      </p:sp>
      <p:sp>
        <p:nvSpPr>
          <p:cNvPr id="421" name="Text"/>
          <p:cNvSpPr txBox="1"/>
          <p:nvPr/>
        </p:nvSpPr>
        <p:spPr>
          <a:xfrm>
            <a:off x="3538728" y="2926080"/>
            <a:ext cx="173736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1050" dirty="0"/>
          </a:p>
        </p:txBody>
      </p:sp>
      <p:sp>
        <p:nvSpPr>
          <p:cNvPr id="422" name="Text"/>
          <p:cNvSpPr txBox="1"/>
          <p:nvPr/>
        </p:nvSpPr>
        <p:spPr>
          <a:xfrm>
            <a:off x="3538728" y="3310128"/>
            <a:ext cx="17373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curated tables</a:t>
            </a:r>
            <a:endParaRPr lang="en-US" sz="800" dirty="0"/>
          </a:p>
        </p:txBody>
      </p:sp>
      <p:sp>
        <p:nvSpPr>
          <p:cNvPr id="423" name="Text"/>
          <p:cNvSpPr txBox="1"/>
          <p:nvPr/>
        </p:nvSpPr>
        <p:spPr>
          <a:xfrm>
            <a:off x="7671816" y="2944368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424" name="Text"/>
          <p:cNvSpPr txBox="1"/>
          <p:nvPr/>
        </p:nvSpPr>
        <p:spPr>
          <a:xfrm>
            <a:off x="7671816" y="3145536"/>
            <a:ext cx="173736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Iceberg raw &amp;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storage</a:t>
            </a:r>
            <a:endParaRPr lang="en-US" sz="800" dirty="0"/>
          </a:p>
        </p:txBody>
      </p:sp>
      <p:sp>
        <p:nvSpPr>
          <p:cNvPr id="425" name="Text"/>
          <p:cNvSpPr txBox="1"/>
          <p:nvPr/>
        </p:nvSpPr>
        <p:spPr>
          <a:xfrm>
            <a:off x="3913632" y="5367528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PUB/SUB</a:t>
            </a:r>
            <a:endParaRPr lang="en-US" sz="1050" dirty="0"/>
          </a:p>
        </p:txBody>
      </p:sp>
      <p:sp>
        <p:nvSpPr>
          <p:cNvPr id="426" name="Text"/>
          <p:cNvSpPr txBox="1"/>
          <p:nvPr/>
        </p:nvSpPr>
        <p:spPr>
          <a:xfrm>
            <a:off x="3913632" y="5559552"/>
            <a:ext cx="173736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&amp; subscribe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governed topics</a:t>
            </a:r>
            <a:endParaRPr lang="en-US" sz="800" dirty="0"/>
          </a:p>
        </p:txBody>
      </p:sp>
      <p:sp>
        <p:nvSpPr>
          <p:cNvPr id="427" name="Text"/>
          <p:cNvSpPr txBox="1"/>
          <p:nvPr/>
        </p:nvSpPr>
        <p:spPr>
          <a:xfrm>
            <a:off x="6309360" y="5276088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</a:t>
            </a:r>
            <a:endParaRPr lang="en-US" sz="1050" dirty="0"/>
          </a:p>
        </p:txBody>
      </p:sp>
      <p:sp>
        <p:nvSpPr>
          <p:cNvPr id="428" name="Text"/>
          <p:cNvSpPr txBox="1"/>
          <p:nvPr/>
        </p:nvSpPr>
        <p:spPr>
          <a:xfrm>
            <a:off x="6309360" y="5468112"/>
            <a:ext cx="173736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query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data APIs</a:t>
            </a:r>
            <a:endParaRPr lang="en-US" sz="800" dirty="0"/>
          </a:p>
        </p:txBody>
      </p:sp>
      <p:sp>
        <p:nvSpPr>
          <p:cNvPr id="430" name="Shape"/>
          <p:cNvSpPr/>
          <p:nvPr/>
        </p:nvSpPr>
        <p:spPr>
          <a:xfrm>
            <a:off x="2770632" y="1517904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"/>
          <p:cNvSpPr/>
          <p:nvPr/>
        </p:nvSpPr>
        <p:spPr>
          <a:xfrm>
            <a:off x="1499616" y="33558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"/>
          <p:cNvSpPr/>
          <p:nvPr/>
        </p:nvSpPr>
        <p:spPr>
          <a:xfrm>
            <a:off x="2286000" y="48463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"/>
          <p:cNvSpPr/>
          <p:nvPr/>
        </p:nvSpPr>
        <p:spPr>
          <a:xfrm>
            <a:off x="3538728" y="5568696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"/>
          <p:cNvSpPr/>
          <p:nvPr/>
        </p:nvSpPr>
        <p:spPr>
          <a:xfrm>
            <a:off x="8915400" y="1517904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"/>
          <p:cNvSpPr/>
          <p:nvPr/>
        </p:nvSpPr>
        <p:spPr>
          <a:xfrm>
            <a:off x="10186416" y="33558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"/>
          <p:cNvSpPr/>
          <p:nvPr/>
        </p:nvSpPr>
        <p:spPr>
          <a:xfrm>
            <a:off x="9400032" y="48463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"/>
          <p:cNvSpPr/>
          <p:nvPr/>
        </p:nvSpPr>
        <p:spPr>
          <a:xfrm>
            <a:off x="8147304" y="5568696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Text"/>
          <p:cNvSpPr txBox="1"/>
          <p:nvPr/>
        </p:nvSpPr>
        <p:spPr>
          <a:xfrm>
            <a:off x="1234440" y="1682496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/ BI</a:t>
            </a:r>
            <a:endParaRPr lang="en-US" sz="850" dirty="0"/>
          </a:p>
        </p:txBody>
      </p:sp>
      <p:sp>
        <p:nvSpPr>
          <p:cNvPr id="439" name="Text"/>
          <p:cNvSpPr txBox="1"/>
          <p:nvPr/>
        </p:nvSpPr>
        <p:spPr>
          <a:xfrm>
            <a:off x="246888" y="3557016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850" dirty="0"/>
          </a:p>
        </p:txBody>
      </p:sp>
      <p:sp>
        <p:nvSpPr>
          <p:cNvPr id="440" name="Text"/>
          <p:cNvSpPr txBox="1"/>
          <p:nvPr/>
        </p:nvSpPr>
        <p:spPr>
          <a:xfrm>
            <a:off x="731520" y="5010912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</a:t>
            </a:r>
            <a:endParaRPr lang="en-US" sz="850" dirty="0"/>
          </a:p>
        </p:txBody>
      </p:sp>
      <p:sp>
        <p:nvSpPr>
          <p:cNvPr id="441" name="Text"/>
          <p:cNvSpPr txBox="1"/>
          <p:nvPr/>
        </p:nvSpPr>
        <p:spPr>
          <a:xfrm>
            <a:off x="2103120" y="5742432"/>
            <a:ext cx="13533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Partners</a:t>
            </a:r>
            <a:endParaRPr lang="en-US" sz="850" dirty="0"/>
          </a:p>
        </p:txBody>
      </p:sp>
      <p:sp>
        <p:nvSpPr>
          <p:cNvPr id="442" name="Text"/>
          <p:cNvSpPr txBox="1"/>
          <p:nvPr/>
        </p:nvSpPr>
        <p:spPr>
          <a:xfrm>
            <a:off x="9555480" y="1682496"/>
            <a:ext cx="1645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Applications</a:t>
            </a:r>
            <a:endParaRPr lang="en-US" sz="850" dirty="0"/>
          </a:p>
        </p:txBody>
      </p:sp>
      <p:sp>
        <p:nvSpPr>
          <p:cNvPr id="443" name="Text"/>
          <p:cNvSpPr txBox="1"/>
          <p:nvPr/>
        </p:nvSpPr>
        <p:spPr>
          <a:xfrm>
            <a:off x="10378440" y="3508668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850" dirty="0"/>
          </a:p>
        </p:txBody>
      </p:sp>
      <p:sp>
        <p:nvSpPr>
          <p:cNvPr id="444" name="Text"/>
          <p:cNvSpPr txBox="1"/>
          <p:nvPr/>
        </p:nvSpPr>
        <p:spPr>
          <a:xfrm>
            <a:off x="9966960" y="5010912"/>
            <a:ext cx="1554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Systems</a:t>
            </a:r>
            <a:endParaRPr lang="en-US" sz="850" dirty="0"/>
          </a:p>
        </p:txBody>
      </p:sp>
      <p:sp>
        <p:nvSpPr>
          <p:cNvPr id="445" name="Text"/>
          <p:cNvSpPr txBox="1"/>
          <p:nvPr/>
        </p:nvSpPr>
        <p:spPr>
          <a:xfrm>
            <a:off x="8741664" y="5742432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Integrations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AEC20B-0079-1BF7-7756-32DDDD619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31" y="177800"/>
            <a:ext cx="6502400" cy="6502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5F62C2-C25B-140D-3AD9-139ED977962B}"/>
              </a:ext>
            </a:extLst>
          </p:cNvPr>
          <p:cNvSpPr txBox="1"/>
          <p:nvPr/>
        </p:nvSpPr>
        <p:spPr>
          <a:xfrm>
            <a:off x="7401378" y="3244334"/>
            <a:ext cx="4486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Dremio</a:t>
            </a:r>
            <a:r>
              <a:rPr lang="en-US" dirty="0"/>
              <a:t> architecture inspiration</a:t>
            </a:r>
          </a:p>
        </p:txBody>
      </p:sp>
    </p:spTree>
    <p:extLst>
      <p:ext uri="{BB962C8B-B14F-4D97-AF65-F5344CB8AC3E}">
        <p14:creationId xmlns:p14="http://schemas.microsoft.com/office/powerpoint/2010/main" val="1730882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254</Words>
  <Application>Microsoft Macintosh PowerPoint</Application>
  <PresentationFormat>Widescreen</PresentationFormat>
  <Paragraphs>95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Aaron W</cp:lastModifiedBy>
  <cp:revision>38</cp:revision>
  <dcterms:created xsi:type="dcterms:W3CDTF">2026-09-01T23:58:44Z</dcterms:created>
  <dcterms:modified xsi:type="dcterms:W3CDTF">2026-09-02T04:38:38Z</dcterms:modified>
</cp:coreProperties>
</file>