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9" r:id="rId2"/>
    <p:sldId id="260" r:id="rId3"/>
    <p:sldId id="256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7680"/>
    <p:restoredTop sz="94610"/>
  </p:normalViewPr>
  <p:slideViewPr>
    <p:cSldViewPr snapToGrid="0" snapToObjects="1">
      <p:cViewPr>
        <p:scale>
          <a:sx n="92" d="100"/>
          <a:sy n="92" d="100"/>
        </p:scale>
        <p:origin x="736" y="8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934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18" Type="http://schemas.openxmlformats.org/officeDocument/2006/relationships/image" Target="../media/image26.png"/><Relationship Id="rId26" Type="http://schemas.openxmlformats.org/officeDocument/2006/relationships/image" Target="../media/image9.png"/><Relationship Id="rId3" Type="http://schemas.openxmlformats.org/officeDocument/2006/relationships/image" Target="../media/image8.jpg"/><Relationship Id="rId21" Type="http://schemas.openxmlformats.org/officeDocument/2006/relationships/image" Target="../media/image29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5" Type="http://schemas.openxmlformats.org/officeDocument/2006/relationships/image" Target="../media/image3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4.svg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24" Type="http://schemas.openxmlformats.org/officeDocument/2006/relationships/image" Target="../media/image32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23" Type="http://schemas.openxmlformats.org/officeDocument/2006/relationships/image" Target="../media/image31.png"/><Relationship Id="rId10" Type="http://schemas.openxmlformats.org/officeDocument/2006/relationships/image" Target="../media/image18.png"/><Relationship Id="rId19" Type="http://schemas.openxmlformats.org/officeDocument/2006/relationships/image" Target="../media/image27.png"/><Relationship Id="rId4" Type="http://schemas.openxmlformats.org/officeDocument/2006/relationships/image" Target="../media/image12.png"/><Relationship Id="rId9" Type="http://schemas.openxmlformats.org/officeDocument/2006/relationships/image" Target="../media/image17.svg"/><Relationship Id="rId14" Type="http://schemas.openxmlformats.org/officeDocument/2006/relationships/image" Target="../media/image22.png"/><Relationship Id="rId22" Type="http://schemas.openxmlformats.org/officeDocument/2006/relationships/image" Target="../media/image30.svg"/><Relationship Id="rId27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1672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 i="0" dirty="0">
                <a:solidFill>
                  <a:srgbClr val="1B3A6B"/>
                </a:solidFill>
                <a:latin typeface="Calibri"/>
              </a:rPr>
              <a:t>WHY THE DATA </a:t>
            </a:r>
            <a:r>
              <a:rPr lang="en-US" sz="3400" b="1" i="0" dirty="0">
                <a:solidFill>
                  <a:srgbClr val="1B3A6B"/>
                </a:solidFill>
                <a:latin typeface="Calibri"/>
              </a:rPr>
              <a:t>MART</a:t>
            </a:r>
            <a:r>
              <a:rPr sz="3400" b="1" i="0" dirty="0">
                <a:solidFill>
                  <a:srgbClr val="1B3A6B"/>
                </a:solidFill>
                <a:latin typeface="Calibri"/>
              </a:rPr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96112"/>
            <a:ext cx="99943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1500" b="0" i="0" dirty="0">
                <a:solidFill>
                  <a:srgbClr val="555555"/>
                </a:solidFill>
                <a:latin typeface="Calibri"/>
              </a:rPr>
              <a:t>One place where producers publish business-unit data, and consumers find it, understand it, and use 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2926080" cy="2194560"/>
          </a:xfrm>
          <a:prstGeom prst="roundRect">
            <a:avLst>
              <a:gd name="adj" fmla="val 6000"/>
            </a:avLst>
          </a:prstGeom>
          <a:solidFill>
            <a:srgbClr val="FDF3EA"/>
          </a:solidFill>
          <a:ln w="15875">
            <a:solidFill>
              <a:srgbClr val="E88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709928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D9641E"/>
                </a:solidFill>
                <a:latin typeface="Calibri"/>
              </a:rPr>
              <a:t>PRODUCERS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48839"/>
            <a:ext cx="2514600" cy="13542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 dirty="0">
                <a:solidFill>
                  <a:srgbClr val="E8891E"/>
                </a:solidFill>
                <a:latin typeface="Calibri"/>
              </a:rPr>
              <a:t>●  </a:t>
            </a:r>
            <a:r>
              <a:rPr sz="1300" b="0" i="0" dirty="0">
                <a:solidFill>
                  <a:srgbClr val="3A3A3A"/>
                </a:solidFill>
                <a:latin typeface="Calibri"/>
              </a:rPr>
              <a:t>Publish their data products</a:t>
            </a:r>
            <a:r>
              <a:rPr lang="en-US" sz="1300" b="0" i="0" dirty="0">
                <a:solidFill>
                  <a:srgbClr val="3A3A3A"/>
                </a:solidFill>
                <a:latin typeface="Calibri"/>
              </a:rPr>
              <a:t> emit metadata</a:t>
            </a:r>
            <a:r>
              <a:rPr sz="1300" b="0" i="0" dirty="0">
                <a:solidFill>
                  <a:srgbClr val="3A3A3A"/>
                </a:solidFill>
                <a:latin typeface="Calibri"/>
              </a:rPr>
              <a:t> to the mart</a:t>
            </a:r>
          </a:p>
          <a:p>
            <a:pPr algn="l">
              <a:spcAft>
                <a:spcPts val="600"/>
              </a:spcAft>
            </a:pPr>
            <a:r>
              <a:rPr sz="1000" b="0" i="0" dirty="0">
                <a:solidFill>
                  <a:srgbClr val="E8891E"/>
                </a:solidFill>
                <a:latin typeface="Calibri"/>
              </a:rPr>
              <a:t>●  </a:t>
            </a:r>
            <a:r>
              <a:rPr sz="1300" b="0" i="0" dirty="0">
                <a:solidFill>
                  <a:srgbClr val="3A3A3A"/>
                </a:solidFill>
                <a:latin typeface="Calibri"/>
              </a:rPr>
              <a:t>Apply business units so data is organized and owned</a:t>
            </a:r>
          </a:p>
          <a:p>
            <a:pPr algn="l">
              <a:spcAft>
                <a:spcPts val="600"/>
              </a:spcAft>
            </a:pPr>
            <a:r>
              <a:rPr sz="1000" b="0" i="0" dirty="0">
                <a:solidFill>
                  <a:srgbClr val="E8891E"/>
                </a:solidFill>
                <a:latin typeface="Calibri"/>
              </a:rPr>
              <a:t>●  </a:t>
            </a:r>
            <a:r>
              <a:rPr sz="1300" b="0" i="0" dirty="0">
                <a:solidFill>
                  <a:srgbClr val="3A3A3A"/>
                </a:solidFill>
                <a:latin typeface="Calibri"/>
              </a:rPr>
              <a:t>Register models, products &amp; contracts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511296" y="2496311"/>
            <a:ext cx="768095" cy="310896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E88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3355848" y="2496311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88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850" b="1" dirty="0">
                <a:solidFill>
                  <a:srgbClr val="222222"/>
                </a:solidFill>
                <a:latin typeface="Calibri"/>
              </a:rPr>
              <a:t>P</a:t>
            </a:r>
            <a:endParaRPr sz="850" b="1" dirty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474721" y="2592657"/>
            <a:ext cx="777239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 i="0" dirty="0">
                <a:solidFill>
                  <a:schemeClr val="bg1"/>
                </a:solidFill>
                <a:latin typeface="Calibri"/>
              </a:rPr>
              <a:t>PUBLISH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508760"/>
            <a:ext cx="3593592" cy="2194560"/>
          </a:xfrm>
          <a:prstGeom prst="roundRect">
            <a:avLst>
              <a:gd name="adj" fmla="val 6000"/>
            </a:avLst>
          </a:prstGeom>
          <a:solidFill>
            <a:srgbClr val="EEF2FA"/>
          </a:solidFill>
          <a:ln w="15875">
            <a:solidFill>
              <a:srgbClr val="9AB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26280" y="1709928"/>
            <a:ext cx="313639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 dirty="0">
                <a:solidFill>
                  <a:srgbClr val="1B3A6B"/>
                </a:solidFill>
                <a:latin typeface="Calibri"/>
              </a:rPr>
              <a:t>DATA MART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057400"/>
            <a:ext cx="31363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 dirty="0">
                <a:solidFill>
                  <a:srgbClr val="555555"/>
                </a:solidFill>
                <a:latin typeface="Calibri"/>
              </a:rPr>
              <a:t>Data organized by business unit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237744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84048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REFERENCE</a:t>
            </a:r>
            <a:endParaRPr sz="14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199632" y="237744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8404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TRC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6280" y="2816352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84048"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Calibri"/>
              </a:rPr>
              <a:t>SLV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2816352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8404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PS</a:t>
            </a:r>
          </a:p>
        </p:txBody>
      </p:sp>
      <p:sp>
        <p:nvSpPr>
          <p:cNvPr id="59" name="Streaming chip"/>
          <p:cNvSpPr/>
          <p:nvPr/>
        </p:nvSpPr>
        <p:spPr>
          <a:xfrm>
            <a:off x="4526280" y="3255264"/>
            <a:ext cx="3136392" cy="365760"/>
          </a:xfrm>
          <a:prstGeom prst="roundRect">
            <a:avLst>
              <a:gd name="adj" fmla="val 50000"/>
            </a:avLst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84048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STREAMING TOPICS</a:t>
            </a:r>
            <a:endParaRPr sz="14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714232" y="1508760"/>
            <a:ext cx="2926080" cy="2194560"/>
          </a:xfrm>
          <a:prstGeom prst="roundRect">
            <a:avLst>
              <a:gd name="adj" fmla="val 6000"/>
            </a:avLst>
          </a:prstGeom>
          <a:solidFill>
            <a:srgbClr val="F3EEFA"/>
          </a:solidFill>
          <a:ln w="15875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42832" y="1709928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 dirty="0">
                <a:solidFill>
                  <a:srgbClr val="6B3FA0"/>
                </a:solidFill>
                <a:latin typeface="Calibri"/>
              </a:rPr>
              <a:t>CONSUMERS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42832" y="2148839"/>
            <a:ext cx="2514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B3FA0"/>
                </a:solidFill>
                <a:latin typeface="Calibri"/>
              </a:rPr>
              <a:t>●  </a:t>
            </a:r>
            <a:r>
              <a:rPr sz="1300" b="0" i="0">
                <a:solidFill>
                  <a:srgbClr val="3A3A3A"/>
                </a:solidFill>
                <a:latin typeface="Calibri"/>
              </a:rPr>
              <a:t>Browse the business units they care about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B3FA0"/>
                </a:solidFill>
                <a:latin typeface="Calibri"/>
              </a:rPr>
              <a:t>●  </a:t>
            </a:r>
            <a:r>
              <a:rPr sz="1300" b="0" i="0">
                <a:solidFill>
                  <a:srgbClr val="3A3A3A"/>
                </a:solidFill>
                <a:latin typeface="Calibri"/>
              </a:rPr>
              <a:t>Discover and consume the data products inside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B3FA0"/>
                </a:solidFill>
                <a:latin typeface="Calibri"/>
              </a:rPr>
              <a:t>●  </a:t>
            </a:r>
            <a:r>
              <a:rPr sz="1300" b="0" i="0">
                <a:solidFill>
                  <a:srgbClr val="3A3A3A"/>
                </a:solidFill>
                <a:latin typeface="Calibri"/>
              </a:rPr>
              <a:t>Trust what they get, before they use it</a:t>
            </a:r>
          </a:p>
        </p:txBody>
      </p:sp>
      <p:sp>
        <p:nvSpPr>
          <p:cNvPr id="20" name="Right Arrow 19"/>
          <p:cNvSpPr/>
          <p:nvPr/>
        </p:nvSpPr>
        <p:spPr>
          <a:xfrm flipH="1">
            <a:off x="7909560" y="2496311"/>
            <a:ext cx="768095" cy="310896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522208" y="2496311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850" b="1" dirty="0">
                <a:solidFill>
                  <a:srgbClr val="222222"/>
                </a:solidFill>
                <a:latin typeface="Calibri"/>
              </a:rPr>
              <a:t>C</a:t>
            </a:r>
            <a:endParaRPr sz="850" b="1" dirty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850319" y="2592657"/>
            <a:ext cx="804671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 i="0" dirty="0">
                <a:solidFill>
                  <a:schemeClr val="bg1"/>
                </a:solidFill>
                <a:latin typeface="Calibri"/>
              </a:rPr>
              <a:t>CONSUME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023360"/>
            <a:ext cx="640080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9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4224528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3A6B"/>
                </a:solidFill>
                <a:latin typeface="Calibri"/>
              </a:rPr>
              <a:t>DATA TRANSPARENCY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681728"/>
            <a:ext cx="324612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3A3A3A"/>
                </a:solidFill>
                <a:latin typeface="Calibri"/>
              </a:rPr>
              <a:t>Like the nutrition label on food, every data product tells consumers exactly </a:t>
            </a:r>
            <a:r>
              <a:rPr sz="1300" b="1" i="0">
                <a:solidFill>
                  <a:srgbClr val="3A3A3A"/>
                </a:solidFill>
                <a:latin typeface="Calibri"/>
              </a:rPr>
              <a:t>what they are consuming</a:t>
            </a:r>
            <a:r>
              <a:rPr sz="1300" b="0" i="0">
                <a:solidFill>
                  <a:srgbClr val="3A3A3A"/>
                </a:solidFill>
                <a:latin typeface="Calibri"/>
              </a:rPr>
              <a:t>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A3A3A"/>
                </a:solidFill>
                <a:latin typeface="Calibri"/>
              </a:rPr>
              <a:t>It surfaces all the metadata we collect, in one view.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51960" y="4206240"/>
            <a:ext cx="246888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61688" y="4261104"/>
            <a:ext cx="22494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11111"/>
                </a:solidFill>
                <a:latin typeface="Arial"/>
              </a:rPr>
              <a:t>Nutrition Facts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61688" y="4590288"/>
            <a:ext cx="2249424" cy="5486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361688" y="4712950"/>
            <a:ext cx="2011680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050" b="1" i="0" dirty="0">
                <a:solidFill>
                  <a:srgbClr val="111111"/>
                </a:solidFill>
                <a:latin typeface="Arial"/>
              </a:rPr>
              <a:t>Requirements</a:t>
            </a:r>
            <a:endParaRPr sz="1050" b="1" i="0" dirty="0">
              <a:solidFill>
                <a:srgbClr val="111111"/>
              </a:solidFill>
              <a:latin typeface="Arial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355080" y="4681728"/>
            <a:ext cx="256032" cy="2240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 i="0">
                <a:solidFill>
                  <a:srgbClr val="2E7D32"/>
                </a:solidFill>
                <a:latin typeface="Arial"/>
              </a:rPr>
              <a:t>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61688" y="4901184"/>
            <a:ext cx="2249424" cy="914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361688" y="4936978"/>
            <a:ext cx="2011680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dirty="0">
                <a:solidFill>
                  <a:srgbClr val="111111"/>
                </a:solidFill>
                <a:latin typeface="Arial"/>
              </a:rPr>
              <a:t>Schema / </a:t>
            </a:r>
            <a:r>
              <a:rPr lang="en-US" sz="1050" b="1" i="0" dirty="0">
                <a:solidFill>
                  <a:srgbClr val="111111"/>
                </a:solidFill>
                <a:latin typeface="Arial"/>
              </a:rPr>
              <a:t>D</a:t>
            </a:r>
            <a:r>
              <a:rPr sz="1050" b="1" i="0" dirty="0">
                <a:solidFill>
                  <a:srgbClr val="111111"/>
                </a:solidFill>
                <a:latin typeface="Arial"/>
              </a:rPr>
              <a:t>ata </a:t>
            </a:r>
            <a:r>
              <a:rPr lang="en-US" sz="1050" b="1" dirty="0">
                <a:solidFill>
                  <a:srgbClr val="111111"/>
                </a:solidFill>
                <a:latin typeface="Arial"/>
              </a:rPr>
              <a:t>M</a:t>
            </a:r>
            <a:r>
              <a:rPr sz="1050" b="1" i="0" dirty="0">
                <a:solidFill>
                  <a:srgbClr val="111111"/>
                </a:solidFill>
                <a:latin typeface="Arial"/>
              </a:rPr>
              <a:t>odel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4905756"/>
            <a:ext cx="256032" cy="2240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 i="0">
                <a:solidFill>
                  <a:srgbClr val="2E7D32"/>
                </a:solidFill>
                <a:latin typeface="Arial"/>
              </a:rPr>
              <a:t>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61688" y="5125212"/>
            <a:ext cx="2249424" cy="914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361688" y="5129784"/>
            <a:ext cx="2011680" cy="2240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dirty="0">
                <a:solidFill>
                  <a:srgbClr val="111111"/>
                </a:solidFill>
                <a:latin typeface="Arial"/>
              </a:rPr>
              <a:t>Data contract &amp; SLAs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5129784"/>
            <a:ext cx="256032" cy="2240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 i="0">
                <a:solidFill>
                  <a:srgbClr val="2E7D32"/>
                </a:solidFill>
                <a:latin typeface="Arial"/>
              </a:rPr>
              <a:t>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61688" y="5349240"/>
            <a:ext cx="2249424" cy="914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361688" y="5385034"/>
            <a:ext cx="2011680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050" b="1" i="0" dirty="0">
                <a:solidFill>
                  <a:srgbClr val="111111"/>
                </a:solidFill>
                <a:latin typeface="Arial"/>
              </a:rPr>
              <a:t>System-System Lineage</a:t>
            </a:r>
            <a:endParaRPr sz="1050" b="1" i="0" dirty="0">
              <a:solidFill>
                <a:srgbClr val="111111"/>
              </a:solidFill>
              <a:latin typeface="Arial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355080" y="5353812"/>
            <a:ext cx="256032" cy="2240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 i="0">
                <a:solidFill>
                  <a:srgbClr val="2E7D32"/>
                </a:solidFill>
                <a:latin typeface="Arial"/>
              </a:rPr>
              <a:t>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61688" y="5573268"/>
            <a:ext cx="2249424" cy="914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361688" y="5609062"/>
            <a:ext cx="2011680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1050" b="1" dirty="0">
                <a:solidFill>
                  <a:srgbClr val="111111"/>
                </a:solidFill>
                <a:latin typeface="Arial"/>
              </a:rPr>
              <a:t>Table and Schema Lineage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5577840"/>
            <a:ext cx="256032" cy="2240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 i="0">
                <a:solidFill>
                  <a:srgbClr val="2E7D32"/>
                </a:solidFill>
                <a:latin typeface="Arial"/>
              </a:rPr>
              <a:t>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61688" y="5797296"/>
            <a:ext cx="2249424" cy="914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361688" y="5833090"/>
            <a:ext cx="2011680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1050" b="1" dirty="0">
                <a:solidFill>
                  <a:srgbClr val="111111"/>
                </a:solidFill>
                <a:latin typeface="Arial"/>
              </a:rPr>
              <a:t>Quality &amp; validation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5080" y="5801868"/>
            <a:ext cx="256032" cy="2240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 i="0">
                <a:solidFill>
                  <a:srgbClr val="2E7D32"/>
                </a:solidFill>
                <a:latin typeface="Arial"/>
              </a:rPr>
              <a:t>✓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61688" y="6021324"/>
            <a:ext cx="2249424" cy="914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361688" y="6057118"/>
            <a:ext cx="2011680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1050" b="1" dirty="0">
                <a:solidFill>
                  <a:srgbClr val="111111"/>
                </a:solidFill>
                <a:latin typeface="Arial"/>
              </a:rPr>
              <a:t>ETL Comments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55080" y="6025896"/>
            <a:ext cx="256032" cy="2240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 i="0">
                <a:solidFill>
                  <a:srgbClr val="2E7D32"/>
                </a:solidFill>
                <a:latin typeface="Arial"/>
              </a:rPr>
              <a:t>✓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251192" y="4023360"/>
            <a:ext cx="438912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9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479792" y="4224528"/>
            <a:ext cx="39319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 dirty="0">
                <a:solidFill>
                  <a:srgbClr val="1B3A6B"/>
                </a:solidFill>
                <a:latin typeface="Calibri"/>
              </a:rPr>
              <a:t>QUICK LOOK INTO THE </a:t>
            </a:r>
            <a:r>
              <a:rPr lang="en-US" sz="1800" b="1" i="0" dirty="0">
                <a:solidFill>
                  <a:srgbClr val="1B3A6B"/>
                </a:solidFill>
                <a:latin typeface="Calibri"/>
              </a:rPr>
              <a:t>PRODUCT</a:t>
            </a:r>
            <a:endParaRPr sz="1800" b="1" i="0" dirty="0">
              <a:solidFill>
                <a:srgbClr val="1B3A6B"/>
              </a:solidFill>
              <a:latin typeface="Calibri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479792" y="4626864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A3A3A"/>
                </a:solidFill>
                <a:latin typeface="Calibri"/>
              </a:rPr>
              <a:t>Consumers with access can query and preview a product right from the mart.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479792" y="5166360"/>
            <a:ext cx="3931920" cy="868680"/>
          </a:xfrm>
          <a:prstGeom prst="roundRect">
            <a:avLst>
              <a:gd name="adj" fmla="val 8000"/>
            </a:avLst>
          </a:prstGeom>
          <a:solidFill>
            <a:srgbClr val="1E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662671" y="5239512"/>
            <a:ext cx="35661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9C7BC9"/>
                </a:solidFill>
                <a:latin typeface="Courier New"/>
              </a:rPr>
              <a:t>SELECT 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*</a:t>
            </a:r>
          </a:p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9C7BC9"/>
                </a:solidFill>
                <a:latin typeface="Courier New"/>
              </a:rPr>
              <a:t>FROM   </a:t>
            </a:r>
            <a:r>
              <a:rPr sz="1200" b="0" i="0">
                <a:solidFill>
                  <a:srgbClr val="E8A33D"/>
                </a:solidFill>
                <a:latin typeface="Courier New"/>
              </a:rPr>
              <a:t>trc.&lt;data_product&gt;</a:t>
            </a:r>
          </a:p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9C7BC9"/>
                </a:solidFill>
                <a:latin typeface="Courier New"/>
              </a:rPr>
              <a:t>LIMIT  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10;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58246" y="6153800"/>
            <a:ext cx="39319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 dirty="0">
                <a:solidFill>
                  <a:srgbClr val="555555"/>
                </a:solidFill>
                <a:latin typeface="Calibri"/>
              </a:rPr>
              <a:t>Governed by fine-grained access control (row / column policies)</a:t>
            </a: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5E5BA477-2479-36E4-4F60-E1385C6AD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1539" y="6146998"/>
            <a:ext cx="111842" cy="182880"/>
          </a:xfrm>
          <a:prstGeom prst="rect">
            <a:avLst/>
          </a:prstGeom>
        </p:spPr>
      </p:pic>
      <p:pic>
        <p:nvPicPr>
          <p:cNvPr id="60" name="Graphic 59">
            <a:extLst>
              <a:ext uri="{FF2B5EF4-FFF2-40B4-BE49-F238E27FC236}">
                <a16:creationId xmlns:a16="http://schemas.microsoft.com/office/drawing/2014/main" id="{4FC7F4F3-5F7E-FD34-D42E-47391FE36C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8346" y="3323322"/>
            <a:ext cx="229643" cy="229643"/>
          </a:xfrm>
          <a:prstGeom prst="rect">
            <a:avLst/>
          </a:prstGeom>
        </p:spPr>
      </p:pic>
      <p:pic>
        <p:nvPicPr>
          <p:cNvPr id="62" name="Graphic 61">
            <a:extLst>
              <a:ext uri="{FF2B5EF4-FFF2-40B4-BE49-F238E27FC236}">
                <a16:creationId xmlns:a16="http://schemas.microsoft.com/office/drawing/2014/main" id="{41ADAD63-0A31-4888-D242-326FAC7C63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16218" y="2868930"/>
            <a:ext cx="260603" cy="260603"/>
          </a:xfrm>
          <a:prstGeom prst="rect">
            <a:avLst/>
          </a:prstGeom>
        </p:spPr>
      </p:pic>
      <p:pic>
        <p:nvPicPr>
          <p:cNvPr id="64" name="Graphic 63">
            <a:extLst>
              <a:ext uri="{FF2B5EF4-FFF2-40B4-BE49-F238E27FC236}">
                <a16:creationId xmlns:a16="http://schemas.microsoft.com/office/drawing/2014/main" id="{0A4FB18B-2B3C-87D5-4365-A8D489C779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63527" y="2889591"/>
            <a:ext cx="219280" cy="219280"/>
          </a:xfrm>
          <a:prstGeom prst="rect">
            <a:avLst/>
          </a:prstGeom>
        </p:spPr>
      </p:pic>
      <p:pic>
        <p:nvPicPr>
          <p:cNvPr id="66" name="Graphic 65">
            <a:extLst>
              <a:ext uri="{FF2B5EF4-FFF2-40B4-BE49-F238E27FC236}">
                <a16:creationId xmlns:a16="http://schemas.microsoft.com/office/drawing/2014/main" id="{F7C591F0-DCBC-0F90-C1C7-EECFBFF936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6323076" y="2436876"/>
            <a:ext cx="246888" cy="246888"/>
          </a:xfrm>
          <a:prstGeom prst="rect">
            <a:avLst/>
          </a:prstGeom>
        </p:spPr>
      </p:pic>
      <p:pic>
        <p:nvPicPr>
          <p:cNvPr id="74" name="Graphic 73">
            <a:extLst>
              <a:ext uri="{FF2B5EF4-FFF2-40B4-BE49-F238E27FC236}">
                <a16:creationId xmlns:a16="http://schemas.microsoft.com/office/drawing/2014/main" id="{65C9674D-054E-A3C3-04FF-4BEA7D3387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76648" y="2464282"/>
            <a:ext cx="193040" cy="193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8CB309-068A-7CA5-BE67-DC16DB69D3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500"/>
          <a:stretch>
            <a:fillRect/>
          </a:stretch>
        </p:blipFill>
        <p:spPr>
          <a:xfrm>
            <a:off x="548639" y="3127248"/>
            <a:ext cx="5852159" cy="30449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3400" b="1" i="0" dirty="0">
                <a:solidFill>
                  <a:srgbClr val="1B3A6B"/>
                </a:solidFill>
                <a:latin typeface="Calibri"/>
              </a:rPr>
              <a:t>A SHARED PLANE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896112"/>
            <a:ext cx="99943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0" i="0">
                <a:solidFill>
                  <a:srgbClr val="555555"/>
                </a:solidFill>
                <a:latin typeface="Calibri"/>
              </a:rPr>
              <a:t>Some consumers are also producers for other systems. They read from the mart and write lineage back to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43009"/>
            <a:ext cx="4656406" cy="169277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1" dirty="0">
                <a:solidFill>
                  <a:srgbClr val="555555"/>
                </a:solidFill>
                <a:latin typeface="Calibri"/>
              </a:rPr>
              <a:t>Column lineage emitted by a, </a:t>
            </a:r>
            <a:r>
              <a:rPr lang="en-US" sz="1100" b="0" i="1" dirty="0">
                <a:solidFill>
                  <a:srgbClr val="555555"/>
                </a:solidFill>
                <a:latin typeface="Calibri"/>
              </a:rPr>
              <a:t>viz spun up with no additional tech</a:t>
            </a:r>
            <a:endParaRPr sz="1100" b="0" i="1" dirty="0">
              <a:solidFill>
                <a:srgbClr val="555555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720840" y="1463040"/>
            <a:ext cx="491947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9AB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49440" y="1572768"/>
            <a:ext cx="400507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en-US" sz="1600" b="1" i="0" dirty="0">
                <a:solidFill>
                  <a:srgbClr val="1B3A6B"/>
                </a:solidFill>
                <a:latin typeface="Calibri"/>
              </a:rPr>
              <a:t>POLARIS </a:t>
            </a:r>
            <a:r>
              <a:rPr sz="1600" b="1" i="0" dirty="0">
                <a:solidFill>
                  <a:srgbClr val="1B3A6B"/>
                </a:solidFill>
                <a:latin typeface="Calibri"/>
              </a:rPr>
              <a:t>METASTORE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1901952"/>
            <a:ext cx="40050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 dirty="0">
                <a:solidFill>
                  <a:srgbClr val="3A3A3A"/>
                </a:solidFill>
                <a:latin typeface="Calibri"/>
              </a:rPr>
              <a:t>Schemas, tables and data models the consumer reads from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3017520"/>
            <a:ext cx="3200400" cy="1325880"/>
          </a:xfrm>
          <a:prstGeom prst="roundRect">
            <a:avLst>
              <a:gd name="adj" fmla="val 8000"/>
            </a:avLst>
          </a:prstGeom>
          <a:solidFill>
            <a:srgbClr val="F3EEFA"/>
          </a:solidFill>
          <a:ln w="15875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49440" y="3145536"/>
            <a:ext cx="446227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 dirty="0">
                <a:solidFill>
                  <a:srgbClr val="6B3FA0"/>
                </a:solidFill>
                <a:latin typeface="Calibri"/>
              </a:rPr>
              <a:t>SHARED CONSUMER</a:t>
            </a:r>
            <a:endParaRPr sz="1100" b="0" i="1" dirty="0">
              <a:solidFill>
                <a:srgbClr val="555555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949440" y="3493008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3A3A3A"/>
                </a:solidFill>
                <a:latin typeface="Calibri"/>
              </a:rPr>
              <a:t>Consumes data products from the mart, then produces data for its own downstream systems.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61086" y="3314700"/>
            <a:ext cx="118872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E88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561086" y="3511183"/>
            <a:ext cx="118872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sz="1100" b="1" i="0" dirty="0">
                <a:solidFill>
                  <a:srgbClr val="D9641E"/>
                </a:solidFill>
                <a:latin typeface="Calibri"/>
              </a:rPr>
              <a:t>DOWNSTREAM</a:t>
            </a:r>
          </a:p>
          <a:p>
            <a:pPr algn="ctr">
              <a:spcAft>
                <a:spcPts val="0"/>
              </a:spcAft>
            </a:pPr>
            <a:r>
              <a:rPr lang="en-US" sz="1100" b="1" i="0" dirty="0">
                <a:solidFill>
                  <a:srgbClr val="D9641E"/>
                </a:solidFill>
                <a:latin typeface="Calibri"/>
              </a:rPr>
              <a:t>CONSUMER</a:t>
            </a:r>
            <a:endParaRPr sz="1100" b="1" i="0" dirty="0">
              <a:solidFill>
                <a:srgbClr val="D9641E"/>
              </a:solidFill>
              <a:latin typeface="Calibr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720840" y="4983480"/>
            <a:ext cx="4919472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9AB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49440" y="5111496"/>
            <a:ext cx="30906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1B3A6B"/>
                </a:solidFill>
                <a:latin typeface="Calibri"/>
              </a:rPr>
              <a:t>OPENLINEAGE → MARQUEZ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5458968"/>
            <a:ext cx="310896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en-US" sz="1200" b="0" i="0" dirty="0">
                <a:solidFill>
                  <a:srgbClr val="3A3A3A"/>
                </a:solidFill>
                <a:latin typeface="Calibri"/>
              </a:rPr>
              <a:t>ETL Job </a:t>
            </a:r>
            <a:r>
              <a:rPr sz="1200" b="0" i="0" dirty="0">
                <a:solidFill>
                  <a:srgbClr val="3A3A3A"/>
                </a:solidFill>
                <a:latin typeface="Calibri"/>
              </a:rPr>
              <a:t>Lineage events from the shared consumer extend the graph past the mart into the systems it feeds.</a:t>
            </a:r>
          </a:p>
        </p:txBody>
      </p:sp>
      <p:sp>
        <p:nvSpPr>
          <p:cNvPr id="22" name="Down Arrow 21"/>
          <p:cNvSpPr/>
          <p:nvPr/>
        </p:nvSpPr>
        <p:spPr>
          <a:xfrm rot="10800000">
            <a:off x="7388352" y="2386584"/>
            <a:ext cx="310896" cy="640079"/>
          </a:xfrm>
          <a:prstGeom prst="downArrow">
            <a:avLst>
              <a:gd name="adj1" fmla="val 50000"/>
              <a:gd name="adj2" fmla="val 55000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388352" y="2840576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222222"/>
                </a:solidFill>
                <a:latin typeface="Calibri"/>
              </a:rPr>
              <a:t>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2587752"/>
            <a:ext cx="210312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 dirty="0">
                <a:solidFill>
                  <a:srgbClr val="6B3FA0"/>
                </a:solidFill>
                <a:latin typeface="Calibri"/>
              </a:rPr>
              <a:t>READ</a:t>
            </a:r>
            <a:r>
              <a:rPr lang="en-US" sz="1000" b="1" i="0" dirty="0">
                <a:solidFill>
                  <a:srgbClr val="6B3FA0"/>
                </a:solidFill>
                <a:latin typeface="Calibri"/>
              </a:rPr>
              <a:t>S</a:t>
            </a:r>
            <a:r>
              <a:rPr sz="1000" b="1" i="0" dirty="0">
                <a:solidFill>
                  <a:srgbClr val="6B3FA0"/>
                </a:solidFill>
                <a:latin typeface="Calibri"/>
              </a:rPr>
              <a:t> </a:t>
            </a:r>
            <a:r>
              <a:rPr lang="en-US" sz="1000" b="1" i="0" dirty="0">
                <a:solidFill>
                  <a:srgbClr val="6B3FA0"/>
                </a:solidFill>
                <a:latin typeface="Calibri"/>
              </a:rPr>
              <a:t>Tables</a:t>
            </a:r>
            <a:endParaRPr sz="1000" b="1" i="0" dirty="0">
              <a:solidFill>
                <a:srgbClr val="6B3FA0"/>
              </a:solidFill>
              <a:latin typeface="Calibri"/>
            </a:endParaRPr>
          </a:p>
        </p:txBody>
      </p:sp>
      <p:sp>
        <p:nvSpPr>
          <p:cNvPr id="25" name="Down Arrow 24"/>
          <p:cNvSpPr/>
          <p:nvPr/>
        </p:nvSpPr>
        <p:spPr>
          <a:xfrm>
            <a:off x="7388352" y="4343400"/>
            <a:ext cx="310896" cy="640080"/>
          </a:xfrm>
          <a:prstGeom prst="downArrow">
            <a:avLst>
              <a:gd name="adj1" fmla="val 50000"/>
              <a:gd name="adj2" fmla="val 55000"/>
            </a:avLst>
          </a:prstGeom>
          <a:solidFill>
            <a:srgbClr val="E88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388352" y="418795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88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222222"/>
                </a:solidFill>
                <a:latin typeface="Calibri"/>
              </a:rPr>
              <a:t>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4553712"/>
            <a:ext cx="210312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 dirty="0">
                <a:solidFill>
                  <a:srgbClr val="E8891E"/>
                </a:solidFill>
                <a:latin typeface="Calibri"/>
              </a:rPr>
              <a:t>EMIT </a:t>
            </a:r>
            <a:r>
              <a:rPr lang="en-US" sz="1000" b="1" i="0" dirty="0">
                <a:solidFill>
                  <a:srgbClr val="E8891E"/>
                </a:solidFill>
                <a:latin typeface="Calibri"/>
              </a:rPr>
              <a:t>Lineage</a:t>
            </a:r>
            <a:r>
              <a:rPr sz="1000" b="1" i="0" dirty="0">
                <a:solidFill>
                  <a:srgbClr val="E8891E"/>
                </a:solidFill>
                <a:latin typeface="Calibri"/>
              </a:rPr>
              <a:t> </a:t>
            </a:r>
            <a:r>
              <a:rPr lang="en-US" sz="1000" b="1" i="0" dirty="0">
                <a:solidFill>
                  <a:srgbClr val="E8891E"/>
                </a:solidFill>
                <a:latin typeface="Calibri"/>
              </a:rPr>
              <a:t>Events</a:t>
            </a:r>
            <a:endParaRPr sz="1000" b="1" i="0" dirty="0">
              <a:solidFill>
                <a:srgbClr val="E8891E"/>
              </a:solidFill>
              <a:latin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A1356C-6AE9-8BC6-04E3-675121744F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392" y="1600200"/>
            <a:ext cx="274320" cy="2743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851DE02-133A-CC0A-31B2-351248E495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0192" y="5239512"/>
            <a:ext cx="960120" cy="9601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65C513E-EBF1-F637-4F06-35BC68D3F1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25912" y="5852160"/>
            <a:ext cx="868680" cy="219456"/>
          </a:xfrm>
          <a:prstGeom prst="rect">
            <a:avLst/>
          </a:prstGeom>
        </p:spPr>
      </p:pic>
      <p:sp>
        <p:nvSpPr>
          <p:cNvPr id="28" name="Down Arrow 27">
            <a:extLst>
              <a:ext uri="{FF2B5EF4-FFF2-40B4-BE49-F238E27FC236}">
                <a16:creationId xmlns:a16="http://schemas.microsoft.com/office/drawing/2014/main" id="{0FB03ADF-E990-521E-2F8A-D10AFFD42D93}"/>
              </a:ext>
            </a:extLst>
          </p:cNvPr>
          <p:cNvSpPr/>
          <p:nvPr/>
        </p:nvSpPr>
        <p:spPr>
          <a:xfrm rot="16200000">
            <a:off x="10085832" y="3370371"/>
            <a:ext cx="310896" cy="640080"/>
          </a:xfrm>
          <a:prstGeom prst="downArrow">
            <a:avLst>
              <a:gd name="adj1" fmla="val 50000"/>
              <a:gd name="adj2" fmla="val 55000"/>
            </a:avLst>
          </a:prstGeom>
          <a:solidFill>
            <a:srgbClr val="E88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2039EBE-CAEB-2048-72C6-C11E73B457C9}"/>
              </a:ext>
            </a:extLst>
          </p:cNvPr>
          <p:cNvSpPr/>
          <p:nvPr/>
        </p:nvSpPr>
        <p:spPr>
          <a:xfrm>
            <a:off x="9788383" y="3548539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88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900" b="1" dirty="0">
                <a:solidFill>
                  <a:srgbClr val="222222"/>
                </a:solidFill>
                <a:latin typeface="Calibri"/>
              </a:rPr>
              <a:t>P</a:t>
            </a:r>
            <a:endParaRPr sz="900" b="1" dirty="0">
              <a:solidFill>
                <a:srgbClr val="222222"/>
              </a:solidFill>
              <a:latin typeface="Calibri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FAD8BD0-0145-EFA9-EC26-5D5154F483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729" y="1592641"/>
            <a:ext cx="156076" cy="15607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48639" y="1332681"/>
            <a:ext cx="5852160" cy="3200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600" b="1" dirty="0">
                <a:solidFill>
                  <a:srgbClr val="1B3A6B"/>
                </a:solidFill>
                <a:latin typeface="Calibri"/>
              </a:rPr>
              <a:t>AS EASY AS CONFIGURING YOUR SPARK SESSION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1828800"/>
            <a:ext cx="5852160" cy="1143000"/>
          </a:xfrm>
          <a:prstGeom prst="roundRect">
            <a:avLst>
              <a:gd name="adj" fmla="val 6000"/>
            </a:avLst>
          </a:prstGeom>
          <a:solidFill>
            <a:srgbClr val="1E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7240" y="1828800"/>
            <a:ext cx="5486400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1" dirty="0">
                <a:solidFill>
                  <a:srgbClr val="9C7BC9"/>
                </a:solidFill>
                <a:latin typeface="Courier New"/>
              </a:rPr>
              <a:t># R  read tables from the metastore</a:t>
            </a:r>
          </a:p>
          <a:p>
            <a:pPr algn="l">
              <a:spcAft>
                <a:spcPts val="0"/>
              </a:spcAft>
            </a:pPr>
            <a:r>
              <a:rPr sz="900" b="0" dirty="0">
                <a:solidFill>
                  <a:srgbClr val="FFFFFF"/>
                </a:solidFill>
                <a:latin typeface="Courier New"/>
              </a:rPr>
              <a:t>spark.sql.catalog.mart.type</a:t>
            </a:r>
            <a:r>
              <a:rPr sz="900" b="0" dirty="0">
                <a:solidFill>
                  <a:srgbClr val="8A93A6"/>
                </a:solidFill>
                <a:latin typeface="Courier New"/>
              </a:rPr>
              <a:t> = </a:t>
            </a:r>
            <a:r>
              <a:rPr sz="900" b="0" dirty="0">
                <a:solidFill>
                  <a:srgbClr val="E8A33D"/>
                </a:solidFill>
                <a:latin typeface="Courier New"/>
              </a:rPr>
              <a:t>rest</a:t>
            </a:r>
          </a:p>
          <a:p>
            <a:pPr algn="l">
              <a:spcAft>
                <a:spcPts val="0"/>
              </a:spcAft>
            </a:pPr>
            <a:r>
              <a:rPr sz="900" b="0" dirty="0">
                <a:solidFill>
                  <a:srgbClr val="FFFFFF"/>
                </a:solidFill>
                <a:latin typeface="Courier New"/>
              </a:rPr>
              <a:t>spark.sql.catalog.mart.uri</a:t>
            </a:r>
            <a:r>
              <a:rPr sz="900" b="0" dirty="0">
                <a:solidFill>
                  <a:srgbClr val="8A93A6"/>
                </a:solidFill>
                <a:latin typeface="Courier New"/>
              </a:rPr>
              <a:t> = </a:t>
            </a:r>
            <a:r>
              <a:rPr sz="900" b="0" dirty="0">
                <a:solidFill>
                  <a:srgbClr val="E8A33D"/>
                </a:solidFill>
                <a:latin typeface="Courier New"/>
              </a:rPr>
              <a:t>&lt;metastore-url&gt;</a:t>
            </a:r>
            <a:endParaRPr lang="en-US" sz="900" b="0" dirty="0">
              <a:solidFill>
                <a:srgbClr val="E8A33D"/>
              </a:solidFill>
              <a:latin typeface="Courier New"/>
            </a:endParaRPr>
          </a:p>
          <a:p>
            <a:pPr algn="l">
              <a:spcAft>
                <a:spcPts val="0"/>
              </a:spcAft>
            </a:pPr>
            <a:endParaRPr sz="900" b="0" dirty="0">
              <a:solidFill>
                <a:srgbClr val="E8A33D"/>
              </a:solidFill>
              <a:latin typeface="Courier New"/>
            </a:endParaRPr>
          </a:p>
          <a:p>
            <a:pPr algn="l">
              <a:spcAft>
                <a:spcPts val="0"/>
              </a:spcAft>
            </a:pPr>
            <a:r>
              <a:rPr sz="900" b="1" dirty="0">
                <a:solidFill>
                  <a:srgbClr val="E8891E"/>
                </a:solidFill>
                <a:latin typeface="Courier New"/>
              </a:rPr>
              <a:t># E  emit lineage events to Marquez</a:t>
            </a:r>
          </a:p>
          <a:p>
            <a:pPr algn="l">
              <a:spcAft>
                <a:spcPts val="0"/>
              </a:spcAft>
            </a:pPr>
            <a:r>
              <a:rPr sz="900" b="0" dirty="0">
                <a:solidFill>
                  <a:srgbClr val="FFFFFF"/>
                </a:solidFill>
                <a:latin typeface="Courier New"/>
              </a:rPr>
              <a:t>spark.extraListeners</a:t>
            </a:r>
            <a:r>
              <a:rPr sz="900" b="0" dirty="0">
                <a:solidFill>
                  <a:srgbClr val="8A93A6"/>
                </a:solidFill>
                <a:latin typeface="Courier New"/>
              </a:rPr>
              <a:t> = </a:t>
            </a:r>
            <a:r>
              <a:rPr sz="900" b="0" dirty="0">
                <a:solidFill>
                  <a:srgbClr val="E8A33D"/>
                </a:solidFill>
                <a:latin typeface="Courier New"/>
              </a:rPr>
              <a:t>io.openlineage.spark.agent.OpenLineageSparkListener</a:t>
            </a:r>
          </a:p>
          <a:p>
            <a:pPr algn="l">
              <a:spcAft>
                <a:spcPts val="0"/>
              </a:spcAft>
            </a:pPr>
            <a:r>
              <a:rPr sz="900" b="0" dirty="0">
                <a:solidFill>
                  <a:srgbClr val="FFFFFF"/>
                </a:solidFill>
                <a:latin typeface="Courier New"/>
              </a:rPr>
              <a:t>spark.openlineage.transport.url</a:t>
            </a:r>
            <a:r>
              <a:rPr sz="900" b="0" dirty="0">
                <a:solidFill>
                  <a:srgbClr val="8A93A6"/>
                </a:solidFill>
                <a:latin typeface="Courier New"/>
              </a:rPr>
              <a:t> = </a:t>
            </a:r>
            <a:r>
              <a:rPr sz="900" b="0" dirty="0">
                <a:solidFill>
                  <a:srgbClr val="E8A33D"/>
                </a:solidFill>
                <a:latin typeface="Courier New"/>
              </a:rPr>
              <a:t>&lt;marquez-url&gt;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D7FA752-E3EB-6FFE-D918-09D10C1BF4BF}"/>
              </a:ext>
            </a:extLst>
          </p:cNvPr>
          <p:cNvSpPr txBox="1"/>
          <p:nvPr/>
        </p:nvSpPr>
        <p:spPr>
          <a:xfrm>
            <a:off x="835046" y="1574296"/>
            <a:ext cx="2564891" cy="169277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spcAft>
                <a:spcPts val="300"/>
              </a:spcAft>
            </a:pPr>
            <a:r>
              <a:rPr lang="en-US" sz="1100" b="0" i="1" dirty="0">
                <a:solidFill>
                  <a:srgbClr val="555555"/>
                </a:solidFill>
                <a:latin typeface="Calibri"/>
              </a:rPr>
              <a:t>Both tech easily integrated with snowflake</a:t>
            </a:r>
            <a:endParaRPr sz="1100" b="0" i="1" dirty="0">
              <a:solidFill>
                <a:srgbClr val="555555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62135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19">
            <a:extLst>
              <a:ext uri="{FF2B5EF4-FFF2-40B4-BE49-F238E27FC236}">
                <a16:creationId xmlns:a16="http://schemas.microsoft.com/office/drawing/2014/main" id="{EF0F4C48-FB09-D9F0-56AB-104FEABF7577}"/>
              </a:ext>
            </a:extLst>
          </p:cNvPr>
          <p:cNvSpPr/>
          <p:nvPr/>
        </p:nvSpPr>
        <p:spPr>
          <a:xfrm>
            <a:off x="583811" y="4817998"/>
            <a:ext cx="1385888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6FA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2229729" y="243456"/>
            <a:ext cx="7040880" cy="5623560"/>
          </a:xfrm>
          <a:prstGeom prst="roundRect">
            <a:avLst>
              <a:gd name="adj" fmla="val 1301"/>
            </a:avLst>
          </a:prstGeom>
          <a:solidFill>
            <a:srgbClr val="EDF2FA"/>
          </a:solidFill>
          <a:ln w="15875">
            <a:solidFill>
              <a:srgbClr val="9AB7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3875649" y="250288"/>
            <a:ext cx="39319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MART PLATFORM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412609" y="574900"/>
            <a:ext cx="6355080" cy="1097280"/>
          </a:xfrm>
          <a:prstGeom prst="rect">
            <a:avLst/>
          </a:prstGeom>
          <a:solidFill>
            <a:srgbClr val="FDF9F4"/>
          </a:solidFill>
          <a:ln w="12700">
            <a:solidFill>
              <a:srgbClr val="E8A15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2412609" y="611476"/>
            <a:ext cx="6355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96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REGISTRIES (DISCOVERY &amp; GOVERNANCE)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49769" y="867508"/>
            <a:ext cx="144475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0C9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2732738" y="903512"/>
            <a:ext cx="1134529" cy="19049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3A3A3A"/>
                </a:solidFill>
                <a:ea typeface="Calibri" pitchFamily="34" charset="-122"/>
                <a:cs typeface="Calibri" pitchFamily="34" charset="-120"/>
              </a:rPr>
              <a:t>Tooling</a:t>
            </a:r>
            <a:r>
              <a:rPr lang="en-US" sz="850" b="1" dirty="0"/>
              <a:t> &amp; Rules </a:t>
            </a:r>
            <a:r>
              <a:rPr lang="en-US" sz="8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104249" y="867508"/>
            <a:ext cx="144475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0C9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496135" y="885796"/>
            <a:ext cx="819477" cy="1948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r>
              <a:rPr lang="en-US" sz="850" dirty="0"/>
              <a:t> </a:t>
            </a:r>
            <a:r>
              <a:rPr lang="en-US" sz="8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58729" y="867508"/>
            <a:ext cx="144475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0C9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992485" y="901036"/>
            <a:ext cx="98755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r>
              <a:rPr lang="en-US" sz="850" dirty="0"/>
              <a:t> </a:t>
            </a:r>
            <a:r>
              <a:rPr lang="en-US" sz="8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213209" y="867508"/>
            <a:ext cx="144475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0C9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7460859" y="866916"/>
            <a:ext cx="1175439" cy="238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Contract</a:t>
            </a:r>
            <a:r>
              <a:rPr lang="en-US" sz="850" dirty="0"/>
              <a:t> </a:t>
            </a:r>
            <a:r>
              <a:rPr lang="en-US" sz="8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412609" y="1919068"/>
            <a:ext cx="16459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875">
            <a:solidFill>
              <a:srgbClr val="6FA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2467473" y="1983076"/>
            <a:ext cx="1536192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CONTROLLED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APIs 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287129" y="1873348"/>
            <a:ext cx="18288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5875">
            <a:solidFill>
              <a:srgbClr val="9AB7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332849" y="1946500"/>
            <a:ext cx="17373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METASTORE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81689" y="1873348"/>
            <a:ext cx="1325880" cy="14630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5875">
            <a:solidFill>
              <a:srgbClr val="9C7B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550268" y="1847509"/>
            <a:ext cx="12344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GRAINED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287129" y="3564988"/>
            <a:ext cx="3520440" cy="1234440"/>
          </a:xfrm>
          <a:prstGeom prst="roundRect">
            <a:avLst>
              <a:gd name="adj" fmla="val 4444"/>
            </a:avLst>
          </a:prstGeom>
          <a:solidFill>
            <a:srgbClr val="F7FAFD"/>
          </a:solidFill>
          <a:ln w="12700">
            <a:solidFill>
              <a:srgbClr val="7A9CC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4287129" y="3610708"/>
            <a:ext cx="35204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LAYER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424289" y="3885028"/>
            <a:ext cx="100584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C9D8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4401430" y="3912460"/>
            <a:ext cx="10058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Retrieval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567289" y="3885028"/>
            <a:ext cx="100584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C9D8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5567289" y="3939892"/>
            <a:ext cx="10058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710289" y="3885028"/>
            <a:ext cx="100584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C9D8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6710289" y="3939892"/>
            <a:ext cx="10058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8081888" y="1877919"/>
            <a:ext cx="1097280" cy="3154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6FA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155040" y="1964788"/>
            <a:ext cx="950976" cy="2976371"/>
          </a:xfrm>
          <a:prstGeom prst="roundRect">
            <a:avLst>
              <a:gd name="adj" fmla="val 4808"/>
            </a:avLst>
          </a:prstGeom>
          <a:solidFill>
            <a:srgbClr val="F5F1FB"/>
          </a:solidFill>
          <a:ln w="12700">
            <a:solidFill>
              <a:srgbClr val="9C7B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8203809" y="2335120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8233385" y="3310095"/>
            <a:ext cx="731520" cy="0"/>
          </a:xfrm>
          <a:prstGeom prst="line">
            <a:avLst/>
          </a:prstGeom>
          <a:noFill/>
          <a:ln w="9525">
            <a:solidFill>
              <a:srgbClr val="9C7B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2275449" y="6024069"/>
            <a:ext cx="6995160" cy="640080"/>
          </a:xfrm>
          <a:prstGeom prst="roundRect">
            <a:avLst>
              <a:gd name="adj" fmla="val 8571"/>
            </a:avLst>
          </a:prstGeom>
          <a:solidFill>
            <a:srgbClr val="F2F6FC"/>
          </a:solidFill>
          <a:ln w="15875">
            <a:solidFill>
              <a:srgbClr val="9AB7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1429629" y="6076005"/>
            <a:ext cx="2514600" cy="23894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903849" y="1050388"/>
            <a:ext cx="1051560" cy="3291840"/>
          </a:xfrm>
          <a:prstGeom prst="roundRect">
            <a:avLst>
              <a:gd name="adj" fmla="val 5217"/>
            </a:avLst>
          </a:prstGeom>
          <a:solidFill>
            <a:srgbClr val="FDF3EA"/>
          </a:solidFill>
          <a:ln w="12700">
            <a:solidFill>
              <a:srgbClr val="E8A1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 txBox="1"/>
          <p:nvPr/>
        </p:nvSpPr>
        <p:spPr>
          <a:xfrm>
            <a:off x="931281" y="1141828"/>
            <a:ext cx="996696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96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DATA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D96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850" dirty="0"/>
          </a:p>
        </p:txBody>
      </p:sp>
      <p:sp>
        <p:nvSpPr>
          <p:cNvPr id="45" name="Text 43"/>
          <p:cNvSpPr txBox="1"/>
          <p:nvPr/>
        </p:nvSpPr>
        <p:spPr>
          <a:xfrm>
            <a:off x="950192" y="3953608"/>
            <a:ext cx="9601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/ Streaming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750" dirty="0"/>
          </a:p>
        </p:txBody>
      </p:sp>
      <p:sp>
        <p:nvSpPr>
          <p:cNvPr id="46" name="Text 44"/>
          <p:cNvSpPr txBox="1"/>
          <p:nvPr/>
        </p:nvSpPr>
        <p:spPr>
          <a:xfrm>
            <a:off x="648580" y="2470758"/>
            <a:ext cx="1601724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</a:t>
            </a:r>
            <a:r>
              <a:rPr lang="en-US" sz="750" dirty="0"/>
              <a:t> </a:t>
            </a:r>
            <a:r>
              <a:rPr lang="en-US" sz="7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</a:t>
            </a:r>
            <a:endParaRPr lang="en-US" sz="750" dirty="0"/>
          </a:p>
        </p:txBody>
      </p:sp>
      <p:sp>
        <p:nvSpPr>
          <p:cNvPr id="47" name="Text 45"/>
          <p:cNvSpPr txBox="1"/>
          <p:nvPr/>
        </p:nvSpPr>
        <p:spPr>
          <a:xfrm>
            <a:off x="933257" y="3244948"/>
            <a:ext cx="9601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Metadata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9910689" y="5439508"/>
            <a:ext cx="173736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 txBox="1"/>
          <p:nvPr/>
        </p:nvSpPr>
        <p:spPr>
          <a:xfrm>
            <a:off x="10020417" y="5512660"/>
            <a:ext cx="9144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020417" y="5841844"/>
            <a:ext cx="274320" cy="0"/>
          </a:xfrm>
          <a:prstGeom prst="line">
            <a:avLst/>
          </a:prstGeom>
          <a:noFill/>
          <a:ln w="19050">
            <a:solidFill>
              <a:srgbClr val="222222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 txBox="1"/>
          <p:nvPr/>
        </p:nvSpPr>
        <p:spPr>
          <a:xfrm>
            <a:off x="10367889" y="5750404"/>
            <a:ext cx="12344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10020417" y="6043012"/>
            <a:ext cx="274320" cy="0"/>
          </a:xfrm>
          <a:prstGeom prst="line">
            <a:avLst/>
          </a:prstGeom>
          <a:noFill/>
          <a:ln w="12700">
            <a:solidFill>
              <a:srgbClr val="E8891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 txBox="1"/>
          <p:nvPr/>
        </p:nvSpPr>
        <p:spPr>
          <a:xfrm>
            <a:off x="10367889" y="5951572"/>
            <a:ext cx="126187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/ Control Flow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10020417" y="6244180"/>
            <a:ext cx="274320" cy="0"/>
          </a:xfrm>
          <a:prstGeom prst="line">
            <a:avLst/>
          </a:prstGeom>
          <a:noFill/>
          <a:ln w="15875">
            <a:solidFill>
              <a:srgbClr val="6B3FA0"/>
            </a:solidFill>
            <a:prstDash val="dash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 txBox="1"/>
          <p:nvPr/>
        </p:nvSpPr>
        <p:spPr>
          <a:xfrm>
            <a:off x="10367889" y="6152740"/>
            <a:ext cx="126187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1955409" y="4067908"/>
            <a:ext cx="457200" cy="0"/>
          </a:xfrm>
          <a:prstGeom prst="line">
            <a:avLst/>
          </a:prstGeom>
          <a:noFill/>
          <a:ln w="19050">
            <a:solidFill>
              <a:srgbClr val="222222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6115929" y="2604868"/>
            <a:ext cx="365760" cy="0"/>
          </a:xfrm>
          <a:prstGeom prst="line">
            <a:avLst/>
          </a:prstGeom>
          <a:noFill/>
          <a:ln w="19050">
            <a:solidFill>
              <a:srgbClr val="222222"/>
            </a:solidFill>
            <a:prstDash val="solid"/>
            <a:headEnd type="arrow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7807569" y="2604868"/>
            <a:ext cx="274320" cy="0"/>
          </a:xfrm>
          <a:prstGeom prst="line">
            <a:avLst/>
          </a:prstGeom>
          <a:noFill/>
          <a:ln w="19050">
            <a:solidFill>
              <a:srgbClr val="222222"/>
            </a:solidFill>
            <a:prstDash val="solid"/>
            <a:head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7807569" y="4159348"/>
            <a:ext cx="274320" cy="0"/>
          </a:xfrm>
          <a:prstGeom prst="line">
            <a:avLst/>
          </a:prstGeom>
          <a:noFill/>
          <a:ln w="19050">
            <a:solidFill>
              <a:srgbClr val="222222"/>
            </a:solidFill>
            <a:prstDash val="solid"/>
            <a:headEnd type="arrow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9270609" y="2147668"/>
            <a:ext cx="1234440" cy="0"/>
          </a:xfrm>
          <a:prstGeom prst="line">
            <a:avLst/>
          </a:prstGeom>
          <a:noFill/>
          <a:ln w="19050">
            <a:solidFill>
              <a:srgbClr val="222222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9270609" y="3244948"/>
            <a:ext cx="1234440" cy="0"/>
          </a:xfrm>
          <a:prstGeom prst="line">
            <a:avLst/>
          </a:prstGeom>
          <a:noFill/>
          <a:ln w="19050">
            <a:solidFill>
              <a:srgbClr val="222222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9270609" y="4342228"/>
            <a:ext cx="1234440" cy="0"/>
          </a:xfrm>
          <a:prstGeom prst="line">
            <a:avLst/>
          </a:prstGeom>
          <a:noFill/>
          <a:ln w="19050">
            <a:solidFill>
              <a:srgbClr val="222222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 flipH="1" flipV="1">
            <a:off x="1927977" y="1544164"/>
            <a:ext cx="457201" cy="0"/>
          </a:xfrm>
          <a:prstGeom prst="line">
            <a:avLst/>
          </a:prstGeom>
          <a:noFill/>
          <a:ln w="12700">
            <a:solidFill>
              <a:srgbClr val="E8891E"/>
            </a:solidFill>
            <a:prstDash val="dash"/>
            <a:head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 flipH="1" flipV="1">
            <a:off x="6297727" y="1672180"/>
            <a:ext cx="0" cy="1863732"/>
          </a:xfrm>
          <a:prstGeom prst="line">
            <a:avLst/>
          </a:prstGeom>
          <a:noFill/>
          <a:ln w="12700">
            <a:solidFill>
              <a:srgbClr val="E8891E"/>
            </a:solidFill>
            <a:prstDash val="dash"/>
            <a:head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4972929" y="3290668"/>
            <a:ext cx="0" cy="274320"/>
          </a:xfrm>
          <a:prstGeom prst="line">
            <a:avLst/>
          </a:prstGeom>
          <a:noFill/>
          <a:ln w="12700">
            <a:solidFill>
              <a:srgbClr val="E8891E"/>
            </a:solidFill>
            <a:prstDash val="dash"/>
            <a:headEnd type="arrow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5795889" y="3290668"/>
            <a:ext cx="0" cy="274320"/>
          </a:xfrm>
          <a:prstGeom prst="line">
            <a:avLst/>
          </a:prstGeom>
          <a:noFill/>
          <a:ln w="12700">
            <a:solidFill>
              <a:srgbClr val="E8891E"/>
            </a:solidFill>
            <a:prstDash val="dash"/>
            <a:headEnd type="arrow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7167489" y="3336388"/>
            <a:ext cx="0" cy="228600"/>
          </a:xfrm>
          <a:prstGeom prst="line">
            <a:avLst/>
          </a:prstGeom>
          <a:noFill/>
          <a:ln w="12700">
            <a:solidFill>
              <a:srgbClr val="E8891E"/>
            </a:solidFill>
            <a:prstDash val="dash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4927209" y="5421220"/>
            <a:ext cx="4523537" cy="22856"/>
          </a:xfrm>
          <a:prstGeom prst="line">
            <a:avLst/>
          </a:prstGeom>
          <a:noFill/>
          <a:ln w="15875">
            <a:solidFill>
              <a:srgbClr val="6B3FA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127609" y="487908"/>
            <a:ext cx="960120" cy="2743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9C7BC9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Enabled</a:t>
            </a:r>
            <a:endParaRPr lang="en-US" sz="800" dirty="0"/>
          </a:p>
        </p:txBody>
      </p:sp>
      <p:sp>
        <p:nvSpPr>
          <p:cNvPr id="90" name="Shape 86">
            <a:extLst>
              <a:ext uri="{FF2B5EF4-FFF2-40B4-BE49-F238E27FC236}">
                <a16:creationId xmlns:a16="http://schemas.microsoft.com/office/drawing/2014/main" id="{AB87E224-4115-5484-6AEB-37CDE2038D0D}"/>
              </a:ext>
            </a:extLst>
          </p:cNvPr>
          <p:cNvSpPr/>
          <p:nvPr/>
        </p:nvSpPr>
        <p:spPr>
          <a:xfrm>
            <a:off x="9432914" y="1164697"/>
            <a:ext cx="1324" cy="4274806"/>
          </a:xfrm>
          <a:prstGeom prst="line">
            <a:avLst/>
          </a:prstGeom>
          <a:noFill/>
          <a:ln w="15875">
            <a:solidFill>
              <a:srgbClr val="6B3FA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93" name="Picture 92">
            <a:extLst>
              <a:ext uri="{FF2B5EF4-FFF2-40B4-BE49-F238E27FC236}">
                <a16:creationId xmlns:a16="http://schemas.microsoft.com/office/drawing/2014/main" id="{BD995455-8984-A100-8F0F-FAEBB0323B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3699" y="2490002"/>
            <a:ext cx="147437" cy="147437"/>
          </a:xfrm>
          <a:prstGeom prst="rect">
            <a:avLst/>
          </a:prstGeom>
        </p:spPr>
      </p:pic>
      <p:pic>
        <p:nvPicPr>
          <p:cNvPr id="95" name="Picture 94">
            <a:extLst>
              <a:ext uri="{FF2B5EF4-FFF2-40B4-BE49-F238E27FC236}">
                <a16:creationId xmlns:a16="http://schemas.microsoft.com/office/drawing/2014/main" id="{2E181B16-F94E-1364-290D-A1236FC0AD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8841" y="2930187"/>
            <a:ext cx="174824" cy="174824"/>
          </a:xfrm>
          <a:prstGeom prst="rect">
            <a:avLst/>
          </a:prstGeom>
        </p:spPr>
      </p:pic>
      <p:pic>
        <p:nvPicPr>
          <p:cNvPr id="97" name="Picture 96">
            <a:extLst>
              <a:ext uri="{FF2B5EF4-FFF2-40B4-BE49-F238E27FC236}">
                <a16:creationId xmlns:a16="http://schemas.microsoft.com/office/drawing/2014/main" id="{46E69E70-75D2-6B57-02F1-7AC53B1600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0975" y="3071097"/>
            <a:ext cx="219339" cy="213883"/>
          </a:xfrm>
          <a:prstGeom prst="rect">
            <a:avLst/>
          </a:prstGeom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993C6A51-3AF9-A3A0-56C2-5B9ED90AC1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4791" y="4433667"/>
            <a:ext cx="259513" cy="259513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EC19FA5E-DF7E-4BC0-406E-007AA8ABCC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2983" y="4381757"/>
            <a:ext cx="251444" cy="251444"/>
          </a:xfrm>
          <a:prstGeom prst="rect">
            <a:avLst/>
          </a:prstGeom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F0567A6C-A5D4-B334-C98E-F6A70D478E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H="1">
            <a:off x="7501703" y="4436164"/>
            <a:ext cx="190329" cy="190329"/>
          </a:xfrm>
          <a:prstGeom prst="rect">
            <a:avLst/>
          </a:prstGeom>
        </p:spPr>
      </p:pic>
      <p:pic>
        <p:nvPicPr>
          <p:cNvPr id="107" name="Graphic 106">
            <a:extLst>
              <a:ext uri="{FF2B5EF4-FFF2-40B4-BE49-F238E27FC236}">
                <a16:creationId xmlns:a16="http://schemas.microsoft.com/office/drawing/2014/main" id="{D55033F0-EA75-D4F9-4BDD-DF480F08CE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98759" y="1278987"/>
            <a:ext cx="268329" cy="268329"/>
          </a:xfrm>
          <a:prstGeom prst="rect">
            <a:avLst/>
          </a:prstGeom>
        </p:spPr>
      </p:pic>
      <p:pic>
        <p:nvPicPr>
          <p:cNvPr id="108" name="Graphic 107">
            <a:extLst>
              <a:ext uri="{FF2B5EF4-FFF2-40B4-BE49-F238E27FC236}">
                <a16:creationId xmlns:a16="http://schemas.microsoft.com/office/drawing/2014/main" id="{FE390695-466B-E05F-5C3C-7DC28502B5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66798" y="1272840"/>
            <a:ext cx="268329" cy="268329"/>
          </a:xfrm>
          <a:prstGeom prst="rect">
            <a:avLst/>
          </a:prstGeom>
        </p:spPr>
      </p:pic>
      <p:pic>
        <p:nvPicPr>
          <p:cNvPr id="109" name="Graphic 108">
            <a:extLst>
              <a:ext uri="{FF2B5EF4-FFF2-40B4-BE49-F238E27FC236}">
                <a16:creationId xmlns:a16="http://schemas.microsoft.com/office/drawing/2014/main" id="{87B41680-CAE6-1778-B891-3A194ED567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17179" y="1275835"/>
            <a:ext cx="268329" cy="268329"/>
          </a:xfrm>
          <a:prstGeom prst="rect">
            <a:avLst/>
          </a:prstGeom>
        </p:spPr>
      </p:pic>
      <p:pic>
        <p:nvPicPr>
          <p:cNvPr id="110" name="Graphic 109">
            <a:extLst>
              <a:ext uri="{FF2B5EF4-FFF2-40B4-BE49-F238E27FC236}">
                <a16:creationId xmlns:a16="http://schemas.microsoft.com/office/drawing/2014/main" id="{48F04659-1631-68FD-62A8-3F54619625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60492" y="1268144"/>
            <a:ext cx="268329" cy="268329"/>
          </a:xfrm>
          <a:prstGeom prst="rect">
            <a:avLst/>
          </a:prstGeom>
        </p:spPr>
      </p:pic>
      <p:sp>
        <p:nvSpPr>
          <p:cNvPr id="111" name="Shape 87">
            <a:extLst>
              <a:ext uri="{FF2B5EF4-FFF2-40B4-BE49-F238E27FC236}">
                <a16:creationId xmlns:a16="http://schemas.microsoft.com/office/drawing/2014/main" id="{1514EB1E-09AC-33E1-A6B9-8E3E097A3BC2}"/>
              </a:ext>
            </a:extLst>
          </p:cNvPr>
          <p:cNvSpPr/>
          <p:nvPr/>
        </p:nvSpPr>
        <p:spPr>
          <a:xfrm flipV="1">
            <a:off x="4927209" y="4673016"/>
            <a:ext cx="0" cy="748204"/>
          </a:xfrm>
          <a:prstGeom prst="line">
            <a:avLst/>
          </a:prstGeom>
          <a:noFill/>
          <a:ln w="15875">
            <a:solidFill>
              <a:srgbClr val="6B3FA0"/>
            </a:solidFill>
            <a:prstDash val="dash"/>
            <a:head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87">
            <a:extLst>
              <a:ext uri="{FF2B5EF4-FFF2-40B4-BE49-F238E27FC236}">
                <a16:creationId xmlns:a16="http://schemas.microsoft.com/office/drawing/2014/main" id="{A82F9442-A1EC-6491-8134-81B106235EE5}"/>
              </a:ext>
            </a:extLst>
          </p:cNvPr>
          <p:cNvSpPr/>
          <p:nvPr/>
        </p:nvSpPr>
        <p:spPr>
          <a:xfrm flipV="1">
            <a:off x="6070209" y="4673016"/>
            <a:ext cx="0" cy="748204"/>
          </a:xfrm>
          <a:prstGeom prst="line">
            <a:avLst/>
          </a:prstGeom>
          <a:noFill/>
          <a:ln w="15875">
            <a:solidFill>
              <a:srgbClr val="6B3FA0"/>
            </a:solidFill>
            <a:prstDash val="dash"/>
            <a:head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87">
            <a:extLst>
              <a:ext uri="{FF2B5EF4-FFF2-40B4-BE49-F238E27FC236}">
                <a16:creationId xmlns:a16="http://schemas.microsoft.com/office/drawing/2014/main" id="{A9F0A4BA-2DB8-D13D-6652-380CBFE37398}"/>
              </a:ext>
            </a:extLst>
          </p:cNvPr>
          <p:cNvSpPr/>
          <p:nvPr/>
        </p:nvSpPr>
        <p:spPr>
          <a:xfrm flipV="1">
            <a:off x="7213209" y="4662268"/>
            <a:ext cx="0" cy="748204"/>
          </a:xfrm>
          <a:prstGeom prst="line">
            <a:avLst/>
          </a:prstGeom>
          <a:noFill/>
          <a:ln w="15875">
            <a:solidFill>
              <a:srgbClr val="6B3FA0"/>
            </a:solidFill>
            <a:prstDash val="dash"/>
            <a:headEnd type="arrow"/>
          </a:ln>
        </p:spPr>
        <p:txBody>
          <a:bodyPr/>
          <a:lstStyle/>
          <a:p>
            <a:endParaRPr lang="en-US"/>
          </a:p>
        </p:txBody>
      </p:sp>
      <p:pic>
        <p:nvPicPr>
          <p:cNvPr id="117" name="Picture 116">
            <a:extLst>
              <a:ext uri="{FF2B5EF4-FFF2-40B4-BE49-F238E27FC236}">
                <a16:creationId xmlns:a16="http://schemas.microsoft.com/office/drawing/2014/main" id="{89F28D40-DD05-D2AE-3309-44BB9B3DAA9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34656" y="6335620"/>
            <a:ext cx="275665" cy="275665"/>
          </a:xfrm>
          <a:prstGeom prst="rect">
            <a:avLst/>
          </a:prstGeom>
        </p:spPr>
      </p:pic>
      <p:sp>
        <p:nvSpPr>
          <p:cNvPr id="118" name="Shape 73">
            <a:extLst>
              <a:ext uri="{FF2B5EF4-FFF2-40B4-BE49-F238E27FC236}">
                <a16:creationId xmlns:a16="http://schemas.microsoft.com/office/drawing/2014/main" id="{4F283B3E-11E4-24BF-5D6D-FDBAB6FE7945}"/>
              </a:ext>
            </a:extLst>
          </p:cNvPr>
          <p:cNvSpPr/>
          <p:nvPr/>
        </p:nvSpPr>
        <p:spPr>
          <a:xfrm flipH="1">
            <a:off x="4677000" y="4673017"/>
            <a:ext cx="21608" cy="1340303"/>
          </a:xfrm>
          <a:prstGeom prst="line">
            <a:avLst/>
          </a:prstGeom>
          <a:noFill/>
          <a:ln w="12700">
            <a:solidFill>
              <a:srgbClr val="E8891E"/>
            </a:solidFill>
            <a:prstDash val="dash"/>
            <a:head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73">
            <a:extLst>
              <a:ext uri="{FF2B5EF4-FFF2-40B4-BE49-F238E27FC236}">
                <a16:creationId xmlns:a16="http://schemas.microsoft.com/office/drawing/2014/main" id="{AC9DDE60-2BBA-EC1C-10FD-6445B4CDAEE6}"/>
              </a:ext>
            </a:extLst>
          </p:cNvPr>
          <p:cNvSpPr/>
          <p:nvPr/>
        </p:nvSpPr>
        <p:spPr>
          <a:xfrm flipV="1">
            <a:off x="5841609" y="4680555"/>
            <a:ext cx="15236" cy="1343513"/>
          </a:xfrm>
          <a:prstGeom prst="line">
            <a:avLst/>
          </a:prstGeom>
          <a:noFill/>
          <a:ln w="12700">
            <a:solidFill>
              <a:srgbClr val="E8891E"/>
            </a:solidFill>
            <a:prstDash val="dash"/>
            <a:head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73">
            <a:extLst>
              <a:ext uri="{FF2B5EF4-FFF2-40B4-BE49-F238E27FC236}">
                <a16:creationId xmlns:a16="http://schemas.microsoft.com/office/drawing/2014/main" id="{F6479897-F5C3-8441-92EA-6CE4B692ADD5}"/>
              </a:ext>
            </a:extLst>
          </p:cNvPr>
          <p:cNvSpPr/>
          <p:nvPr/>
        </p:nvSpPr>
        <p:spPr>
          <a:xfrm flipH="1">
            <a:off x="7067473" y="4683766"/>
            <a:ext cx="21608" cy="1340303"/>
          </a:xfrm>
          <a:prstGeom prst="line">
            <a:avLst/>
          </a:prstGeom>
          <a:noFill/>
          <a:ln w="12700">
            <a:solidFill>
              <a:srgbClr val="E8891E"/>
            </a:solidFill>
            <a:prstDash val="dash"/>
            <a:head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22" name="Text 32">
            <a:extLst>
              <a:ext uri="{FF2B5EF4-FFF2-40B4-BE49-F238E27FC236}">
                <a16:creationId xmlns:a16="http://schemas.microsoft.com/office/drawing/2014/main" id="{1B503AB4-2285-5144-70D6-941874FD6C63}"/>
              </a:ext>
            </a:extLst>
          </p:cNvPr>
          <p:cNvSpPr txBox="1"/>
          <p:nvPr/>
        </p:nvSpPr>
        <p:spPr>
          <a:xfrm>
            <a:off x="8173328" y="3827659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</a:t>
            </a:r>
            <a:endParaRPr lang="en-US" sz="800" dirty="0"/>
          </a:p>
        </p:txBody>
      </p:sp>
      <p:sp>
        <p:nvSpPr>
          <p:cNvPr id="123" name="Text 2">
            <a:extLst>
              <a:ext uri="{FF2B5EF4-FFF2-40B4-BE49-F238E27FC236}">
                <a16:creationId xmlns:a16="http://schemas.microsoft.com/office/drawing/2014/main" id="{CA383394-2DDE-36FF-339D-3D9131612B5C}"/>
              </a:ext>
            </a:extLst>
          </p:cNvPr>
          <p:cNvSpPr txBox="1"/>
          <p:nvPr/>
        </p:nvSpPr>
        <p:spPr>
          <a:xfrm>
            <a:off x="3545277" y="1783689"/>
            <a:ext cx="612648" cy="24688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9C7BC9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Enabled</a:t>
            </a:r>
            <a:endParaRPr lang="en-US" sz="800" dirty="0"/>
          </a:p>
        </p:txBody>
      </p:sp>
      <p:sp>
        <p:nvSpPr>
          <p:cNvPr id="124" name="Text 2">
            <a:extLst>
              <a:ext uri="{FF2B5EF4-FFF2-40B4-BE49-F238E27FC236}">
                <a16:creationId xmlns:a16="http://schemas.microsoft.com/office/drawing/2014/main" id="{5D7EB1F8-407D-17AC-EF24-A02E68BE0CE9}"/>
              </a:ext>
            </a:extLst>
          </p:cNvPr>
          <p:cNvSpPr txBox="1"/>
          <p:nvPr/>
        </p:nvSpPr>
        <p:spPr>
          <a:xfrm>
            <a:off x="7342228" y="3476880"/>
            <a:ext cx="612648" cy="24688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9C7BC9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Enabled</a:t>
            </a:r>
            <a:endParaRPr lang="en-US" sz="800" dirty="0"/>
          </a:p>
        </p:txBody>
      </p:sp>
      <p:sp>
        <p:nvSpPr>
          <p:cNvPr id="125" name="Text 44">
            <a:extLst>
              <a:ext uri="{FF2B5EF4-FFF2-40B4-BE49-F238E27FC236}">
                <a16:creationId xmlns:a16="http://schemas.microsoft.com/office/drawing/2014/main" id="{6EE440D6-04A2-3D1C-34ED-14A76B787509}"/>
              </a:ext>
            </a:extLst>
          </p:cNvPr>
          <p:cNvSpPr txBox="1"/>
          <p:nvPr/>
        </p:nvSpPr>
        <p:spPr>
          <a:xfrm>
            <a:off x="969382" y="1768953"/>
            <a:ext cx="9601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/>
            <a:r>
              <a:rPr lang="en-US" sz="7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through CI/CD</a:t>
            </a:r>
            <a:endParaRPr lang="en-US" sz="75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D961E90D-314A-C954-4623-857C0F095E8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96499" y="4601663"/>
            <a:ext cx="317771" cy="317771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836B3BF2-2DDC-0225-D321-BB201CD1B77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02529" y="3034950"/>
            <a:ext cx="201168" cy="201168"/>
          </a:xfrm>
          <a:prstGeom prst="rect">
            <a:avLst/>
          </a:prstGeom>
        </p:spPr>
      </p:pic>
      <p:sp>
        <p:nvSpPr>
          <p:cNvPr id="202" name="Connector"/>
          <p:cNvSpPr/>
          <p:nvPr/>
        </p:nvSpPr>
        <p:spPr>
          <a:xfrm flipH="1">
            <a:off x="820502" y="6214488"/>
            <a:ext cx="2765" cy="254912"/>
          </a:xfrm>
          <a:prstGeom prst="line">
            <a:avLst/>
          </a:prstGeom>
          <a:noFill/>
          <a:ln w="190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3" name="Connector"/>
          <p:cNvSpPr/>
          <p:nvPr/>
        </p:nvSpPr>
        <p:spPr>
          <a:xfrm>
            <a:off x="822131" y="6461578"/>
            <a:ext cx="1453317" cy="7817"/>
          </a:xfrm>
          <a:prstGeom prst="line">
            <a:avLst/>
          </a:prstGeom>
          <a:noFill/>
          <a:ln w="19050">
            <a:solidFill>
              <a:srgbClr val="222222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04" name="Connector"/>
          <p:cNvSpPr/>
          <p:nvPr/>
        </p:nvSpPr>
        <p:spPr>
          <a:xfrm>
            <a:off x="4168257" y="2988916"/>
            <a:ext cx="0" cy="3035808"/>
          </a:xfrm>
          <a:prstGeom prst="line">
            <a:avLst/>
          </a:prstGeom>
          <a:noFill/>
          <a:ln w="190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5" name="Connector"/>
          <p:cNvSpPr/>
          <p:nvPr/>
        </p:nvSpPr>
        <p:spPr>
          <a:xfrm>
            <a:off x="4058529" y="2988916"/>
            <a:ext cx="109728" cy="0"/>
          </a:xfrm>
          <a:prstGeom prst="line">
            <a:avLst/>
          </a:prstGeom>
          <a:noFill/>
          <a:ln w="19050">
            <a:solidFill>
              <a:srgbClr val="222222"/>
            </a:solidFill>
            <a:prstDash val="solid"/>
            <a:head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13" name="Content"/>
          <p:cNvSpPr txBox="1"/>
          <p:nvPr/>
        </p:nvSpPr>
        <p:spPr>
          <a:xfrm>
            <a:off x="4446067" y="2219826"/>
            <a:ext cx="1554480" cy="31195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/>
            <a:r>
              <a:rPr lang="en-US" sz="7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READ, WRITE, APPEND, DELETE Access to NPE’s or Users</a:t>
            </a:r>
            <a:endParaRPr lang="en-US" sz="750" dirty="0"/>
          </a:p>
        </p:txBody>
      </p:sp>
      <p:sp>
        <p:nvSpPr>
          <p:cNvPr id="214" name="Content"/>
          <p:cNvSpPr txBox="1"/>
          <p:nvPr/>
        </p:nvSpPr>
        <p:spPr>
          <a:xfrm>
            <a:off x="6573129" y="2385412"/>
            <a:ext cx="1170432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/>
            <a:r>
              <a:rPr lang="en-US" sz="7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/ column policies</a:t>
            </a:r>
            <a:r>
              <a:rPr lang="en-US" sz="700" dirty="0"/>
              <a:t> and </a:t>
            </a:r>
            <a:r>
              <a:rPr lang="en-US" sz="7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700" dirty="0"/>
          </a:p>
        </p:txBody>
      </p:sp>
      <p:sp>
        <p:nvSpPr>
          <p:cNvPr id="215" name="Content"/>
          <p:cNvSpPr txBox="1"/>
          <p:nvPr/>
        </p:nvSpPr>
        <p:spPr>
          <a:xfrm>
            <a:off x="2549769" y="2458564"/>
            <a:ext cx="12344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access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governed data</a:t>
            </a:r>
            <a:endParaRPr lang="en-US" sz="750" dirty="0"/>
          </a:p>
        </p:txBody>
      </p:sp>
      <p:sp>
        <p:nvSpPr>
          <p:cNvPr id="217" name="Content"/>
          <p:cNvSpPr txBox="1"/>
          <p:nvPr/>
        </p:nvSpPr>
        <p:spPr>
          <a:xfrm>
            <a:off x="4442577" y="4177636"/>
            <a:ext cx="96926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Low-latency lookups</a:t>
            </a:r>
            <a:endParaRPr lang="en-US" sz="650" dirty="0"/>
          </a:p>
        </p:txBody>
      </p:sp>
      <p:sp>
        <p:nvSpPr>
          <p:cNvPr id="218" name="Content"/>
          <p:cNvSpPr txBox="1"/>
          <p:nvPr/>
        </p:nvSpPr>
        <p:spPr>
          <a:xfrm>
            <a:off x="5585577" y="4177636"/>
            <a:ext cx="96926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SQL</a:t>
            </a:r>
            <a:endParaRPr lang="en-US" sz="650" dirty="0"/>
          </a:p>
        </p:txBody>
      </p:sp>
      <p:sp>
        <p:nvSpPr>
          <p:cNvPr id="219" name="Content"/>
          <p:cNvSpPr txBox="1"/>
          <p:nvPr/>
        </p:nvSpPr>
        <p:spPr>
          <a:xfrm>
            <a:off x="6728577" y="4177636"/>
            <a:ext cx="96926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search</a:t>
            </a:r>
            <a:endParaRPr lang="en-US" sz="650" dirty="0"/>
          </a:p>
        </p:txBody>
      </p:sp>
      <p:sp>
        <p:nvSpPr>
          <p:cNvPr id="220" name="Content"/>
          <p:cNvSpPr txBox="1"/>
          <p:nvPr/>
        </p:nvSpPr>
        <p:spPr>
          <a:xfrm>
            <a:off x="8191617" y="2566720"/>
            <a:ext cx="9144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for AI access to API’s and tools</a:t>
            </a:r>
            <a:endParaRPr lang="en-US" sz="650" dirty="0"/>
          </a:p>
        </p:txBody>
      </p:sp>
      <p:sp>
        <p:nvSpPr>
          <p:cNvPr id="221" name="Content"/>
          <p:cNvSpPr txBox="1"/>
          <p:nvPr/>
        </p:nvSpPr>
        <p:spPr>
          <a:xfrm>
            <a:off x="8191617" y="4049620"/>
            <a:ext cx="9144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with data</a:t>
            </a:r>
            <a:endParaRPr lang="en-US" sz="650" dirty="0"/>
          </a:p>
        </p:txBody>
      </p:sp>
      <p:sp>
        <p:nvSpPr>
          <p:cNvPr id="223" name="Content"/>
          <p:cNvSpPr txBox="1"/>
          <p:nvPr/>
        </p:nvSpPr>
        <p:spPr>
          <a:xfrm>
            <a:off x="4418445" y="6417969"/>
            <a:ext cx="636678" cy="19433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 Products</a:t>
            </a:r>
            <a:endParaRPr lang="en-US" sz="800" dirty="0"/>
          </a:p>
        </p:txBody>
      </p:sp>
      <p:sp>
        <p:nvSpPr>
          <p:cNvPr id="32" name="Shape 59">
            <a:extLst>
              <a:ext uri="{FF2B5EF4-FFF2-40B4-BE49-F238E27FC236}">
                <a16:creationId xmlns:a16="http://schemas.microsoft.com/office/drawing/2014/main" id="{0570049B-7D78-C890-DB73-835816842959}"/>
              </a:ext>
            </a:extLst>
          </p:cNvPr>
          <p:cNvSpPr/>
          <p:nvPr/>
        </p:nvSpPr>
        <p:spPr>
          <a:xfrm>
            <a:off x="1955409" y="1324708"/>
            <a:ext cx="457200" cy="0"/>
          </a:xfrm>
          <a:prstGeom prst="line">
            <a:avLst/>
          </a:prstGeom>
          <a:noFill/>
          <a:ln w="19050">
            <a:solidFill>
              <a:srgbClr val="222222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64" name="Content">
            <a:extLst>
              <a:ext uri="{FF2B5EF4-FFF2-40B4-BE49-F238E27FC236}">
                <a16:creationId xmlns:a16="http://schemas.microsoft.com/office/drawing/2014/main" id="{4A379A13-DE5C-50D8-99D9-83423F453129}"/>
              </a:ext>
            </a:extLst>
          </p:cNvPr>
          <p:cNvSpPr txBox="1"/>
          <p:nvPr/>
        </p:nvSpPr>
        <p:spPr>
          <a:xfrm>
            <a:off x="6151488" y="6451577"/>
            <a:ext cx="459234" cy="2125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Validation</a:t>
            </a:r>
            <a:endParaRPr lang="en-US" sz="800" dirty="0"/>
          </a:p>
        </p:txBody>
      </p:sp>
      <p:sp>
        <p:nvSpPr>
          <p:cNvPr id="69" name="Content">
            <a:extLst>
              <a:ext uri="{FF2B5EF4-FFF2-40B4-BE49-F238E27FC236}">
                <a16:creationId xmlns:a16="http://schemas.microsoft.com/office/drawing/2014/main" id="{13F7FEDE-E29F-3519-C5BC-269F45D67B50}"/>
              </a:ext>
            </a:extLst>
          </p:cNvPr>
          <p:cNvSpPr txBox="1"/>
          <p:nvPr/>
        </p:nvSpPr>
        <p:spPr>
          <a:xfrm>
            <a:off x="7059637" y="6461391"/>
            <a:ext cx="496114" cy="2238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Track</a:t>
            </a:r>
            <a:endParaRPr lang="en-US" sz="800" dirty="0"/>
          </a:p>
        </p:txBody>
      </p:sp>
      <p:sp>
        <p:nvSpPr>
          <p:cNvPr id="70" name="Content">
            <a:extLst>
              <a:ext uri="{FF2B5EF4-FFF2-40B4-BE49-F238E27FC236}">
                <a16:creationId xmlns:a16="http://schemas.microsoft.com/office/drawing/2014/main" id="{62E63680-A60D-B76B-13E7-94F4E733F56E}"/>
              </a:ext>
            </a:extLst>
          </p:cNvPr>
          <p:cNvSpPr txBox="1"/>
          <p:nvPr/>
        </p:nvSpPr>
        <p:spPr>
          <a:xfrm>
            <a:off x="3351665" y="6410762"/>
            <a:ext cx="387882" cy="22634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</a:t>
            </a:r>
            <a:endParaRPr lang="en-US" sz="800" dirty="0"/>
          </a:p>
        </p:txBody>
      </p:sp>
      <p:sp>
        <p:nvSpPr>
          <p:cNvPr id="71" name="Content">
            <a:extLst>
              <a:ext uri="{FF2B5EF4-FFF2-40B4-BE49-F238E27FC236}">
                <a16:creationId xmlns:a16="http://schemas.microsoft.com/office/drawing/2014/main" id="{CA2AC35F-79ED-FD58-9788-E9154958BA47}"/>
              </a:ext>
            </a:extLst>
          </p:cNvPr>
          <p:cNvSpPr txBox="1"/>
          <p:nvPr/>
        </p:nvSpPr>
        <p:spPr>
          <a:xfrm>
            <a:off x="2618348" y="1097261"/>
            <a:ext cx="12344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through</a:t>
            </a:r>
          </a:p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CI/CD</a:t>
            </a:r>
            <a:endParaRPr lang="en-US" sz="750" dirty="0"/>
          </a:p>
        </p:txBody>
      </p:sp>
      <p:sp>
        <p:nvSpPr>
          <p:cNvPr id="82" name="Content">
            <a:extLst>
              <a:ext uri="{FF2B5EF4-FFF2-40B4-BE49-F238E27FC236}">
                <a16:creationId xmlns:a16="http://schemas.microsoft.com/office/drawing/2014/main" id="{923AA95F-1756-3C16-058F-8161F19686D0}"/>
              </a:ext>
            </a:extLst>
          </p:cNvPr>
          <p:cNvSpPr txBox="1"/>
          <p:nvPr/>
        </p:nvSpPr>
        <p:spPr>
          <a:xfrm>
            <a:off x="4233118" y="1085220"/>
            <a:ext cx="12344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registered through</a:t>
            </a:r>
          </a:p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Jobs</a:t>
            </a:r>
            <a:endParaRPr lang="en-US" sz="750" dirty="0"/>
          </a:p>
        </p:txBody>
      </p:sp>
      <p:sp>
        <p:nvSpPr>
          <p:cNvPr id="83" name="Content">
            <a:extLst>
              <a:ext uri="{FF2B5EF4-FFF2-40B4-BE49-F238E27FC236}">
                <a16:creationId xmlns:a16="http://schemas.microsoft.com/office/drawing/2014/main" id="{FB1DE87D-E90B-030A-3BAF-8FD8016FDDB0}"/>
              </a:ext>
            </a:extLst>
          </p:cNvPr>
          <p:cNvSpPr txBox="1"/>
          <p:nvPr/>
        </p:nvSpPr>
        <p:spPr>
          <a:xfrm>
            <a:off x="7315612" y="1087575"/>
            <a:ext cx="12344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registered through</a:t>
            </a:r>
          </a:p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UI</a:t>
            </a:r>
            <a:endParaRPr lang="en-US" sz="750" dirty="0"/>
          </a:p>
        </p:txBody>
      </p:sp>
      <p:sp>
        <p:nvSpPr>
          <p:cNvPr id="84" name="Content">
            <a:extLst>
              <a:ext uri="{FF2B5EF4-FFF2-40B4-BE49-F238E27FC236}">
                <a16:creationId xmlns:a16="http://schemas.microsoft.com/office/drawing/2014/main" id="{BE85CB13-DFBE-B111-FCBB-B1A8564EC213}"/>
              </a:ext>
            </a:extLst>
          </p:cNvPr>
          <p:cNvSpPr txBox="1"/>
          <p:nvPr/>
        </p:nvSpPr>
        <p:spPr>
          <a:xfrm>
            <a:off x="5795889" y="1073941"/>
            <a:ext cx="12344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registered through</a:t>
            </a:r>
          </a:p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UI</a:t>
            </a:r>
            <a:endParaRPr lang="en-US" sz="750" dirty="0"/>
          </a:p>
        </p:txBody>
      </p:sp>
      <p:pic>
        <p:nvPicPr>
          <p:cNvPr id="86" name="Picture 85">
            <a:extLst>
              <a:ext uri="{FF2B5EF4-FFF2-40B4-BE49-F238E27FC236}">
                <a16:creationId xmlns:a16="http://schemas.microsoft.com/office/drawing/2014/main" id="{C7AF99B7-C0F2-71B8-42FD-D0A3A5CA3A8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85855" y="5779030"/>
            <a:ext cx="342409" cy="342409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0A0C76D3-F8AD-1B80-5098-A50393B3DFC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45478" y="5803979"/>
            <a:ext cx="358448" cy="358448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3D4A8C0F-74F1-9B6E-D517-A5805037A61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6106" y="5804980"/>
            <a:ext cx="384048" cy="384048"/>
          </a:xfrm>
          <a:prstGeom prst="rect">
            <a:avLst/>
          </a:prstGeom>
        </p:spPr>
      </p:pic>
      <p:sp>
        <p:nvSpPr>
          <p:cNvPr id="100" name="Text 20">
            <a:extLst>
              <a:ext uri="{FF2B5EF4-FFF2-40B4-BE49-F238E27FC236}">
                <a16:creationId xmlns:a16="http://schemas.microsoft.com/office/drawing/2014/main" id="{F05AD466-F4BD-70FB-B7BC-E6823B9D5A6D}"/>
              </a:ext>
            </a:extLst>
          </p:cNvPr>
          <p:cNvSpPr txBox="1"/>
          <p:nvPr/>
        </p:nvSpPr>
        <p:spPr>
          <a:xfrm>
            <a:off x="510659" y="4874840"/>
            <a:ext cx="1536192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Platform</a:t>
            </a:r>
            <a:endParaRPr lang="en-US" sz="850" dirty="0"/>
          </a:p>
        </p:txBody>
      </p:sp>
      <p:sp>
        <p:nvSpPr>
          <p:cNvPr id="102" name="Connector">
            <a:extLst>
              <a:ext uri="{FF2B5EF4-FFF2-40B4-BE49-F238E27FC236}">
                <a16:creationId xmlns:a16="http://schemas.microsoft.com/office/drawing/2014/main" id="{CDFAEB7B-CB8B-C51A-AC1E-00F279299D2D}"/>
              </a:ext>
            </a:extLst>
          </p:cNvPr>
          <p:cNvSpPr/>
          <p:nvPr/>
        </p:nvSpPr>
        <p:spPr>
          <a:xfrm flipH="1">
            <a:off x="1415913" y="4342229"/>
            <a:ext cx="0" cy="475770"/>
          </a:xfrm>
          <a:prstGeom prst="line">
            <a:avLst/>
          </a:prstGeom>
          <a:noFill/>
          <a:ln w="19050">
            <a:solidFill>
              <a:srgbClr val="222222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04" name="Content">
            <a:extLst>
              <a:ext uri="{FF2B5EF4-FFF2-40B4-BE49-F238E27FC236}">
                <a16:creationId xmlns:a16="http://schemas.microsoft.com/office/drawing/2014/main" id="{DCDC6647-C7EF-41B1-4BE1-B2711725FFE5}"/>
              </a:ext>
            </a:extLst>
          </p:cNvPr>
          <p:cNvSpPr txBox="1"/>
          <p:nvPr/>
        </p:nvSpPr>
        <p:spPr>
          <a:xfrm>
            <a:off x="670965" y="5276888"/>
            <a:ext cx="12344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ETL platform and tools</a:t>
            </a:r>
            <a:endParaRPr lang="en-US" sz="750" dirty="0"/>
          </a:p>
        </p:txBody>
      </p:sp>
      <p:pic>
        <p:nvPicPr>
          <p:cNvPr id="114" name="Graphic 113">
            <a:extLst>
              <a:ext uri="{FF2B5EF4-FFF2-40B4-BE49-F238E27FC236}">
                <a16:creationId xmlns:a16="http://schemas.microsoft.com/office/drawing/2014/main" id="{EB440687-FD29-34BB-0CE9-AC8028E560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239178" y="1461917"/>
            <a:ext cx="463201" cy="463201"/>
          </a:xfrm>
          <a:prstGeom prst="rect">
            <a:avLst/>
          </a:prstGeom>
        </p:spPr>
      </p:pic>
      <p:pic>
        <p:nvPicPr>
          <p:cNvPr id="120" name="Picture 119">
            <a:extLst>
              <a:ext uri="{FF2B5EF4-FFF2-40B4-BE49-F238E27FC236}">
                <a16:creationId xmlns:a16="http://schemas.microsoft.com/office/drawing/2014/main" id="{A2F7C81A-8D91-9822-BCE5-846EC99EE9B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311943" y="2195431"/>
            <a:ext cx="274997" cy="274997"/>
          </a:xfrm>
          <a:prstGeom prst="rect">
            <a:avLst/>
          </a:prstGeom>
        </p:spPr>
      </p:pic>
      <p:pic>
        <p:nvPicPr>
          <p:cNvPr id="127" name="Picture 126">
            <a:extLst>
              <a:ext uri="{FF2B5EF4-FFF2-40B4-BE49-F238E27FC236}">
                <a16:creationId xmlns:a16="http://schemas.microsoft.com/office/drawing/2014/main" id="{ADB90F31-E2C1-5137-6FAA-0D9A518BD0E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285964" y="2919254"/>
            <a:ext cx="303685" cy="303685"/>
          </a:xfrm>
          <a:prstGeom prst="rect">
            <a:avLst/>
          </a:prstGeom>
        </p:spPr>
      </p:pic>
      <p:pic>
        <p:nvPicPr>
          <p:cNvPr id="193" name="Picture 192">
            <a:extLst>
              <a:ext uri="{FF2B5EF4-FFF2-40B4-BE49-F238E27FC236}">
                <a16:creationId xmlns:a16="http://schemas.microsoft.com/office/drawing/2014/main" id="{81EC021A-B523-D4AC-9C05-FE1B1E8B120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06091" y="3539967"/>
            <a:ext cx="401358" cy="401358"/>
          </a:xfrm>
          <a:prstGeom prst="rect">
            <a:avLst/>
          </a:prstGeom>
        </p:spPr>
      </p:pic>
      <p:pic>
        <p:nvPicPr>
          <p:cNvPr id="195" name="Picture 194">
            <a:extLst>
              <a:ext uri="{FF2B5EF4-FFF2-40B4-BE49-F238E27FC236}">
                <a16:creationId xmlns:a16="http://schemas.microsoft.com/office/drawing/2014/main" id="{A4C6FDDC-52B3-9566-45C5-1C681A7F328B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957819" y="6038438"/>
            <a:ext cx="256031" cy="256031"/>
          </a:xfrm>
          <a:prstGeom prst="rect">
            <a:avLst/>
          </a:prstGeom>
        </p:spPr>
      </p:pic>
      <p:sp>
        <p:nvSpPr>
          <p:cNvPr id="39" name="Shape 63">
            <a:extLst>
              <a:ext uri="{FF2B5EF4-FFF2-40B4-BE49-F238E27FC236}">
                <a16:creationId xmlns:a16="http://schemas.microsoft.com/office/drawing/2014/main" id="{B1C4356B-016A-2C14-44AA-65151C2B0518}"/>
              </a:ext>
            </a:extLst>
          </p:cNvPr>
          <p:cNvSpPr/>
          <p:nvPr/>
        </p:nvSpPr>
        <p:spPr>
          <a:xfrm flipV="1">
            <a:off x="4424289" y="4778880"/>
            <a:ext cx="0" cy="1234440"/>
          </a:xfrm>
          <a:prstGeom prst="line">
            <a:avLst/>
          </a:prstGeom>
          <a:noFill/>
          <a:ln w="19050">
            <a:solidFill>
              <a:srgbClr val="222222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87">
            <a:extLst>
              <a:ext uri="{FF2B5EF4-FFF2-40B4-BE49-F238E27FC236}">
                <a16:creationId xmlns:a16="http://schemas.microsoft.com/office/drawing/2014/main" id="{1C0FB90A-AE24-A9AC-EEE7-9625C87BE882}"/>
              </a:ext>
            </a:extLst>
          </p:cNvPr>
          <p:cNvSpPr/>
          <p:nvPr/>
        </p:nvSpPr>
        <p:spPr>
          <a:xfrm flipV="1">
            <a:off x="8544168" y="4956843"/>
            <a:ext cx="14514" cy="493832"/>
          </a:xfrm>
          <a:prstGeom prst="line">
            <a:avLst/>
          </a:prstGeom>
          <a:noFill/>
          <a:ln w="15875">
            <a:solidFill>
              <a:srgbClr val="6B3FA0"/>
            </a:solidFill>
            <a:prstDash val="dash"/>
            <a:head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87">
            <a:extLst>
              <a:ext uri="{FF2B5EF4-FFF2-40B4-BE49-F238E27FC236}">
                <a16:creationId xmlns:a16="http://schemas.microsoft.com/office/drawing/2014/main" id="{4C8D8688-02FC-48D7-80FE-90EE50D0B360}"/>
              </a:ext>
            </a:extLst>
          </p:cNvPr>
          <p:cNvSpPr/>
          <p:nvPr/>
        </p:nvSpPr>
        <p:spPr>
          <a:xfrm flipH="1" flipV="1">
            <a:off x="8767689" y="1100684"/>
            <a:ext cx="1737360" cy="2820"/>
          </a:xfrm>
          <a:prstGeom prst="line">
            <a:avLst/>
          </a:prstGeom>
          <a:noFill/>
          <a:ln w="15875">
            <a:solidFill>
              <a:srgbClr val="6B3FA0"/>
            </a:solidFill>
            <a:prstDash val="dash"/>
            <a:head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1">
            <a:extLst>
              <a:ext uri="{FF2B5EF4-FFF2-40B4-BE49-F238E27FC236}">
                <a16:creationId xmlns:a16="http://schemas.microsoft.com/office/drawing/2014/main" id="{1F78A940-274D-BA64-B1CE-AB61E632E7C1}"/>
              </a:ext>
            </a:extLst>
          </p:cNvPr>
          <p:cNvSpPr/>
          <p:nvPr/>
        </p:nvSpPr>
        <p:spPr>
          <a:xfrm>
            <a:off x="10573629" y="901036"/>
            <a:ext cx="1051560" cy="3989832"/>
          </a:xfrm>
          <a:prstGeom prst="roundRect">
            <a:avLst>
              <a:gd name="adj" fmla="val 5217"/>
            </a:avLst>
          </a:prstGeom>
          <a:solidFill>
            <a:srgbClr val="FDF3EA"/>
          </a:solidFill>
          <a:ln w="12700">
            <a:solidFill>
              <a:srgbClr val="E8A1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2">
            <a:extLst>
              <a:ext uri="{FF2B5EF4-FFF2-40B4-BE49-F238E27FC236}">
                <a16:creationId xmlns:a16="http://schemas.microsoft.com/office/drawing/2014/main" id="{A0E26568-B2EA-6CE2-47DF-C6E1A332E648}"/>
              </a:ext>
            </a:extLst>
          </p:cNvPr>
          <p:cNvSpPr txBox="1"/>
          <p:nvPr/>
        </p:nvSpPr>
        <p:spPr>
          <a:xfrm>
            <a:off x="10605633" y="1637964"/>
            <a:ext cx="996696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96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LAYER</a:t>
            </a:r>
            <a:endParaRPr lang="en-US" sz="850" dirty="0"/>
          </a:p>
        </p:txBody>
      </p:sp>
      <p:sp>
        <p:nvSpPr>
          <p:cNvPr id="61" name="Shape 33">
            <a:extLst>
              <a:ext uri="{FF2B5EF4-FFF2-40B4-BE49-F238E27FC236}">
                <a16:creationId xmlns:a16="http://schemas.microsoft.com/office/drawing/2014/main" id="{EEAB878F-5A75-EC30-F54F-228DA9C461D1}"/>
              </a:ext>
            </a:extLst>
          </p:cNvPr>
          <p:cNvSpPr/>
          <p:nvPr/>
        </p:nvSpPr>
        <p:spPr>
          <a:xfrm>
            <a:off x="10760276" y="2790798"/>
            <a:ext cx="731520" cy="0"/>
          </a:xfrm>
          <a:prstGeom prst="line">
            <a:avLst/>
          </a:prstGeom>
          <a:noFill/>
          <a:ln w="9525">
            <a:solidFill>
              <a:schemeClr val="accent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2" name="Text 42">
            <a:extLst>
              <a:ext uri="{FF2B5EF4-FFF2-40B4-BE49-F238E27FC236}">
                <a16:creationId xmlns:a16="http://schemas.microsoft.com/office/drawing/2014/main" id="{0665A694-D853-49BF-1E3F-AAE513683015}"/>
              </a:ext>
            </a:extLst>
          </p:cNvPr>
          <p:cNvSpPr txBox="1"/>
          <p:nvPr/>
        </p:nvSpPr>
        <p:spPr>
          <a:xfrm>
            <a:off x="10605633" y="3336388"/>
            <a:ext cx="996696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9641E"/>
                </a:solidFill>
                <a:latin typeface="Calibri" pitchFamily="34" charset="0"/>
                <a:cs typeface="Calibri" pitchFamily="34" charset="-120"/>
              </a:rPr>
              <a:t>EXTERNAL CONSUMERS</a:t>
            </a:r>
            <a:endParaRPr lang="en-US" sz="850" dirty="0"/>
          </a:p>
        </p:txBody>
      </p:sp>
      <p:sp>
        <p:nvSpPr>
          <p:cNvPr id="63" name="Content">
            <a:extLst>
              <a:ext uri="{FF2B5EF4-FFF2-40B4-BE49-F238E27FC236}">
                <a16:creationId xmlns:a16="http://schemas.microsoft.com/office/drawing/2014/main" id="{61CBDA13-93D3-0BA4-F0E5-F6A6212412D2}"/>
              </a:ext>
            </a:extLst>
          </p:cNvPr>
          <p:cNvSpPr txBox="1"/>
          <p:nvPr/>
        </p:nvSpPr>
        <p:spPr>
          <a:xfrm>
            <a:off x="10659567" y="1954564"/>
            <a:ext cx="9144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for AI access to API’s and tools</a:t>
            </a:r>
            <a:endParaRPr lang="en-US" sz="650" dirty="0"/>
          </a:p>
        </p:txBody>
      </p:sp>
      <p:sp>
        <p:nvSpPr>
          <p:cNvPr id="85" name="Content">
            <a:extLst>
              <a:ext uri="{FF2B5EF4-FFF2-40B4-BE49-F238E27FC236}">
                <a16:creationId xmlns:a16="http://schemas.microsoft.com/office/drawing/2014/main" id="{F0B71A4E-229E-36C2-E47D-E2B926CBFBBC}"/>
              </a:ext>
            </a:extLst>
          </p:cNvPr>
          <p:cNvSpPr txBox="1"/>
          <p:nvPr/>
        </p:nvSpPr>
        <p:spPr>
          <a:xfrm>
            <a:off x="10653639" y="3695806"/>
            <a:ext cx="9144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with data</a:t>
            </a:r>
            <a:endParaRPr lang="en-US" sz="650" dirty="0"/>
          </a:p>
        </p:txBody>
      </p:sp>
      <p:sp>
        <p:nvSpPr>
          <p:cNvPr id="87" name="Shape 87">
            <a:extLst>
              <a:ext uri="{FF2B5EF4-FFF2-40B4-BE49-F238E27FC236}">
                <a16:creationId xmlns:a16="http://schemas.microsoft.com/office/drawing/2014/main" id="{307C4856-04DA-EFC9-2419-60513B07547B}"/>
              </a:ext>
            </a:extLst>
          </p:cNvPr>
          <p:cNvSpPr/>
          <p:nvPr/>
        </p:nvSpPr>
        <p:spPr>
          <a:xfrm flipV="1">
            <a:off x="1969698" y="5473771"/>
            <a:ext cx="1265870" cy="2"/>
          </a:xfrm>
          <a:prstGeom prst="line">
            <a:avLst/>
          </a:prstGeom>
          <a:noFill/>
          <a:ln w="15875">
            <a:solidFill>
              <a:srgbClr val="6B3FA0"/>
            </a:solidFill>
            <a:prstDash val="dash"/>
            <a:head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86">
            <a:extLst>
              <a:ext uri="{FF2B5EF4-FFF2-40B4-BE49-F238E27FC236}">
                <a16:creationId xmlns:a16="http://schemas.microsoft.com/office/drawing/2014/main" id="{9814F3EC-B313-06E6-6EBE-A50DDE41B608}"/>
              </a:ext>
            </a:extLst>
          </p:cNvPr>
          <p:cNvSpPr/>
          <p:nvPr/>
        </p:nvSpPr>
        <p:spPr>
          <a:xfrm flipH="1">
            <a:off x="3266310" y="4739043"/>
            <a:ext cx="1" cy="748204"/>
          </a:xfrm>
          <a:prstGeom prst="line">
            <a:avLst/>
          </a:prstGeom>
          <a:noFill/>
          <a:ln w="15875">
            <a:solidFill>
              <a:srgbClr val="6B3FA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87">
            <a:extLst>
              <a:ext uri="{FF2B5EF4-FFF2-40B4-BE49-F238E27FC236}">
                <a16:creationId xmlns:a16="http://schemas.microsoft.com/office/drawing/2014/main" id="{4C452721-4666-56B6-FC10-8BC0419C1D5B}"/>
              </a:ext>
            </a:extLst>
          </p:cNvPr>
          <p:cNvSpPr/>
          <p:nvPr/>
        </p:nvSpPr>
        <p:spPr>
          <a:xfrm flipH="1">
            <a:off x="10983783" y="4941159"/>
            <a:ext cx="1326" cy="250948"/>
          </a:xfrm>
          <a:prstGeom prst="line">
            <a:avLst/>
          </a:prstGeom>
          <a:noFill/>
          <a:ln w="15875">
            <a:solidFill>
              <a:srgbClr val="6B3FA0"/>
            </a:solidFill>
            <a:prstDash val="dash"/>
            <a:head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86">
            <a:extLst>
              <a:ext uri="{FF2B5EF4-FFF2-40B4-BE49-F238E27FC236}">
                <a16:creationId xmlns:a16="http://schemas.microsoft.com/office/drawing/2014/main" id="{68CEF1D7-0DA8-8CA1-FE32-AF7DF9DE276C}"/>
              </a:ext>
            </a:extLst>
          </p:cNvPr>
          <p:cNvSpPr/>
          <p:nvPr/>
        </p:nvSpPr>
        <p:spPr>
          <a:xfrm flipH="1">
            <a:off x="3235568" y="5156044"/>
            <a:ext cx="7699248" cy="0"/>
          </a:xfrm>
          <a:prstGeom prst="line">
            <a:avLst/>
          </a:prstGeom>
          <a:noFill/>
          <a:ln w="15875">
            <a:solidFill>
              <a:srgbClr val="6B3FA0"/>
            </a:solidFill>
            <a:prstDash val="dash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5" name="Shape 86">
            <a:extLst>
              <a:ext uri="{FF2B5EF4-FFF2-40B4-BE49-F238E27FC236}">
                <a16:creationId xmlns:a16="http://schemas.microsoft.com/office/drawing/2014/main" id="{524B82BB-37C9-808C-C024-15CF80536A41}"/>
              </a:ext>
            </a:extLst>
          </p:cNvPr>
          <p:cNvSpPr/>
          <p:nvPr/>
        </p:nvSpPr>
        <p:spPr>
          <a:xfrm>
            <a:off x="3803878" y="3188147"/>
            <a:ext cx="23879" cy="1956383"/>
          </a:xfrm>
          <a:prstGeom prst="line">
            <a:avLst/>
          </a:prstGeom>
          <a:noFill/>
          <a:ln w="15875">
            <a:solidFill>
              <a:srgbClr val="6B3FA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412609" y="3382108"/>
            <a:ext cx="16459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6FA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2467473" y="3446116"/>
            <a:ext cx="1536192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CONTROLLED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STREAM </a:t>
            </a:r>
            <a:endParaRPr lang="en-US" sz="850" dirty="0"/>
          </a:p>
        </p:txBody>
      </p:sp>
      <p:pic>
        <p:nvPicPr>
          <p:cNvPr id="99" name="Picture 98">
            <a:extLst>
              <a:ext uri="{FF2B5EF4-FFF2-40B4-BE49-F238E27FC236}">
                <a16:creationId xmlns:a16="http://schemas.microsoft.com/office/drawing/2014/main" id="{E06DB0BB-6A26-CB98-7CD9-31033291E2C7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555611" y="4485193"/>
            <a:ext cx="469580" cy="246830"/>
          </a:xfrm>
          <a:prstGeom prst="rect">
            <a:avLst/>
          </a:prstGeom>
        </p:spPr>
      </p:pic>
      <p:sp>
        <p:nvSpPr>
          <p:cNvPr id="216" name="Content"/>
          <p:cNvSpPr txBox="1"/>
          <p:nvPr/>
        </p:nvSpPr>
        <p:spPr>
          <a:xfrm>
            <a:off x="2549769" y="3939892"/>
            <a:ext cx="12344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topics for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consumers</a:t>
            </a:r>
            <a:endParaRPr lang="en-US" sz="750" dirty="0"/>
          </a:p>
        </p:txBody>
      </p:sp>
      <p:sp>
        <p:nvSpPr>
          <p:cNvPr id="116" name="Connector">
            <a:extLst>
              <a:ext uri="{FF2B5EF4-FFF2-40B4-BE49-F238E27FC236}">
                <a16:creationId xmlns:a16="http://schemas.microsoft.com/office/drawing/2014/main" id="{BF9E35DD-843B-DA18-70CE-19113F7F7797}"/>
              </a:ext>
            </a:extLst>
          </p:cNvPr>
          <p:cNvSpPr/>
          <p:nvPr/>
        </p:nvSpPr>
        <p:spPr>
          <a:xfrm flipV="1">
            <a:off x="1414686" y="4318059"/>
            <a:ext cx="1922" cy="375122"/>
          </a:xfrm>
          <a:prstGeom prst="line">
            <a:avLst/>
          </a:prstGeom>
          <a:noFill/>
          <a:ln w="19050">
            <a:solidFill>
              <a:srgbClr val="222222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pic>
        <p:nvPicPr>
          <p:cNvPr id="77" name="Graphic 76">
            <a:extLst>
              <a:ext uri="{FF2B5EF4-FFF2-40B4-BE49-F238E27FC236}">
                <a16:creationId xmlns:a16="http://schemas.microsoft.com/office/drawing/2014/main" id="{EDC3E579-DA21-4915-C1BD-6FC532EE30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406435" y="6100954"/>
            <a:ext cx="372883" cy="372883"/>
          </a:xfrm>
          <a:prstGeom prst="rect">
            <a:avLst/>
          </a:prstGeom>
        </p:spPr>
      </p:pic>
      <p:pic>
        <p:nvPicPr>
          <p:cNvPr id="126" name="Picture 125">
            <a:extLst>
              <a:ext uri="{FF2B5EF4-FFF2-40B4-BE49-F238E27FC236}">
                <a16:creationId xmlns:a16="http://schemas.microsoft.com/office/drawing/2014/main" id="{1589701C-1333-3EC9-3E3A-AB33917839B5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584309" y="6068184"/>
            <a:ext cx="347848" cy="384048"/>
          </a:xfrm>
          <a:prstGeom prst="rect">
            <a:avLst/>
          </a:prstGeom>
        </p:spPr>
      </p:pic>
      <p:pic>
        <p:nvPicPr>
          <p:cNvPr id="197" name="Picture 196">
            <a:extLst>
              <a:ext uri="{FF2B5EF4-FFF2-40B4-BE49-F238E27FC236}">
                <a16:creationId xmlns:a16="http://schemas.microsoft.com/office/drawing/2014/main" id="{57C6417F-3360-365D-5F1E-15EF31F37BD9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247913" y="6087595"/>
            <a:ext cx="391010" cy="391010"/>
          </a:xfrm>
          <a:prstGeom prst="rect">
            <a:avLst/>
          </a:prstGeom>
        </p:spPr>
      </p:pic>
      <p:pic>
        <p:nvPicPr>
          <p:cNvPr id="199" name="Picture 198">
            <a:extLst>
              <a:ext uri="{FF2B5EF4-FFF2-40B4-BE49-F238E27FC236}">
                <a16:creationId xmlns:a16="http://schemas.microsoft.com/office/drawing/2014/main" id="{19A85495-0089-987C-91ED-FC1AFB7374CA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070657" y="5961944"/>
            <a:ext cx="632108" cy="632108"/>
          </a:xfrm>
          <a:prstGeom prst="rect">
            <a:avLst/>
          </a:prstGeom>
        </p:spPr>
      </p:pic>
      <p:sp>
        <p:nvSpPr>
          <p:cNvPr id="48" name="Shape 86">
            <a:extLst>
              <a:ext uri="{FF2B5EF4-FFF2-40B4-BE49-F238E27FC236}">
                <a16:creationId xmlns:a16="http://schemas.microsoft.com/office/drawing/2014/main" id="{13C86F11-AC55-05BF-10CE-51DBDE52DD41}"/>
              </a:ext>
            </a:extLst>
          </p:cNvPr>
          <p:cNvSpPr/>
          <p:nvPr/>
        </p:nvSpPr>
        <p:spPr>
          <a:xfrm>
            <a:off x="4401430" y="2691347"/>
            <a:ext cx="1643757" cy="1"/>
          </a:xfrm>
          <a:prstGeom prst="line">
            <a:avLst/>
          </a:prstGeom>
          <a:noFill/>
          <a:ln w="15875">
            <a:solidFill>
              <a:srgbClr val="6B3FA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4CA06722-1FC9-F374-2B31-62D60E61DB79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454266" y="2853493"/>
            <a:ext cx="658834" cy="658834"/>
          </a:xfrm>
          <a:prstGeom prst="rect">
            <a:avLst/>
          </a:prstGeom>
        </p:spPr>
      </p:pic>
      <p:pic>
        <p:nvPicPr>
          <p:cNvPr id="192" name="Picture 191">
            <a:extLst>
              <a:ext uri="{FF2B5EF4-FFF2-40B4-BE49-F238E27FC236}">
                <a16:creationId xmlns:a16="http://schemas.microsoft.com/office/drawing/2014/main" id="{11BEB997-EBDA-E01C-137F-78D895382425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496089" y="2960703"/>
            <a:ext cx="575109" cy="143777"/>
          </a:xfrm>
          <a:prstGeom prst="rect">
            <a:avLst/>
          </a:prstGeom>
        </p:spPr>
      </p:pic>
      <p:sp>
        <p:nvSpPr>
          <p:cNvPr id="196" name="Content">
            <a:extLst>
              <a:ext uri="{FF2B5EF4-FFF2-40B4-BE49-F238E27FC236}">
                <a16:creationId xmlns:a16="http://schemas.microsoft.com/office/drawing/2014/main" id="{AD13CA04-4317-CA8F-D50B-7524BF810F16}"/>
              </a:ext>
            </a:extLst>
          </p:cNvPr>
          <p:cNvSpPr txBox="1"/>
          <p:nvPr/>
        </p:nvSpPr>
        <p:spPr>
          <a:xfrm>
            <a:off x="4438005" y="2731825"/>
            <a:ext cx="1554480" cy="31195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/>
            <a:r>
              <a:rPr lang="en-US" sz="750" dirty="0">
                <a:solidFill>
                  <a:srgbClr val="3A3A3A"/>
                </a:solidFill>
                <a:latin typeface="Calibri" pitchFamily="34" charset="0"/>
                <a:cs typeface="Calibri" pitchFamily="34" charset="-120"/>
              </a:rPr>
              <a:t>Tabular Lineage store</a:t>
            </a:r>
            <a:endParaRPr lang="en-US" sz="750" dirty="0"/>
          </a:p>
        </p:txBody>
      </p:sp>
      <p:sp>
        <p:nvSpPr>
          <p:cNvPr id="224" name="Rounded Rectangle 223"/>
          <p:cNvSpPr/>
          <p:nvPr/>
        </p:nvSpPr>
        <p:spPr>
          <a:xfrm>
            <a:off x="521207" y="256032"/>
            <a:ext cx="1627632" cy="7223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TextBox 224"/>
          <p:cNvSpPr txBox="1"/>
          <p:nvPr/>
        </p:nvSpPr>
        <p:spPr>
          <a:xfrm>
            <a:off x="630936" y="347472"/>
            <a:ext cx="1371600" cy="1371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1F2A44"/>
                </a:solidFill>
                <a:latin typeface="Calibri"/>
              </a:rPr>
              <a:t>COMPONENT STATUS</a:t>
            </a:r>
          </a:p>
        </p:txBody>
      </p:sp>
      <p:sp>
        <p:nvSpPr>
          <p:cNvPr id="226" name="Oval 225"/>
          <p:cNvSpPr/>
          <p:nvPr/>
        </p:nvSpPr>
        <p:spPr>
          <a:xfrm>
            <a:off x="640080" y="493776"/>
            <a:ext cx="109728" cy="109728"/>
          </a:xfrm>
          <a:prstGeom prst="ellipse">
            <a:avLst/>
          </a:prstGeom>
          <a:solidFill>
            <a:srgbClr val="1E8E3E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TextBox 226"/>
          <p:cNvSpPr txBox="1"/>
          <p:nvPr/>
        </p:nvSpPr>
        <p:spPr>
          <a:xfrm>
            <a:off x="795527" y="484632"/>
            <a:ext cx="1280160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3C4450"/>
                </a:solidFill>
                <a:latin typeface="Calibri"/>
              </a:rPr>
              <a:t>Exists today</a:t>
            </a:r>
          </a:p>
        </p:txBody>
      </p:sp>
      <p:sp>
        <p:nvSpPr>
          <p:cNvPr id="228" name="Oval 227"/>
          <p:cNvSpPr/>
          <p:nvPr/>
        </p:nvSpPr>
        <p:spPr>
          <a:xfrm>
            <a:off x="640080" y="635508"/>
            <a:ext cx="109728" cy="109728"/>
          </a:xfrm>
          <a:prstGeom prst="ellipse">
            <a:avLst/>
          </a:prstGeom>
          <a:solidFill>
            <a:srgbClr val="E8A33D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TextBox 228"/>
          <p:cNvSpPr txBox="1"/>
          <p:nvPr/>
        </p:nvSpPr>
        <p:spPr>
          <a:xfrm>
            <a:off x="795527" y="632664"/>
            <a:ext cx="1207062" cy="1154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en-US" sz="750" b="0" dirty="0">
                <a:solidFill>
                  <a:srgbClr val="3C4450"/>
                </a:solidFill>
                <a:latin typeface="Calibri"/>
              </a:rPr>
              <a:t>Migrated from another system</a:t>
            </a:r>
            <a:endParaRPr sz="750" b="0" dirty="0">
              <a:solidFill>
                <a:srgbClr val="3C4450"/>
              </a:solidFill>
              <a:latin typeface="Calibri"/>
            </a:endParaRPr>
          </a:p>
        </p:txBody>
      </p:sp>
      <p:sp>
        <p:nvSpPr>
          <p:cNvPr id="230" name="Oval 229"/>
          <p:cNvSpPr/>
          <p:nvPr/>
        </p:nvSpPr>
        <p:spPr>
          <a:xfrm>
            <a:off x="640080" y="777240"/>
            <a:ext cx="109728" cy="109728"/>
          </a:xfrm>
          <a:prstGeom prst="ellipse">
            <a:avLst/>
          </a:prstGeom>
          <a:solidFill>
            <a:srgbClr val="CC3B2E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TextBox 230"/>
          <p:cNvSpPr txBox="1"/>
          <p:nvPr/>
        </p:nvSpPr>
        <p:spPr>
          <a:xfrm>
            <a:off x="795527" y="768096"/>
            <a:ext cx="1280160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3C4450"/>
                </a:solidFill>
                <a:latin typeface="Calibri"/>
              </a:rPr>
              <a:t>Needs to be built</a:t>
            </a: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48626526-EB16-DD67-E8B1-BB8AA048F661}"/>
              </a:ext>
            </a:extLst>
          </p:cNvPr>
          <p:cNvSpPr/>
          <p:nvPr/>
        </p:nvSpPr>
        <p:spPr>
          <a:xfrm>
            <a:off x="2357745" y="520974"/>
            <a:ext cx="109728" cy="109728"/>
          </a:xfrm>
          <a:prstGeom prst="ellipse">
            <a:avLst/>
          </a:prstGeom>
          <a:solidFill>
            <a:srgbClr val="E8A33D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Oval 193">
            <a:extLst>
              <a:ext uri="{FF2B5EF4-FFF2-40B4-BE49-F238E27FC236}">
                <a16:creationId xmlns:a16="http://schemas.microsoft.com/office/drawing/2014/main" id="{22E371B9-58AA-DAF4-1D6D-80999708C380}"/>
              </a:ext>
            </a:extLst>
          </p:cNvPr>
          <p:cNvSpPr/>
          <p:nvPr/>
        </p:nvSpPr>
        <p:spPr>
          <a:xfrm>
            <a:off x="4261477" y="1841343"/>
            <a:ext cx="109728" cy="109728"/>
          </a:xfrm>
          <a:prstGeom prst="ellipse">
            <a:avLst/>
          </a:prstGeom>
          <a:solidFill>
            <a:srgbClr val="E8A33D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Oval 197">
            <a:extLst>
              <a:ext uri="{FF2B5EF4-FFF2-40B4-BE49-F238E27FC236}">
                <a16:creationId xmlns:a16="http://schemas.microsoft.com/office/drawing/2014/main" id="{42B8AF58-9E37-501E-0E30-7CE1CFCDB1E2}"/>
              </a:ext>
            </a:extLst>
          </p:cNvPr>
          <p:cNvSpPr/>
          <p:nvPr/>
        </p:nvSpPr>
        <p:spPr>
          <a:xfrm>
            <a:off x="2373918" y="3351504"/>
            <a:ext cx="109728" cy="109728"/>
          </a:xfrm>
          <a:prstGeom prst="ellipse">
            <a:avLst/>
          </a:prstGeom>
          <a:solidFill>
            <a:srgbClr val="E8A33D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Oval 199">
            <a:extLst>
              <a:ext uri="{FF2B5EF4-FFF2-40B4-BE49-F238E27FC236}">
                <a16:creationId xmlns:a16="http://schemas.microsoft.com/office/drawing/2014/main" id="{253ADEE8-E5E2-DF63-7293-B0CFDB67AD65}"/>
              </a:ext>
            </a:extLst>
          </p:cNvPr>
          <p:cNvSpPr/>
          <p:nvPr/>
        </p:nvSpPr>
        <p:spPr>
          <a:xfrm>
            <a:off x="4396251" y="3846847"/>
            <a:ext cx="109728" cy="109728"/>
          </a:xfrm>
          <a:prstGeom prst="ellipse">
            <a:avLst/>
          </a:prstGeom>
          <a:solidFill>
            <a:srgbClr val="1E8E3E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Oval 200">
            <a:extLst>
              <a:ext uri="{FF2B5EF4-FFF2-40B4-BE49-F238E27FC236}">
                <a16:creationId xmlns:a16="http://schemas.microsoft.com/office/drawing/2014/main" id="{8D77C667-C5C5-9C17-3A51-AAC12E767E3E}"/>
              </a:ext>
            </a:extLst>
          </p:cNvPr>
          <p:cNvSpPr/>
          <p:nvPr/>
        </p:nvSpPr>
        <p:spPr>
          <a:xfrm>
            <a:off x="5535285" y="3856016"/>
            <a:ext cx="109728" cy="109728"/>
          </a:xfrm>
          <a:prstGeom prst="ellipse">
            <a:avLst/>
          </a:prstGeom>
          <a:solidFill>
            <a:srgbClr val="1E8E3E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Oval 205">
            <a:extLst>
              <a:ext uri="{FF2B5EF4-FFF2-40B4-BE49-F238E27FC236}">
                <a16:creationId xmlns:a16="http://schemas.microsoft.com/office/drawing/2014/main" id="{5F093A4A-B12A-8CEB-C6E6-DC06D87FEE16}"/>
              </a:ext>
            </a:extLst>
          </p:cNvPr>
          <p:cNvSpPr/>
          <p:nvPr/>
        </p:nvSpPr>
        <p:spPr>
          <a:xfrm>
            <a:off x="6448030" y="1840396"/>
            <a:ext cx="109728" cy="109728"/>
          </a:xfrm>
          <a:prstGeom prst="ellipse">
            <a:avLst/>
          </a:prstGeom>
          <a:solidFill>
            <a:srgbClr val="CC3B2E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Oval 206">
            <a:extLst>
              <a:ext uri="{FF2B5EF4-FFF2-40B4-BE49-F238E27FC236}">
                <a16:creationId xmlns:a16="http://schemas.microsoft.com/office/drawing/2014/main" id="{8F30C2F8-084C-3E49-75BB-DF0E909CB200}"/>
              </a:ext>
            </a:extLst>
          </p:cNvPr>
          <p:cNvSpPr/>
          <p:nvPr/>
        </p:nvSpPr>
        <p:spPr>
          <a:xfrm>
            <a:off x="6680570" y="3843880"/>
            <a:ext cx="109728" cy="109728"/>
          </a:xfrm>
          <a:prstGeom prst="ellipse">
            <a:avLst/>
          </a:prstGeom>
          <a:solidFill>
            <a:srgbClr val="CC3B2E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Oval 207">
            <a:extLst>
              <a:ext uri="{FF2B5EF4-FFF2-40B4-BE49-F238E27FC236}">
                <a16:creationId xmlns:a16="http://schemas.microsoft.com/office/drawing/2014/main" id="{06CFD532-2F22-0AF7-6965-AB84667EFAC4}"/>
              </a:ext>
            </a:extLst>
          </p:cNvPr>
          <p:cNvSpPr/>
          <p:nvPr/>
        </p:nvSpPr>
        <p:spPr>
          <a:xfrm>
            <a:off x="8051166" y="1838263"/>
            <a:ext cx="109728" cy="109728"/>
          </a:xfrm>
          <a:prstGeom prst="ellipse">
            <a:avLst/>
          </a:prstGeom>
          <a:solidFill>
            <a:srgbClr val="CC3B2E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Oval 208">
            <a:extLst>
              <a:ext uri="{FF2B5EF4-FFF2-40B4-BE49-F238E27FC236}">
                <a16:creationId xmlns:a16="http://schemas.microsoft.com/office/drawing/2014/main" id="{137C554C-4A13-A1DB-ED18-CCB13C29E166}"/>
              </a:ext>
            </a:extLst>
          </p:cNvPr>
          <p:cNvSpPr/>
          <p:nvPr/>
        </p:nvSpPr>
        <p:spPr>
          <a:xfrm>
            <a:off x="2376032" y="1886628"/>
            <a:ext cx="109728" cy="109728"/>
          </a:xfrm>
          <a:prstGeom prst="ellipse">
            <a:avLst/>
          </a:prstGeom>
          <a:solidFill>
            <a:srgbClr val="E8A33D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C51A357-9B9D-28AD-4927-A6F16BF2A20E}"/>
              </a:ext>
            </a:extLst>
          </p:cNvPr>
          <p:cNvSpPr/>
          <p:nvPr/>
        </p:nvSpPr>
        <p:spPr>
          <a:xfrm>
            <a:off x="4383681" y="1839930"/>
            <a:ext cx="109728" cy="109728"/>
          </a:xfrm>
          <a:prstGeom prst="ellipse">
            <a:avLst/>
          </a:prstGeom>
          <a:solidFill>
            <a:srgbClr val="1E8E3E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468</TotalTime>
  <Words>567</Words>
  <Application>Microsoft Macintosh PowerPoint</Application>
  <PresentationFormat>Widescreen</PresentationFormat>
  <Paragraphs>141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Aaron W</cp:lastModifiedBy>
  <cp:revision>87</cp:revision>
  <dcterms:created xsi:type="dcterms:W3CDTF">2026-09-01T23:58:44Z</dcterms:created>
  <dcterms:modified xsi:type="dcterms:W3CDTF">2026-09-21T06:08:31Z</dcterms:modified>
</cp:coreProperties>
</file>