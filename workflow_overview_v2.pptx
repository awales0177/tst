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71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System 1 is the tracker running through every screen; Systems 2-4 are the registration, catalog and product screens; System 5 is the data lakes and System 6 the profile providers feeding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catalog is fed by two families of source systems: System 5, the data lakes (n+1, n+2, n+3), and System 6, the profile providers (p+1, p+2).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 2, 3 and 4 are the three screens. System 1, the tracker, is shared across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5 holds the records; System 6 supplies tags, attributes and ingested detail. Both feed the catalog, but only System 5 is written to through Registration. Provider descriptions are placeholders - swap in the real provider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value of the architecture: controlled input through System 2, unified browsing in System 3, drill-down in System 4, all fed by Systems 5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229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2B2B33"/>
          </a:solidFill>
          <a:ln w="19050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146304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2B2B33"/>
          </a:solidFill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932688"/>
            <a:ext cx="740664" cy="740664"/>
          </a:xfrm>
          <a:prstGeom prst="ellipse">
            <a:avLst/>
          </a:prstGeom>
          <a:ln w="2222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Sources to Insight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1–6: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r>
              <a:rPr lang="en-US" sz="18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8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r>
              <a:rPr lang="en-US" sz="18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03504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Shared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C7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001268"/>
            <a:ext cx="173736" cy="1737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4440" y="1024128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104120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466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1001268"/>
            <a:ext cx="173736" cy="1737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561320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0" y="1001268"/>
            <a:ext cx="173736" cy="17373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018520" y="93268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7100" y="1001268"/>
            <a:ext cx="173736" cy="17373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089904" y="1307592"/>
            <a:ext cx="0" cy="155448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2331720" y="1463040"/>
            <a:ext cx="7525512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2331720" y="1463040"/>
            <a:ext cx="0" cy="27432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089904" y="1463040"/>
            <a:ext cx="0" cy="27432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9857232" y="1463040"/>
            <a:ext cx="0" cy="27432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40080" y="1737360"/>
            <a:ext cx="338328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9050">
            <a:solidFill>
              <a:srgbClr val="C7C7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768096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77824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87552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1170432" y="17693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Registration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2020824"/>
            <a:ext cx="338328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758952" y="21031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758952" y="22631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6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795528" y="2514600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66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042416" y="2560320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73252" y="2670048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95528" y="299923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042416" y="3044952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73252" y="3154680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95528" y="3483864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1042416" y="3529584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873252" y="3639312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795528" y="3968496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1042416" y="4014216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73252" y="4123944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795528" y="44531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1042416" y="4498848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1508760" y="2020824"/>
            <a:ext cx="0" cy="3026664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1645920" y="2130552"/>
            <a:ext cx="1554480" cy="91440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1645920" y="2359152"/>
            <a:ext cx="86868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1645920" y="246888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1645920" y="2852928"/>
            <a:ext cx="68580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1645920" y="2962656"/>
            <a:ext cx="22402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1645920" y="3639312"/>
            <a:ext cx="54864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2834640" y="3639312"/>
            <a:ext cx="54864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1645920" y="3749040"/>
            <a:ext cx="105613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2830068" y="3749040"/>
            <a:ext cx="105613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2473452" y="373989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3657600" y="373989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1645920" y="4133088"/>
            <a:ext cx="22402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7C7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8044" y="4242816"/>
            <a:ext cx="256032" cy="256032"/>
          </a:xfrm>
          <a:prstGeom prst="rect">
            <a:avLst/>
          </a:prstGeom>
        </p:spPr>
      </p:pic>
      <p:sp>
        <p:nvSpPr>
          <p:cNvPr id="55" name="Shape 48"/>
          <p:cNvSpPr/>
          <p:nvPr/>
        </p:nvSpPr>
        <p:spPr>
          <a:xfrm>
            <a:off x="3154680" y="4736592"/>
            <a:ext cx="731520" cy="201168"/>
          </a:xfrm>
          <a:prstGeom prst="roundRect">
            <a:avLst>
              <a:gd name="adj" fmla="val 22727"/>
            </a:avLst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4398264" y="1737360"/>
            <a:ext cx="338328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9050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4526280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1"/>
          <p:cNvSpPr/>
          <p:nvPr/>
        </p:nvSpPr>
        <p:spPr>
          <a:xfrm>
            <a:off x="4636008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2"/>
          <p:cNvSpPr/>
          <p:nvPr/>
        </p:nvSpPr>
        <p:spPr>
          <a:xfrm>
            <a:off x="4745736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3"/>
          <p:cNvSpPr txBox="1"/>
          <p:nvPr/>
        </p:nvSpPr>
        <p:spPr>
          <a:xfrm>
            <a:off x="4928616" y="17693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Catalog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4398264" y="2020824"/>
            <a:ext cx="338328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5"/>
          <p:cNvSpPr txBox="1"/>
          <p:nvPr/>
        </p:nvSpPr>
        <p:spPr>
          <a:xfrm>
            <a:off x="4517136" y="21031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950" dirty="0"/>
          </a:p>
        </p:txBody>
      </p:sp>
      <p:sp>
        <p:nvSpPr>
          <p:cNvPr id="63" name="Text 56"/>
          <p:cNvSpPr txBox="1"/>
          <p:nvPr/>
        </p:nvSpPr>
        <p:spPr>
          <a:xfrm>
            <a:off x="4517136" y="22631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6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700" dirty="0"/>
          </a:p>
        </p:txBody>
      </p:sp>
      <p:sp>
        <p:nvSpPr>
          <p:cNvPr id="64" name="Shape 57"/>
          <p:cNvSpPr/>
          <p:nvPr/>
        </p:nvSpPr>
        <p:spPr>
          <a:xfrm>
            <a:off x="4553712" y="2514600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66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8"/>
          <p:cNvSpPr/>
          <p:nvPr/>
        </p:nvSpPr>
        <p:spPr>
          <a:xfrm>
            <a:off x="4800600" y="2560320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9"/>
          <p:cNvSpPr/>
          <p:nvPr/>
        </p:nvSpPr>
        <p:spPr>
          <a:xfrm>
            <a:off x="4631436" y="2670048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0"/>
          <p:cNvSpPr/>
          <p:nvPr/>
        </p:nvSpPr>
        <p:spPr>
          <a:xfrm>
            <a:off x="4553712" y="299923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1"/>
          <p:cNvSpPr/>
          <p:nvPr/>
        </p:nvSpPr>
        <p:spPr>
          <a:xfrm>
            <a:off x="4800600" y="3044952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2"/>
          <p:cNvSpPr/>
          <p:nvPr/>
        </p:nvSpPr>
        <p:spPr>
          <a:xfrm>
            <a:off x="4631436" y="3154680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3"/>
          <p:cNvSpPr/>
          <p:nvPr/>
        </p:nvSpPr>
        <p:spPr>
          <a:xfrm>
            <a:off x="4553712" y="3483864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4"/>
          <p:cNvSpPr/>
          <p:nvPr/>
        </p:nvSpPr>
        <p:spPr>
          <a:xfrm>
            <a:off x="4800600" y="3529584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5"/>
          <p:cNvSpPr/>
          <p:nvPr/>
        </p:nvSpPr>
        <p:spPr>
          <a:xfrm>
            <a:off x="4631436" y="3639312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6"/>
          <p:cNvSpPr/>
          <p:nvPr/>
        </p:nvSpPr>
        <p:spPr>
          <a:xfrm>
            <a:off x="4553712" y="3968496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7"/>
          <p:cNvSpPr/>
          <p:nvPr/>
        </p:nvSpPr>
        <p:spPr>
          <a:xfrm>
            <a:off x="4800600" y="4014216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8"/>
          <p:cNvSpPr/>
          <p:nvPr/>
        </p:nvSpPr>
        <p:spPr>
          <a:xfrm>
            <a:off x="4631436" y="4123944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9"/>
          <p:cNvSpPr/>
          <p:nvPr/>
        </p:nvSpPr>
        <p:spPr>
          <a:xfrm>
            <a:off x="4553712" y="44531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0"/>
          <p:cNvSpPr/>
          <p:nvPr/>
        </p:nvSpPr>
        <p:spPr>
          <a:xfrm>
            <a:off x="4800600" y="4498848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1"/>
          <p:cNvSpPr/>
          <p:nvPr/>
        </p:nvSpPr>
        <p:spPr>
          <a:xfrm>
            <a:off x="5266944" y="2020824"/>
            <a:ext cx="0" cy="3026664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2"/>
          <p:cNvSpPr/>
          <p:nvPr/>
        </p:nvSpPr>
        <p:spPr>
          <a:xfrm>
            <a:off x="5404104" y="2130552"/>
            <a:ext cx="2240280" cy="256032"/>
          </a:xfrm>
          <a:prstGeom prst="roundRect">
            <a:avLst>
              <a:gd name="adj" fmla="val 32143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7256" y="2189988"/>
            <a:ext cx="146304" cy="146304"/>
          </a:xfrm>
          <a:prstGeom prst="rect">
            <a:avLst/>
          </a:prstGeom>
        </p:spPr>
      </p:pic>
      <p:sp>
        <p:nvSpPr>
          <p:cNvPr id="81" name="Shape 73"/>
          <p:cNvSpPr/>
          <p:nvPr/>
        </p:nvSpPr>
        <p:spPr>
          <a:xfrm>
            <a:off x="5404104" y="2496312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4"/>
          <p:cNvSpPr/>
          <p:nvPr/>
        </p:nvSpPr>
        <p:spPr>
          <a:xfrm>
            <a:off x="5458968" y="2537460"/>
            <a:ext cx="73152" cy="73152"/>
          </a:xfrm>
          <a:prstGeom prst="ellipse">
            <a:avLst/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75"/>
          <p:cNvSpPr/>
          <p:nvPr/>
        </p:nvSpPr>
        <p:spPr>
          <a:xfrm>
            <a:off x="6025896" y="2496312"/>
            <a:ext cx="457200" cy="1554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76"/>
          <p:cNvSpPr/>
          <p:nvPr/>
        </p:nvSpPr>
        <p:spPr>
          <a:xfrm>
            <a:off x="6080760" y="2537460"/>
            <a:ext cx="73152" cy="73152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7"/>
          <p:cNvSpPr/>
          <p:nvPr/>
        </p:nvSpPr>
        <p:spPr>
          <a:xfrm>
            <a:off x="6574536" y="2496312"/>
            <a:ext cx="457200" cy="1554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78"/>
          <p:cNvSpPr/>
          <p:nvPr/>
        </p:nvSpPr>
        <p:spPr>
          <a:xfrm>
            <a:off x="6629400" y="2537460"/>
            <a:ext cx="73152" cy="73152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79"/>
          <p:cNvSpPr/>
          <p:nvPr/>
        </p:nvSpPr>
        <p:spPr>
          <a:xfrm>
            <a:off x="7123176" y="2496312"/>
            <a:ext cx="457200" cy="15544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0"/>
          <p:cNvSpPr/>
          <p:nvPr/>
        </p:nvSpPr>
        <p:spPr>
          <a:xfrm>
            <a:off x="7178040" y="2537460"/>
            <a:ext cx="73152" cy="73152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1"/>
          <p:cNvSpPr/>
          <p:nvPr/>
        </p:nvSpPr>
        <p:spPr>
          <a:xfrm>
            <a:off x="5404104" y="2761488"/>
            <a:ext cx="2240280" cy="18288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2"/>
          <p:cNvSpPr/>
          <p:nvPr/>
        </p:nvSpPr>
        <p:spPr>
          <a:xfrm>
            <a:off x="5477256" y="281635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3"/>
          <p:cNvSpPr/>
          <p:nvPr/>
        </p:nvSpPr>
        <p:spPr>
          <a:xfrm>
            <a:off x="6044184" y="2816352"/>
            <a:ext cx="640080" cy="73152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4"/>
          <p:cNvSpPr/>
          <p:nvPr/>
        </p:nvSpPr>
        <p:spPr>
          <a:xfrm>
            <a:off x="7187184" y="281635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85"/>
          <p:cNvSpPr/>
          <p:nvPr/>
        </p:nvSpPr>
        <p:spPr>
          <a:xfrm>
            <a:off x="5440680" y="2999232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6"/>
          <p:cNvSpPr/>
          <p:nvPr/>
        </p:nvSpPr>
        <p:spPr>
          <a:xfrm>
            <a:off x="5715000" y="300837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87"/>
          <p:cNvSpPr/>
          <p:nvPr/>
        </p:nvSpPr>
        <p:spPr>
          <a:xfrm>
            <a:off x="5715000" y="31089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88"/>
          <p:cNvSpPr/>
          <p:nvPr/>
        </p:nvSpPr>
        <p:spPr>
          <a:xfrm>
            <a:off x="6638544" y="3026664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89"/>
          <p:cNvSpPr/>
          <p:nvPr/>
        </p:nvSpPr>
        <p:spPr>
          <a:xfrm>
            <a:off x="7351776" y="307238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0"/>
          <p:cNvSpPr/>
          <p:nvPr/>
        </p:nvSpPr>
        <p:spPr>
          <a:xfrm>
            <a:off x="7424928" y="307238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1"/>
          <p:cNvSpPr/>
          <p:nvPr/>
        </p:nvSpPr>
        <p:spPr>
          <a:xfrm>
            <a:off x="7498080" y="307238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2"/>
          <p:cNvSpPr/>
          <p:nvPr/>
        </p:nvSpPr>
        <p:spPr>
          <a:xfrm>
            <a:off x="5404104" y="3282696"/>
            <a:ext cx="224028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3"/>
          <p:cNvSpPr/>
          <p:nvPr/>
        </p:nvSpPr>
        <p:spPr>
          <a:xfrm>
            <a:off x="5440680" y="3383280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94"/>
          <p:cNvSpPr/>
          <p:nvPr/>
        </p:nvSpPr>
        <p:spPr>
          <a:xfrm>
            <a:off x="5715000" y="3392424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95"/>
          <p:cNvSpPr/>
          <p:nvPr/>
        </p:nvSpPr>
        <p:spPr>
          <a:xfrm>
            <a:off x="5715000" y="349300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6638544" y="3410712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7351776" y="3456432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98"/>
          <p:cNvSpPr/>
          <p:nvPr/>
        </p:nvSpPr>
        <p:spPr>
          <a:xfrm>
            <a:off x="7424928" y="3456432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99"/>
          <p:cNvSpPr/>
          <p:nvPr/>
        </p:nvSpPr>
        <p:spPr>
          <a:xfrm>
            <a:off x="7498080" y="3456432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0"/>
          <p:cNvSpPr/>
          <p:nvPr/>
        </p:nvSpPr>
        <p:spPr>
          <a:xfrm>
            <a:off x="5404104" y="3666744"/>
            <a:ext cx="224028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1"/>
          <p:cNvSpPr/>
          <p:nvPr/>
        </p:nvSpPr>
        <p:spPr>
          <a:xfrm>
            <a:off x="5440680" y="3767328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2"/>
          <p:cNvSpPr/>
          <p:nvPr/>
        </p:nvSpPr>
        <p:spPr>
          <a:xfrm>
            <a:off x="5715000" y="3776472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3"/>
          <p:cNvSpPr/>
          <p:nvPr/>
        </p:nvSpPr>
        <p:spPr>
          <a:xfrm>
            <a:off x="5715000" y="3877056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04"/>
          <p:cNvSpPr/>
          <p:nvPr/>
        </p:nvSpPr>
        <p:spPr>
          <a:xfrm>
            <a:off x="6638544" y="3794760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7351776" y="384048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7424928" y="384048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07"/>
          <p:cNvSpPr/>
          <p:nvPr/>
        </p:nvSpPr>
        <p:spPr>
          <a:xfrm>
            <a:off x="7498080" y="384048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08"/>
          <p:cNvSpPr/>
          <p:nvPr/>
        </p:nvSpPr>
        <p:spPr>
          <a:xfrm>
            <a:off x="5404104" y="4050792"/>
            <a:ext cx="224028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09"/>
          <p:cNvSpPr/>
          <p:nvPr/>
        </p:nvSpPr>
        <p:spPr>
          <a:xfrm>
            <a:off x="5440680" y="4151376"/>
            <a:ext cx="182880" cy="182880"/>
          </a:xfrm>
          <a:prstGeom prst="rect">
            <a:avLst/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0"/>
          <p:cNvSpPr/>
          <p:nvPr/>
        </p:nvSpPr>
        <p:spPr>
          <a:xfrm>
            <a:off x="5715000" y="4160520"/>
            <a:ext cx="731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1"/>
          <p:cNvSpPr/>
          <p:nvPr/>
        </p:nvSpPr>
        <p:spPr>
          <a:xfrm>
            <a:off x="5715000" y="4261104"/>
            <a:ext cx="5029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2"/>
          <p:cNvSpPr/>
          <p:nvPr/>
        </p:nvSpPr>
        <p:spPr>
          <a:xfrm>
            <a:off x="6638544" y="4178808"/>
            <a:ext cx="384048" cy="118872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3"/>
          <p:cNvSpPr/>
          <p:nvPr/>
        </p:nvSpPr>
        <p:spPr>
          <a:xfrm>
            <a:off x="7351776" y="4224528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14"/>
          <p:cNvSpPr/>
          <p:nvPr/>
        </p:nvSpPr>
        <p:spPr>
          <a:xfrm>
            <a:off x="7424928" y="4224528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5"/>
          <p:cNvSpPr/>
          <p:nvPr/>
        </p:nvSpPr>
        <p:spPr>
          <a:xfrm>
            <a:off x="7498080" y="4224528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16"/>
          <p:cNvSpPr/>
          <p:nvPr/>
        </p:nvSpPr>
        <p:spPr>
          <a:xfrm>
            <a:off x="6213348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17"/>
          <p:cNvSpPr/>
          <p:nvPr/>
        </p:nvSpPr>
        <p:spPr>
          <a:xfrm>
            <a:off x="6350508" y="4663440"/>
            <a:ext cx="64008" cy="64008"/>
          </a:xfrm>
          <a:prstGeom prst="ellipse">
            <a:avLst/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18"/>
          <p:cNvSpPr/>
          <p:nvPr/>
        </p:nvSpPr>
        <p:spPr>
          <a:xfrm>
            <a:off x="6487668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19"/>
          <p:cNvSpPr/>
          <p:nvPr/>
        </p:nvSpPr>
        <p:spPr>
          <a:xfrm>
            <a:off x="6624828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0"/>
          <p:cNvSpPr/>
          <p:nvPr/>
        </p:nvSpPr>
        <p:spPr>
          <a:xfrm>
            <a:off x="6761988" y="4663440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1"/>
          <p:cNvSpPr/>
          <p:nvPr/>
        </p:nvSpPr>
        <p:spPr>
          <a:xfrm>
            <a:off x="6912864" y="4754880"/>
            <a:ext cx="731520" cy="201168"/>
          </a:xfrm>
          <a:prstGeom prst="roundRect">
            <a:avLst>
              <a:gd name="adj" fmla="val 22727"/>
            </a:avLst>
          </a:prstGeom>
          <a:solidFill>
            <a:srgbClr val="F466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2"/>
          <p:cNvSpPr/>
          <p:nvPr/>
        </p:nvSpPr>
        <p:spPr>
          <a:xfrm>
            <a:off x="8165592" y="1737360"/>
            <a:ext cx="338328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3"/>
          <p:cNvSpPr/>
          <p:nvPr/>
        </p:nvSpPr>
        <p:spPr>
          <a:xfrm>
            <a:off x="8293608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24"/>
          <p:cNvSpPr/>
          <p:nvPr/>
        </p:nvSpPr>
        <p:spPr>
          <a:xfrm>
            <a:off x="8403336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25"/>
          <p:cNvSpPr/>
          <p:nvPr/>
        </p:nvSpPr>
        <p:spPr>
          <a:xfrm>
            <a:off x="8513064" y="1847088"/>
            <a:ext cx="64008" cy="64008"/>
          </a:xfrm>
          <a:prstGeom prst="ellipse">
            <a:avLst/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26"/>
          <p:cNvSpPr txBox="1"/>
          <p:nvPr/>
        </p:nvSpPr>
        <p:spPr>
          <a:xfrm>
            <a:off x="8695944" y="17693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</a:t>
            </a: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Products</a:t>
            </a:r>
            <a:endParaRPr lang="en-US" sz="1050" dirty="0"/>
          </a:p>
        </p:txBody>
      </p:sp>
      <p:sp>
        <p:nvSpPr>
          <p:cNvPr id="135" name="Shape 127"/>
          <p:cNvSpPr/>
          <p:nvPr/>
        </p:nvSpPr>
        <p:spPr>
          <a:xfrm>
            <a:off x="8165592" y="2020824"/>
            <a:ext cx="3383280" cy="0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28"/>
          <p:cNvSpPr txBox="1"/>
          <p:nvPr/>
        </p:nvSpPr>
        <p:spPr>
          <a:xfrm>
            <a:off x="8284464" y="21031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950" dirty="0"/>
          </a:p>
        </p:txBody>
      </p:sp>
      <p:sp>
        <p:nvSpPr>
          <p:cNvPr id="137" name="Text 129"/>
          <p:cNvSpPr txBox="1"/>
          <p:nvPr/>
        </p:nvSpPr>
        <p:spPr>
          <a:xfrm>
            <a:off x="8284464" y="22631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6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700" dirty="0"/>
          </a:p>
        </p:txBody>
      </p:sp>
      <p:sp>
        <p:nvSpPr>
          <p:cNvPr id="138" name="Shape 130"/>
          <p:cNvSpPr/>
          <p:nvPr/>
        </p:nvSpPr>
        <p:spPr>
          <a:xfrm>
            <a:off x="8321040" y="2514600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1"/>
          <p:cNvSpPr/>
          <p:nvPr/>
        </p:nvSpPr>
        <p:spPr>
          <a:xfrm>
            <a:off x="8567928" y="2560320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2"/>
          <p:cNvSpPr/>
          <p:nvPr/>
        </p:nvSpPr>
        <p:spPr>
          <a:xfrm>
            <a:off x="8398764" y="2670048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3"/>
          <p:cNvSpPr/>
          <p:nvPr/>
        </p:nvSpPr>
        <p:spPr>
          <a:xfrm>
            <a:off x="8321040" y="299923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34"/>
          <p:cNvSpPr/>
          <p:nvPr/>
        </p:nvSpPr>
        <p:spPr>
          <a:xfrm>
            <a:off x="8567928" y="3044952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35"/>
          <p:cNvSpPr/>
          <p:nvPr/>
        </p:nvSpPr>
        <p:spPr>
          <a:xfrm>
            <a:off x="8398764" y="3154680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36"/>
          <p:cNvSpPr/>
          <p:nvPr/>
        </p:nvSpPr>
        <p:spPr>
          <a:xfrm>
            <a:off x="8321040" y="3483864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37"/>
          <p:cNvSpPr/>
          <p:nvPr/>
        </p:nvSpPr>
        <p:spPr>
          <a:xfrm>
            <a:off x="8567928" y="3529584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38"/>
          <p:cNvSpPr/>
          <p:nvPr/>
        </p:nvSpPr>
        <p:spPr>
          <a:xfrm>
            <a:off x="8398764" y="3639312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39"/>
          <p:cNvSpPr/>
          <p:nvPr/>
        </p:nvSpPr>
        <p:spPr>
          <a:xfrm>
            <a:off x="8321040" y="3968496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0"/>
          <p:cNvSpPr/>
          <p:nvPr/>
        </p:nvSpPr>
        <p:spPr>
          <a:xfrm>
            <a:off x="8567928" y="4014216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1"/>
          <p:cNvSpPr/>
          <p:nvPr/>
        </p:nvSpPr>
        <p:spPr>
          <a:xfrm>
            <a:off x="8398764" y="4123944"/>
            <a:ext cx="0" cy="329184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2"/>
          <p:cNvSpPr/>
          <p:nvPr/>
        </p:nvSpPr>
        <p:spPr>
          <a:xfrm>
            <a:off x="8321040" y="44531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3"/>
          <p:cNvSpPr/>
          <p:nvPr/>
        </p:nvSpPr>
        <p:spPr>
          <a:xfrm>
            <a:off x="8567928" y="4498848"/>
            <a:ext cx="347472" cy="73152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44"/>
          <p:cNvSpPr/>
          <p:nvPr/>
        </p:nvSpPr>
        <p:spPr>
          <a:xfrm>
            <a:off x="9034272" y="2020824"/>
            <a:ext cx="0" cy="3026664"/>
          </a:xfrm>
          <a:prstGeom prst="line">
            <a:avLst/>
          </a:prstGeom>
          <a:noFill/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45"/>
          <p:cNvSpPr/>
          <p:nvPr/>
        </p:nvSpPr>
        <p:spPr>
          <a:xfrm>
            <a:off x="9171432" y="21305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9448" y="2258568"/>
            <a:ext cx="246888" cy="246888"/>
          </a:xfrm>
          <a:prstGeom prst="rect">
            <a:avLst/>
          </a:prstGeom>
        </p:spPr>
      </p:pic>
      <p:sp>
        <p:nvSpPr>
          <p:cNvPr id="155" name="Shape 146"/>
          <p:cNvSpPr/>
          <p:nvPr/>
        </p:nvSpPr>
        <p:spPr>
          <a:xfrm>
            <a:off x="9811512" y="2157984"/>
            <a:ext cx="1371600" cy="82296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47"/>
          <p:cNvSpPr/>
          <p:nvPr/>
        </p:nvSpPr>
        <p:spPr>
          <a:xfrm>
            <a:off x="9811512" y="2322576"/>
            <a:ext cx="109728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48"/>
          <p:cNvSpPr/>
          <p:nvPr/>
        </p:nvSpPr>
        <p:spPr>
          <a:xfrm>
            <a:off x="9811512" y="2450592"/>
            <a:ext cx="128016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49"/>
          <p:cNvSpPr/>
          <p:nvPr/>
        </p:nvSpPr>
        <p:spPr>
          <a:xfrm>
            <a:off x="9171432" y="2798064"/>
            <a:ext cx="45720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0"/>
          <p:cNvSpPr/>
          <p:nvPr/>
        </p:nvSpPr>
        <p:spPr>
          <a:xfrm>
            <a:off x="9738360" y="280720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1"/>
          <p:cNvSpPr/>
          <p:nvPr/>
        </p:nvSpPr>
        <p:spPr>
          <a:xfrm>
            <a:off x="10213848" y="280720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2"/>
          <p:cNvSpPr/>
          <p:nvPr/>
        </p:nvSpPr>
        <p:spPr>
          <a:xfrm>
            <a:off x="10689336" y="280720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53"/>
          <p:cNvSpPr/>
          <p:nvPr/>
        </p:nvSpPr>
        <p:spPr>
          <a:xfrm>
            <a:off x="9171432" y="2944368"/>
            <a:ext cx="2240280" cy="0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54"/>
          <p:cNvSpPr/>
          <p:nvPr/>
        </p:nvSpPr>
        <p:spPr>
          <a:xfrm>
            <a:off x="9171432" y="3054096"/>
            <a:ext cx="22402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55"/>
          <p:cNvSpPr/>
          <p:nvPr/>
        </p:nvSpPr>
        <p:spPr>
          <a:xfrm>
            <a:off x="9262872" y="3145536"/>
            <a:ext cx="1874520" cy="64008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56"/>
          <p:cNvSpPr/>
          <p:nvPr/>
        </p:nvSpPr>
        <p:spPr>
          <a:xfrm>
            <a:off x="9262872" y="3264408"/>
            <a:ext cx="1417320" cy="54864"/>
          </a:xfrm>
          <a:prstGeom prst="roundRect">
            <a:avLst>
              <a:gd name="adj" fmla="val 50000"/>
            </a:avLst>
          </a:prstGeom>
          <a:solidFill>
            <a:srgbClr val="D3D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57"/>
          <p:cNvSpPr/>
          <p:nvPr/>
        </p:nvSpPr>
        <p:spPr>
          <a:xfrm>
            <a:off x="9171432" y="3529584"/>
            <a:ext cx="6858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4604" y="3602736"/>
            <a:ext cx="219456" cy="219456"/>
          </a:xfrm>
          <a:prstGeom prst="rect">
            <a:avLst/>
          </a:prstGeom>
        </p:spPr>
      </p:pic>
      <p:sp>
        <p:nvSpPr>
          <p:cNvPr id="168" name="Shape 158"/>
          <p:cNvSpPr/>
          <p:nvPr/>
        </p:nvSpPr>
        <p:spPr>
          <a:xfrm>
            <a:off x="9331452" y="3913632"/>
            <a:ext cx="36576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59"/>
          <p:cNvSpPr/>
          <p:nvPr/>
        </p:nvSpPr>
        <p:spPr>
          <a:xfrm>
            <a:off x="9948672" y="3529584"/>
            <a:ext cx="6858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1844" y="3602736"/>
            <a:ext cx="219456" cy="219456"/>
          </a:xfrm>
          <a:prstGeom prst="rect">
            <a:avLst/>
          </a:prstGeom>
        </p:spPr>
      </p:pic>
      <p:sp>
        <p:nvSpPr>
          <p:cNvPr id="171" name="Shape 160"/>
          <p:cNvSpPr/>
          <p:nvPr/>
        </p:nvSpPr>
        <p:spPr>
          <a:xfrm>
            <a:off x="10108692" y="3913632"/>
            <a:ext cx="36576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61"/>
          <p:cNvSpPr/>
          <p:nvPr/>
        </p:nvSpPr>
        <p:spPr>
          <a:xfrm>
            <a:off x="10725912" y="3529584"/>
            <a:ext cx="6858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59084" y="3602736"/>
            <a:ext cx="219456" cy="219456"/>
          </a:xfrm>
          <a:prstGeom prst="rect">
            <a:avLst/>
          </a:prstGeom>
        </p:spPr>
      </p:pic>
      <p:sp>
        <p:nvSpPr>
          <p:cNvPr id="174" name="Shape 162"/>
          <p:cNvSpPr/>
          <p:nvPr/>
        </p:nvSpPr>
        <p:spPr>
          <a:xfrm>
            <a:off x="10885932" y="3913632"/>
            <a:ext cx="36576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63"/>
          <p:cNvSpPr/>
          <p:nvPr/>
        </p:nvSpPr>
        <p:spPr>
          <a:xfrm>
            <a:off x="9171432" y="4224528"/>
            <a:ext cx="2240280" cy="146304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64"/>
          <p:cNvSpPr/>
          <p:nvPr/>
        </p:nvSpPr>
        <p:spPr>
          <a:xfrm>
            <a:off x="9226296" y="4265676"/>
            <a:ext cx="457200" cy="54864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65"/>
          <p:cNvSpPr/>
          <p:nvPr/>
        </p:nvSpPr>
        <p:spPr>
          <a:xfrm>
            <a:off x="11000232" y="4265676"/>
            <a:ext cx="320040" cy="54864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66"/>
          <p:cNvSpPr/>
          <p:nvPr/>
        </p:nvSpPr>
        <p:spPr>
          <a:xfrm>
            <a:off x="9226296" y="4462272"/>
            <a:ext cx="77724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67"/>
          <p:cNvSpPr/>
          <p:nvPr/>
        </p:nvSpPr>
        <p:spPr>
          <a:xfrm>
            <a:off x="10405872" y="4443984"/>
            <a:ext cx="365760" cy="100584"/>
          </a:xfrm>
          <a:prstGeom prst="roundRect">
            <a:avLst>
              <a:gd name="adj" fmla="val 50000"/>
            </a:avLst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68"/>
          <p:cNvSpPr/>
          <p:nvPr/>
        </p:nvSpPr>
        <p:spPr>
          <a:xfrm>
            <a:off x="11283696" y="4471416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69"/>
          <p:cNvSpPr/>
          <p:nvPr/>
        </p:nvSpPr>
        <p:spPr>
          <a:xfrm>
            <a:off x="9226296" y="4654296"/>
            <a:ext cx="77724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70"/>
          <p:cNvSpPr/>
          <p:nvPr/>
        </p:nvSpPr>
        <p:spPr>
          <a:xfrm>
            <a:off x="10405872" y="4636008"/>
            <a:ext cx="365760" cy="1005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71"/>
          <p:cNvSpPr/>
          <p:nvPr/>
        </p:nvSpPr>
        <p:spPr>
          <a:xfrm>
            <a:off x="11283696" y="4663440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72"/>
          <p:cNvSpPr/>
          <p:nvPr/>
        </p:nvSpPr>
        <p:spPr>
          <a:xfrm>
            <a:off x="9226296" y="4846320"/>
            <a:ext cx="777240" cy="54864"/>
          </a:xfrm>
          <a:prstGeom prst="roundRect">
            <a:avLst>
              <a:gd name="adj" fmla="val 50000"/>
            </a:avLst>
          </a:prstGeom>
          <a:solidFill>
            <a:srgbClr val="D9D9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73"/>
          <p:cNvSpPr/>
          <p:nvPr/>
        </p:nvSpPr>
        <p:spPr>
          <a:xfrm>
            <a:off x="10405872" y="4828032"/>
            <a:ext cx="365760" cy="100584"/>
          </a:xfrm>
          <a:prstGeom prst="roundRect">
            <a:avLst>
              <a:gd name="adj" fmla="val 50000"/>
            </a:avLst>
          </a:prstGeom>
          <a:solidFill>
            <a:srgbClr val="C7C7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74"/>
          <p:cNvSpPr/>
          <p:nvPr/>
        </p:nvSpPr>
        <p:spPr>
          <a:xfrm>
            <a:off x="11283696" y="4855464"/>
            <a:ext cx="36576" cy="36576"/>
          </a:xfrm>
          <a:prstGeom prst="ellipse">
            <a:avLst/>
          </a:prstGeom>
          <a:solidFill>
            <a:srgbClr val="8A8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75"/>
          <p:cNvSpPr/>
          <p:nvPr/>
        </p:nvSpPr>
        <p:spPr>
          <a:xfrm>
            <a:off x="4059936" y="3392424"/>
            <a:ext cx="301752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76"/>
          <p:cNvSpPr/>
          <p:nvPr/>
        </p:nvSpPr>
        <p:spPr>
          <a:xfrm>
            <a:off x="7818120" y="3392424"/>
            <a:ext cx="310896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77"/>
          <p:cNvSpPr/>
          <p:nvPr/>
        </p:nvSpPr>
        <p:spPr>
          <a:xfrm>
            <a:off x="6089904" y="5047488"/>
            <a:ext cx="0" cy="201168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78"/>
          <p:cNvSpPr/>
          <p:nvPr/>
        </p:nvSpPr>
        <p:spPr>
          <a:xfrm>
            <a:off x="2752344" y="5248656"/>
            <a:ext cx="4114800" cy="0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79"/>
          <p:cNvSpPr/>
          <p:nvPr/>
        </p:nvSpPr>
        <p:spPr>
          <a:xfrm>
            <a:off x="6867144" y="5248656"/>
            <a:ext cx="2560320" cy="0"/>
          </a:xfrm>
          <a:prstGeom prst="line">
            <a:avLst/>
          </a:prstGeom>
          <a:noFill/>
          <a:ln w="1587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0"/>
          <p:cNvSpPr/>
          <p:nvPr/>
        </p:nvSpPr>
        <p:spPr>
          <a:xfrm>
            <a:off x="2752344" y="5248656"/>
            <a:ext cx="0" cy="201168"/>
          </a:xfrm>
          <a:prstGeom prst="line">
            <a:avLst/>
          </a:prstGeom>
          <a:noFill/>
          <a:ln w="1587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81"/>
          <p:cNvSpPr/>
          <p:nvPr/>
        </p:nvSpPr>
        <p:spPr>
          <a:xfrm>
            <a:off x="2423160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7752" y="5614416"/>
            <a:ext cx="329184" cy="329184"/>
          </a:xfrm>
          <a:prstGeom prst="rect">
            <a:avLst/>
          </a:prstGeom>
        </p:spPr>
      </p:pic>
      <p:sp>
        <p:nvSpPr>
          <p:cNvPr id="195" name="Text 182"/>
          <p:cNvSpPr txBox="1"/>
          <p:nvPr/>
        </p:nvSpPr>
        <p:spPr>
          <a:xfrm>
            <a:off x="2020824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endParaRPr lang="en-US" sz="1050" dirty="0"/>
          </a:p>
        </p:txBody>
      </p:sp>
      <p:sp>
        <p:nvSpPr>
          <p:cNvPr id="196" name="Shape 183"/>
          <p:cNvSpPr/>
          <p:nvPr/>
        </p:nvSpPr>
        <p:spPr>
          <a:xfrm>
            <a:off x="4306824" y="5248656"/>
            <a:ext cx="0" cy="201168"/>
          </a:xfrm>
          <a:prstGeom prst="line">
            <a:avLst/>
          </a:prstGeom>
          <a:noFill/>
          <a:ln w="15875">
            <a:solidFill>
              <a:srgbClr val="4A4A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84"/>
          <p:cNvSpPr/>
          <p:nvPr/>
        </p:nvSpPr>
        <p:spPr>
          <a:xfrm>
            <a:off x="3977640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A4A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5614416"/>
            <a:ext cx="329184" cy="329184"/>
          </a:xfrm>
          <a:prstGeom prst="rect">
            <a:avLst/>
          </a:prstGeom>
        </p:spPr>
      </p:pic>
      <p:sp>
        <p:nvSpPr>
          <p:cNvPr id="199" name="Text 185"/>
          <p:cNvSpPr txBox="1"/>
          <p:nvPr/>
        </p:nvSpPr>
        <p:spPr>
          <a:xfrm>
            <a:off x="3575304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n+2</a:t>
            </a:r>
            <a:endParaRPr lang="en-US" sz="1050" dirty="0"/>
          </a:p>
        </p:txBody>
      </p:sp>
      <p:sp>
        <p:nvSpPr>
          <p:cNvPr id="200" name="Shape 186"/>
          <p:cNvSpPr/>
          <p:nvPr/>
        </p:nvSpPr>
        <p:spPr>
          <a:xfrm>
            <a:off x="5861304" y="5248656"/>
            <a:ext cx="0" cy="201168"/>
          </a:xfrm>
          <a:prstGeom prst="line">
            <a:avLst/>
          </a:prstGeom>
          <a:noFill/>
          <a:ln w="1587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87"/>
          <p:cNvSpPr/>
          <p:nvPr/>
        </p:nvSpPr>
        <p:spPr>
          <a:xfrm>
            <a:off x="5532120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2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6712" y="5614416"/>
            <a:ext cx="329184" cy="329184"/>
          </a:xfrm>
          <a:prstGeom prst="rect">
            <a:avLst/>
          </a:prstGeom>
        </p:spPr>
      </p:pic>
      <p:sp>
        <p:nvSpPr>
          <p:cNvPr id="203" name="Text 188"/>
          <p:cNvSpPr txBox="1"/>
          <p:nvPr/>
        </p:nvSpPr>
        <p:spPr>
          <a:xfrm>
            <a:off x="5129784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n+3</a:t>
            </a:r>
            <a:endParaRPr lang="en-US" sz="1050" dirty="0"/>
          </a:p>
        </p:txBody>
      </p:sp>
      <p:sp>
        <p:nvSpPr>
          <p:cNvPr id="204" name="Shape 189"/>
          <p:cNvSpPr/>
          <p:nvPr/>
        </p:nvSpPr>
        <p:spPr>
          <a:xfrm>
            <a:off x="7872984" y="5248656"/>
            <a:ext cx="0" cy="201168"/>
          </a:xfrm>
          <a:prstGeom prst="line">
            <a:avLst/>
          </a:prstGeom>
          <a:noFill/>
          <a:ln w="1587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190"/>
          <p:cNvSpPr/>
          <p:nvPr/>
        </p:nvSpPr>
        <p:spPr>
          <a:xfrm>
            <a:off x="7543800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6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8666" y="5634964"/>
            <a:ext cx="329184" cy="329184"/>
          </a:xfrm>
          <a:prstGeom prst="rect">
            <a:avLst/>
          </a:prstGeom>
        </p:spPr>
      </p:pic>
      <p:sp>
        <p:nvSpPr>
          <p:cNvPr id="207" name="Text 191"/>
          <p:cNvSpPr txBox="1"/>
          <p:nvPr/>
        </p:nvSpPr>
        <p:spPr>
          <a:xfrm>
            <a:off x="7141464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p+1</a:t>
            </a:r>
            <a:endParaRPr lang="en-US" sz="1050" dirty="0"/>
          </a:p>
        </p:txBody>
      </p:sp>
      <p:sp>
        <p:nvSpPr>
          <p:cNvPr id="208" name="Shape 192"/>
          <p:cNvSpPr/>
          <p:nvPr/>
        </p:nvSpPr>
        <p:spPr>
          <a:xfrm>
            <a:off x="9427464" y="5248656"/>
            <a:ext cx="0" cy="201168"/>
          </a:xfrm>
          <a:prstGeom prst="line">
            <a:avLst/>
          </a:prstGeom>
          <a:noFill/>
          <a:ln w="1587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193"/>
          <p:cNvSpPr/>
          <p:nvPr/>
        </p:nvSpPr>
        <p:spPr>
          <a:xfrm>
            <a:off x="9098280" y="5449824"/>
            <a:ext cx="658368" cy="6583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194"/>
          <p:cNvSpPr txBox="1"/>
          <p:nvPr/>
        </p:nvSpPr>
        <p:spPr>
          <a:xfrm>
            <a:off x="8695944" y="6153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p+2</a:t>
            </a:r>
            <a:endParaRPr lang="en-US" sz="1050" dirty="0"/>
          </a:p>
        </p:txBody>
      </p:sp>
      <p:sp>
        <p:nvSpPr>
          <p:cNvPr id="212" name="Text 195"/>
          <p:cNvSpPr txBox="1"/>
          <p:nvPr/>
        </p:nvSpPr>
        <p:spPr>
          <a:xfrm>
            <a:off x="2020824" y="65288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</a:t>
            </a:r>
            <a:endParaRPr lang="en-US" sz="800" dirty="0"/>
          </a:p>
        </p:txBody>
      </p:sp>
      <p:sp>
        <p:nvSpPr>
          <p:cNvPr id="213" name="Text 196"/>
          <p:cNvSpPr txBox="1"/>
          <p:nvPr/>
        </p:nvSpPr>
        <p:spPr>
          <a:xfrm>
            <a:off x="7141464" y="65288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PROVIDERS</a:t>
            </a:r>
            <a:endParaRPr lang="en-US" sz="800" dirty="0"/>
          </a:p>
        </p:txBody>
      </p:sp>
      <p:pic>
        <p:nvPicPr>
          <p:cNvPr id="214" name="Image 13" descr="preencoded.png">
            <a:extLst>
              <a:ext uri="{FF2B5EF4-FFF2-40B4-BE49-F238E27FC236}">
                <a16:creationId xmlns:a16="http://schemas.microsoft.com/office/drawing/2014/main" id="{E981BCCC-E5DC-22D0-7C64-993BA3ACFD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87992" y="5629314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2, 3 and 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 — the step tracker — runs down the left edge of all three screens.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5148" y="1481328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9AA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5188" y="1828800"/>
            <a:ext cx="777240" cy="777240"/>
          </a:xfrm>
          <a:prstGeom prst="ellipse">
            <a:avLst/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1993392"/>
            <a:ext cx="448056" cy="448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5188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5188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15188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entry form with guided steps, dropdown fields, and drag-and-drop file upload. Every record enters the system clean and complete.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5628" y="1481328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9AA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55668" y="1828800"/>
            <a:ext cx="777240" cy="777240"/>
          </a:xfrm>
          <a:prstGeom prst="ellipse">
            <a:avLst/>
          </a:prstGeom>
          <a:solidFill>
            <a:srgbClr val="FDE6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260" y="199339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655668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searchable, filterable list view with status tags and pagination. Users scan, sort, and shortlist records in seconds.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76108" y="1481328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9AA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96148" y="1828800"/>
            <a:ext cx="777240" cy="777240"/>
          </a:xfrm>
          <a:prstGeom prst="ellipse">
            <a:avLst/>
          </a:prstGeom>
          <a:solidFill>
            <a:srgbClr val="EDE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740" y="199339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96148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96148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96148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product detail view with tabs, metric cards, team info, and related documents — everything needed to act on a single item.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Feeds the Catalog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of source systems merge into a single searchable list: the data lakes hold the records, the profile providers tag and enrich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  <a:effectLst>
            <a:outerShdw blurRad="101600" dist="25400" dir="5400000" algn="bl" rotWithShape="0">
              <a:srgbClr val="9A9AA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1883664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139696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024128" y="2688336"/>
            <a:ext cx="4581144" cy="0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" y="2926080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466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4495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6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Primary application lake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319125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— every submission created in Registration.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24128" y="395020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A4A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6908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n+2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Operational / reference lake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42153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lookup and status data, consistent across all screens.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1024128" y="49743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0932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4956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n+3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Analytics lake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52395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metrics powering the cards and charts in Products.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1572768"/>
            <a:ext cx="5193792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3D3DA"/>
            </a:solidFill>
            <a:prstDash val="solid"/>
          </a:ln>
          <a:effectLst>
            <a:outerShdw blurRad="101600" dist="25400" dir="5400000" algn="bl" rotWithShape="0">
              <a:srgbClr val="9A9AA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6739128" y="1883664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739128" y="2139696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providers</a:t>
            </a:r>
            <a:endParaRPr lang="en-US" sz="2500" dirty="0"/>
          </a:p>
        </p:txBody>
      </p:sp>
      <p:sp>
        <p:nvSpPr>
          <p:cNvPr id="23" name="Shape 18"/>
          <p:cNvSpPr/>
          <p:nvPr/>
        </p:nvSpPr>
        <p:spPr>
          <a:xfrm>
            <a:off x="6739128" y="2688336"/>
            <a:ext cx="4425696" cy="0"/>
          </a:xfrm>
          <a:prstGeom prst="line">
            <a:avLst/>
          </a:prstGeom>
          <a:noFill/>
          <a:ln w="12700">
            <a:solidFill>
              <a:srgbClr val="D3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39128" y="2926080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04495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06640" y="2907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p+1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Tag &amp; attribute provider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406640" y="3191256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classification tags, categories and status attributes on each record.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739128" y="395020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0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06908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406640" y="39319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p+2</a:t>
            </a: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Information ingest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406640" y="4215384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supplemental detail from external feeds and attaches it to existing records.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739128" y="4974336"/>
            <a:ext cx="4425696" cy="777240"/>
          </a:xfrm>
          <a:prstGeom prst="roundRect">
            <a:avLst>
              <a:gd name="adj" fmla="val 9412"/>
            </a:avLst>
          </a:prstGeom>
          <a:solidFill>
            <a:srgbClr val="DCEF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6922008" y="5102352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0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add tags and detail to records they don't own. The lakes stay the system of record.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" y="667512"/>
            <a:ext cx="676656" cy="676656"/>
          </a:xfrm>
          <a:prstGeom prst="ellipse">
            <a:avLst/>
          </a:prstGeom>
          <a:ln w="222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Flow Works</a:t>
            </a:r>
            <a:endParaRPr lang="en-US" sz="4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97480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651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 in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132588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 validates every record at entry, so quality problems stop at the door.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840480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3794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look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132588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 merges the lakes and the profile providers into one searchable screen.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983480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4937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depth</a:t>
            </a:r>
            <a:endParaRPr lang="en-US" sz="2000" dirty="0"/>
          </a:p>
        </p:txBody>
      </p:sp>
      <p:sp>
        <p:nvSpPr>
          <p:cNvPr id="13" name="Text 7"/>
          <p:cNvSpPr txBox="1"/>
          <p:nvPr/>
        </p:nvSpPr>
        <p:spPr>
          <a:xfrm>
            <a:off x="1325880" y="5349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 opens any catalog item into a complete product view — no hunting across systems.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569</Words>
  <Application>Microsoft Macintosh PowerPoint</Application>
  <PresentationFormat>Widescreen</PresentationFormat>
  <Paragraphs>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W</cp:lastModifiedBy>
  <cp:revision>3</cp:revision>
  <dcterms:created xsi:type="dcterms:W3CDTF">2026-09-08T03:05:18Z</dcterms:created>
  <dcterms:modified xsi:type="dcterms:W3CDTF">2026-09-08T03:43:19Z</dcterms:modified>
</cp:coreProperties>
</file>