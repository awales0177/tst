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06" d="100"/>
          <a:sy n="106" d="100"/>
        </p:scale>
        <p:origin x="9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33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System 1 is the tracker running through every screen; Systems 2-4 are the registration, catalog and product screens; System 5 is the data lakes and System 6 the profile providers feeding the catalog; System 7 is the services feeding the Products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 is fed by System 5, the data lakes (n+1, n+2, n+3), and System 6, the profile providers (p+1, p+2). The Products screen is fed separately from the right by System 7, the product services (q+1, q+2).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2, 3 and 4 are the three screens. System 1, the tracker, is shared across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5 holds the records; System 6 supplies tags, attributes and ingested detail. Both feed the catalog, but only System 5 is written to through Registration. Provider descriptions are placeholders - swap in the real provider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 of the architecture: controlled input through System 2, unified browsing in System 3, drill-down in System 4, all fed by Systems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2B2B33"/>
          </a:solidFill>
          <a:ln w="19050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146304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2B2B33"/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932688"/>
            <a:ext cx="740664" cy="740664"/>
          </a:xfrm>
          <a:prstGeom prst="ellipse">
            <a:avLst/>
          </a:prstGeom>
          <a:ln w="2222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Sources to Insight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1–7: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r>
              <a:rPr lang="en-US" sz="18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8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r>
              <a:rPr lang="en-US" sz="18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60350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Shared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4757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C7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1001268"/>
            <a:ext cx="173736" cy="173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024128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378440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466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020" y="1001268"/>
            <a:ext cx="173736" cy="1737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835640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0" y="1001268"/>
            <a:ext cx="173736" cy="1737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292840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1420" y="1001268"/>
            <a:ext cx="173736" cy="17373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08092" y="1307592"/>
            <a:ext cx="0" cy="155448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1897380" y="1463040"/>
            <a:ext cx="6821424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1897380" y="1463040"/>
            <a:ext cx="0" cy="27432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5308092" y="1463040"/>
            <a:ext cx="0" cy="27432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8718804" y="1463040"/>
            <a:ext cx="0" cy="27432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365760" y="1737360"/>
            <a:ext cx="3063240" cy="3310128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9050">
            <a:solidFill>
              <a:srgbClr val="C7C7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93776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03504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13232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896112" y="17693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Registration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65760" y="2020824"/>
            <a:ext cx="306324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484632" y="2103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484632" y="2263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6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521208" y="2514600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66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68096" y="2560320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98932" y="2670048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21208" y="299923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768096" y="3044952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598932" y="3154680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521208" y="3483864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68096" y="3529584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98932" y="3639312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521208" y="3968496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768096" y="4014216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598932" y="4123944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21208" y="44531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768096" y="4498848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1234440" y="2020824"/>
            <a:ext cx="0" cy="3026664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1371600" y="2130552"/>
            <a:ext cx="1554480" cy="91440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1371600" y="23591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1371600" y="246888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1371600" y="2852928"/>
            <a:ext cx="68580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1371600" y="2962656"/>
            <a:ext cx="1920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1371600" y="3639312"/>
            <a:ext cx="54864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2240280" y="3639312"/>
            <a:ext cx="54864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1371600" y="3749040"/>
            <a:ext cx="89611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2395728" y="3749040"/>
            <a:ext cx="89611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2039112" y="37398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3063240" y="37398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1371600" y="413308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7C7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3704" y="4242816"/>
            <a:ext cx="256032" cy="256032"/>
          </a:xfrm>
          <a:prstGeom prst="rect">
            <a:avLst/>
          </a:prstGeom>
        </p:spPr>
      </p:pic>
      <p:sp>
        <p:nvSpPr>
          <p:cNvPr id="55" name="Shape 48"/>
          <p:cNvSpPr/>
          <p:nvPr/>
        </p:nvSpPr>
        <p:spPr>
          <a:xfrm>
            <a:off x="2560320" y="4736592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3776472" y="1737360"/>
            <a:ext cx="3063240" cy="3310128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9050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3904488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4014216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2"/>
          <p:cNvSpPr/>
          <p:nvPr/>
        </p:nvSpPr>
        <p:spPr>
          <a:xfrm>
            <a:off x="4123944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 txBox="1"/>
          <p:nvPr/>
        </p:nvSpPr>
        <p:spPr>
          <a:xfrm>
            <a:off x="4306824" y="17693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Catalog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3776472" y="2020824"/>
            <a:ext cx="306324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 txBox="1"/>
          <p:nvPr/>
        </p:nvSpPr>
        <p:spPr>
          <a:xfrm>
            <a:off x="3895344" y="2103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950" dirty="0"/>
          </a:p>
        </p:txBody>
      </p:sp>
      <p:sp>
        <p:nvSpPr>
          <p:cNvPr id="63" name="Text 56"/>
          <p:cNvSpPr txBox="1"/>
          <p:nvPr/>
        </p:nvSpPr>
        <p:spPr>
          <a:xfrm>
            <a:off x="3895344" y="2263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6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700" dirty="0"/>
          </a:p>
        </p:txBody>
      </p:sp>
      <p:sp>
        <p:nvSpPr>
          <p:cNvPr id="64" name="Shape 57"/>
          <p:cNvSpPr/>
          <p:nvPr/>
        </p:nvSpPr>
        <p:spPr>
          <a:xfrm>
            <a:off x="3931920" y="2514600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66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8"/>
          <p:cNvSpPr/>
          <p:nvPr/>
        </p:nvSpPr>
        <p:spPr>
          <a:xfrm>
            <a:off x="4178808" y="2560320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9"/>
          <p:cNvSpPr/>
          <p:nvPr/>
        </p:nvSpPr>
        <p:spPr>
          <a:xfrm>
            <a:off x="4009644" y="2670048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0"/>
          <p:cNvSpPr/>
          <p:nvPr/>
        </p:nvSpPr>
        <p:spPr>
          <a:xfrm>
            <a:off x="3931920" y="299923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1"/>
          <p:cNvSpPr/>
          <p:nvPr/>
        </p:nvSpPr>
        <p:spPr>
          <a:xfrm>
            <a:off x="4178808" y="3044952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2"/>
          <p:cNvSpPr/>
          <p:nvPr/>
        </p:nvSpPr>
        <p:spPr>
          <a:xfrm>
            <a:off x="4009644" y="3154680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3"/>
          <p:cNvSpPr/>
          <p:nvPr/>
        </p:nvSpPr>
        <p:spPr>
          <a:xfrm>
            <a:off x="3931920" y="3483864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4"/>
          <p:cNvSpPr/>
          <p:nvPr/>
        </p:nvSpPr>
        <p:spPr>
          <a:xfrm>
            <a:off x="4178808" y="3529584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5"/>
          <p:cNvSpPr/>
          <p:nvPr/>
        </p:nvSpPr>
        <p:spPr>
          <a:xfrm>
            <a:off x="4009644" y="3639312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6"/>
          <p:cNvSpPr/>
          <p:nvPr/>
        </p:nvSpPr>
        <p:spPr>
          <a:xfrm>
            <a:off x="3931920" y="3968496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7"/>
          <p:cNvSpPr/>
          <p:nvPr/>
        </p:nvSpPr>
        <p:spPr>
          <a:xfrm>
            <a:off x="4178808" y="4014216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8"/>
          <p:cNvSpPr/>
          <p:nvPr/>
        </p:nvSpPr>
        <p:spPr>
          <a:xfrm>
            <a:off x="4009644" y="4123944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9"/>
          <p:cNvSpPr/>
          <p:nvPr/>
        </p:nvSpPr>
        <p:spPr>
          <a:xfrm>
            <a:off x="3931920" y="44531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0"/>
          <p:cNvSpPr/>
          <p:nvPr/>
        </p:nvSpPr>
        <p:spPr>
          <a:xfrm>
            <a:off x="4178808" y="4498848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1"/>
          <p:cNvSpPr/>
          <p:nvPr/>
        </p:nvSpPr>
        <p:spPr>
          <a:xfrm>
            <a:off x="4645152" y="2020824"/>
            <a:ext cx="0" cy="3026664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2"/>
          <p:cNvSpPr/>
          <p:nvPr/>
        </p:nvSpPr>
        <p:spPr>
          <a:xfrm>
            <a:off x="4782312" y="2130552"/>
            <a:ext cx="1920240" cy="256032"/>
          </a:xfrm>
          <a:prstGeom prst="roundRect">
            <a:avLst>
              <a:gd name="adj" fmla="val 32143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2189988"/>
            <a:ext cx="146304" cy="146304"/>
          </a:xfrm>
          <a:prstGeom prst="rect">
            <a:avLst/>
          </a:prstGeom>
        </p:spPr>
      </p:pic>
      <p:sp>
        <p:nvSpPr>
          <p:cNvPr id="81" name="Shape 73"/>
          <p:cNvSpPr/>
          <p:nvPr/>
        </p:nvSpPr>
        <p:spPr>
          <a:xfrm>
            <a:off x="4782312" y="2496312"/>
            <a:ext cx="493776" cy="155448"/>
          </a:xfrm>
          <a:prstGeom prst="roundRect">
            <a:avLst>
              <a:gd name="adj" fmla="val 50000"/>
            </a:avLst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4"/>
          <p:cNvSpPr/>
          <p:nvPr/>
        </p:nvSpPr>
        <p:spPr>
          <a:xfrm>
            <a:off x="4837176" y="2537460"/>
            <a:ext cx="73152" cy="73152"/>
          </a:xfrm>
          <a:prstGeom prst="ellipse">
            <a:avLst/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5"/>
          <p:cNvSpPr/>
          <p:nvPr/>
        </p:nvSpPr>
        <p:spPr>
          <a:xfrm>
            <a:off x="5330952" y="2496312"/>
            <a:ext cx="411480" cy="1554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76"/>
          <p:cNvSpPr/>
          <p:nvPr/>
        </p:nvSpPr>
        <p:spPr>
          <a:xfrm>
            <a:off x="5385816" y="2537460"/>
            <a:ext cx="73152" cy="73152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7"/>
          <p:cNvSpPr/>
          <p:nvPr/>
        </p:nvSpPr>
        <p:spPr>
          <a:xfrm>
            <a:off x="5788152" y="2496312"/>
            <a:ext cx="411480" cy="1554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5843016" y="2537460"/>
            <a:ext cx="73152" cy="73152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79"/>
          <p:cNvSpPr/>
          <p:nvPr/>
        </p:nvSpPr>
        <p:spPr>
          <a:xfrm>
            <a:off x="6245352" y="2496312"/>
            <a:ext cx="411480" cy="1554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0"/>
          <p:cNvSpPr/>
          <p:nvPr/>
        </p:nvSpPr>
        <p:spPr>
          <a:xfrm>
            <a:off x="6300216" y="2537460"/>
            <a:ext cx="73152" cy="73152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1"/>
          <p:cNvSpPr/>
          <p:nvPr/>
        </p:nvSpPr>
        <p:spPr>
          <a:xfrm>
            <a:off x="4782312" y="2761488"/>
            <a:ext cx="1920240" cy="18288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2"/>
          <p:cNvSpPr/>
          <p:nvPr/>
        </p:nvSpPr>
        <p:spPr>
          <a:xfrm>
            <a:off x="4855464" y="281635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3"/>
          <p:cNvSpPr/>
          <p:nvPr/>
        </p:nvSpPr>
        <p:spPr>
          <a:xfrm>
            <a:off x="5422392" y="2816352"/>
            <a:ext cx="640080" cy="73152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4"/>
          <p:cNvSpPr/>
          <p:nvPr/>
        </p:nvSpPr>
        <p:spPr>
          <a:xfrm>
            <a:off x="6245352" y="281635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85"/>
          <p:cNvSpPr/>
          <p:nvPr/>
        </p:nvSpPr>
        <p:spPr>
          <a:xfrm>
            <a:off x="4818888" y="2999232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6"/>
          <p:cNvSpPr/>
          <p:nvPr/>
        </p:nvSpPr>
        <p:spPr>
          <a:xfrm>
            <a:off x="5093208" y="30083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87"/>
          <p:cNvSpPr/>
          <p:nvPr/>
        </p:nvSpPr>
        <p:spPr>
          <a:xfrm>
            <a:off x="5093208" y="31089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88"/>
          <p:cNvSpPr/>
          <p:nvPr/>
        </p:nvSpPr>
        <p:spPr>
          <a:xfrm>
            <a:off x="6016752" y="3026664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89"/>
          <p:cNvSpPr/>
          <p:nvPr/>
        </p:nvSpPr>
        <p:spPr>
          <a:xfrm>
            <a:off x="6409944" y="307238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0"/>
          <p:cNvSpPr/>
          <p:nvPr/>
        </p:nvSpPr>
        <p:spPr>
          <a:xfrm>
            <a:off x="6483096" y="307238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1"/>
          <p:cNvSpPr/>
          <p:nvPr/>
        </p:nvSpPr>
        <p:spPr>
          <a:xfrm>
            <a:off x="6556248" y="307238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2"/>
          <p:cNvSpPr/>
          <p:nvPr/>
        </p:nvSpPr>
        <p:spPr>
          <a:xfrm>
            <a:off x="4782312" y="3282696"/>
            <a:ext cx="192024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3"/>
          <p:cNvSpPr/>
          <p:nvPr/>
        </p:nvSpPr>
        <p:spPr>
          <a:xfrm>
            <a:off x="4818888" y="3383280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94"/>
          <p:cNvSpPr/>
          <p:nvPr/>
        </p:nvSpPr>
        <p:spPr>
          <a:xfrm>
            <a:off x="5093208" y="3392424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95"/>
          <p:cNvSpPr/>
          <p:nvPr/>
        </p:nvSpPr>
        <p:spPr>
          <a:xfrm>
            <a:off x="5093208" y="349300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6016752" y="3410712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6409944" y="3456432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98"/>
          <p:cNvSpPr/>
          <p:nvPr/>
        </p:nvSpPr>
        <p:spPr>
          <a:xfrm>
            <a:off x="6483096" y="3456432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99"/>
          <p:cNvSpPr/>
          <p:nvPr/>
        </p:nvSpPr>
        <p:spPr>
          <a:xfrm>
            <a:off x="6556248" y="3456432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0"/>
          <p:cNvSpPr/>
          <p:nvPr/>
        </p:nvSpPr>
        <p:spPr>
          <a:xfrm>
            <a:off x="4782312" y="3666744"/>
            <a:ext cx="192024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1"/>
          <p:cNvSpPr/>
          <p:nvPr/>
        </p:nvSpPr>
        <p:spPr>
          <a:xfrm>
            <a:off x="4818888" y="3767328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2"/>
          <p:cNvSpPr/>
          <p:nvPr/>
        </p:nvSpPr>
        <p:spPr>
          <a:xfrm>
            <a:off x="5093208" y="3776472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3"/>
          <p:cNvSpPr/>
          <p:nvPr/>
        </p:nvSpPr>
        <p:spPr>
          <a:xfrm>
            <a:off x="5093208" y="3877056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04"/>
          <p:cNvSpPr/>
          <p:nvPr/>
        </p:nvSpPr>
        <p:spPr>
          <a:xfrm>
            <a:off x="6016752" y="3794760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6409944" y="384048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6483096" y="384048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07"/>
          <p:cNvSpPr/>
          <p:nvPr/>
        </p:nvSpPr>
        <p:spPr>
          <a:xfrm>
            <a:off x="6556248" y="384048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08"/>
          <p:cNvSpPr/>
          <p:nvPr/>
        </p:nvSpPr>
        <p:spPr>
          <a:xfrm>
            <a:off x="4782312" y="4050792"/>
            <a:ext cx="192024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09"/>
          <p:cNvSpPr/>
          <p:nvPr/>
        </p:nvSpPr>
        <p:spPr>
          <a:xfrm>
            <a:off x="4818888" y="4151376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0"/>
          <p:cNvSpPr/>
          <p:nvPr/>
        </p:nvSpPr>
        <p:spPr>
          <a:xfrm>
            <a:off x="5093208" y="4160520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1"/>
          <p:cNvSpPr/>
          <p:nvPr/>
        </p:nvSpPr>
        <p:spPr>
          <a:xfrm>
            <a:off x="5093208" y="4261104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2"/>
          <p:cNvSpPr/>
          <p:nvPr/>
        </p:nvSpPr>
        <p:spPr>
          <a:xfrm>
            <a:off x="6016752" y="4178808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3"/>
          <p:cNvSpPr/>
          <p:nvPr/>
        </p:nvSpPr>
        <p:spPr>
          <a:xfrm>
            <a:off x="6409944" y="4224528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14"/>
          <p:cNvSpPr/>
          <p:nvPr/>
        </p:nvSpPr>
        <p:spPr>
          <a:xfrm>
            <a:off x="6483096" y="4224528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5"/>
          <p:cNvSpPr/>
          <p:nvPr/>
        </p:nvSpPr>
        <p:spPr>
          <a:xfrm>
            <a:off x="6556248" y="4224528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16"/>
          <p:cNvSpPr/>
          <p:nvPr/>
        </p:nvSpPr>
        <p:spPr>
          <a:xfrm>
            <a:off x="5431536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17"/>
          <p:cNvSpPr/>
          <p:nvPr/>
        </p:nvSpPr>
        <p:spPr>
          <a:xfrm>
            <a:off x="5568696" y="4663440"/>
            <a:ext cx="64008" cy="64008"/>
          </a:xfrm>
          <a:prstGeom prst="ellipse">
            <a:avLst/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18"/>
          <p:cNvSpPr/>
          <p:nvPr/>
        </p:nvSpPr>
        <p:spPr>
          <a:xfrm>
            <a:off x="5705856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19"/>
          <p:cNvSpPr/>
          <p:nvPr/>
        </p:nvSpPr>
        <p:spPr>
          <a:xfrm>
            <a:off x="5843016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0"/>
          <p:cNvSpPr/>
          <p:nvPr/>
        </p:nvSpPr>
        <p:spPr>
          <a:xfrm>
            <a:off x="5980176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1"/>
          <p:cNvSpPr/>
          <p:nvPr/>
        </p:nvSpPr>
        <p:spPr>
          <a:xfrm>
            <a:off x="5971032" y="4754880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2"/>
          <p:cNvSpPr/>
          <p:nvPr/>
        </p:nvSpPr>
        <p:spPr>
          <a:xfrm>
            <a:off x="7187184" y="1737360"/>
            <a:ext cx="3063240" cy="3310128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3"/>
          <p:cNvSpPr/>
          <p:nvPr/>
        </p:nvSpPr>
        <p:spPr>
          <a:xfrm>
            <a:off x="7315200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24"/>
          <p:cNvSpPr/>
          <p:nvPr/>
        </p:nvSpPr>
        <p:spPr>
          <a:xfrm>
            <a:off x="7424928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25"/>
          <p:cNvSpPr/>
          <p:nvPr/>
        </p:nvSpPr>
        <p:spPr>
          <a:xfrm>
            <a:off x="7534656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26"/>
          <p:cNvSpPr txBox="1"/>
          <p:nvPr/>
        </p:nvSpPr>
        <p:spPr>
          <a:xfrm>
            <a:off x="7717536" y="17693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Products</a:t>
            </a:r>
            <a:endParaRPr lang="en-US" sz="1050" dirty="0"/>
          </a:p>
        </p:txBody>
      </p:sp>
      <p:sp>
        <p:nvSpPr>
          <p:cNvPr id="135" name="Shape 127"/>
          <p:cNvSpPr/>
          <p:nvPr/>
        </p:nvSpPr>
        <p:spPr>
          <a:xfrm>
            <a:off x="7187184" y="2020824"/>
            <a:ext cx="306324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28"/>
          <p:cNvSpPr txBox="1"/>
          <p:nvPr/>
        </p:nvSpPr>
        <p:spPr>
          <a:xfrm>
            <a:off x="7306056" y="2103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950" dirty="0"/>
          </a:p>
        </p:txBody>
      </p:sp>
      <p:sp>
        <p:nvSpPr>
          <p:cNvPr id="137" name="Text 129"/>
          <p:cNvSpPr txBox="1"/>
          <p:nvPr/>
        </p:nvSpPr>
        <p:spPr>
          <a:xfrm>
            <a:off x="7306056" y="2263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6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700" dirty="0"/>
          </a:p>
        </p:txBody>
      </p:sp>
      <p:sp>
        <p:nvSpPr>
          <p:cNvPr id="138" name="Shape 130"/>
          <p:cNvSpPr/>
          <p:nvPr/>
        </p:nvSpPr>
        <p:spPr>
          <a:xfrm>
            <a:off x="7342632" y="2514600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1"/>
          <p:cNvSpPr/>
          <p:nvPr/>
        </p:nvSpPr>
        <p:spPr>
          <a:xfrm>
            <a:off x="7589520" y="2560320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2"/>
          <p:cNvSpPr/>
          <p:nvPr/>
        </p:nvSpPr>
        <p:spPr>
          <a:xfrm>
            <a:off x="7420356" y="2670048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3"/>
          <p:cNvSpPr/>
          <p:nvPr/>
        </p:nvSpPr>
        <p:spPr>
          <a:xfrm>
            <a:off x="7342632" y="299923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4"/>
          <p:cNvSpPr/>
          <p:nvPr/>
        </p:nvSpPr>
        <p:spPr>
          <a:xfrm>
            <a:off x="7589520" y="3044952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35"/>
          <p:cNvSpPr/>
          <p:nvPr/>
        </p:nvSpPr>
        <p:spPr>
          <a:xfrm>
            <a:off x="7420356" y="3154680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6"/>
          <p:cNvSpPr/>
          <p:nvPr/>
        </p:nvSpPr>
        <p:spPr>
          <a:xfrm>
            <a:off x="7342632" y="3483864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37"/>
          <p:cNvSpPr/>
          <p:nvPr/>
        </p:nvSpPr>
        <p:spPr>
          <a:xfrm>
            <a:off x="7589520" y="3529584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38"/>
          <p:cNvSpPr/>
          <p:nvPr/>
        </p:nvSpPr>
        <p:spPr>
          <a:xfrm>
            <a:off x="7420356" y="3639312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39"/>
          <p:cNvSpPr/>
          <p:nvPr/>
        </p:nvSpPr>
        <p:spPr>
          <a:xfrm>
            <a:off x="7342632" y="3968496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0"/>
          <p:cNvSpPr/>
          <p:nvPr/>
        </p:nvSpPr>
        <p:spPr>
          <a:xfrm>
            <a:off x="7589520" y="4014216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1"/>
          <p:cNvSpPr/>
          <p:nvPr/>
        </p:nvSpPr>
        <p:spPr>
          <a:xfrm>
            <a:off x="7420356" y="4123944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2"/>
          <p:cNvSpPr/>
          <p:nvPr/>
        </p:nvSpPr>
        <p:spPr>
          <a:xfrm>
            <a:off x="7342632" y="44531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3"/>
          <p:cNvSpPr/>
          <p:nvPr/>
        </p:nvSpPr>
        <p:spPr>
          <a:xfrm>
            <a:off x="7589520" y="4498848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44"/>
          <p:cNvSpPr/>
          <p:nvPr/>
        </p:nvSpPr>
        <p:spPr>
          <a:xfrm>
            <a:off x="8055864" y="2020824"/>
            <a:ext cx="0" cy="3026664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45"/>
          <p:cNvSpPr/>
          <p:nvPr/>
        </p:nvSpPr>
        <p:spPr>
          <a:xfrm>
            <a:off x="8193024" y="21305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2258568"/>
            <a:ext cx="246888" cy="246888"/>
          </a:xfrm>
          <a:prstGeom prst="rect">
            <a:avLst/>
          </a:prstGeom>
        </p:spPr>
      </p:pic>
      <p:sp>
        <p:nvSpPr>
          <p:cNvPr id="155" name="Shape 146"/>
          <p:cNvSpPr/>
          <p:nvPr/>
        </p:nvSpPr>
        <p:spPr>
          <a:xfrm>
            <a:off x="8833104" y="2157984"/>
            <a:ext cx="1234440" cy="82296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47"/>
          <p:cNvSpPr/>
          <p:nvPr/>
        </p:nvSpPr>
        <p:spPr>
          <a:xfrm>
            <a:off x="8833104" y="2322576"/>
            <a:ext cx="9601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48"/>
          <p:cNvSpPr/>
          <p:nvPr/>
        </p:nvSpPr>
        <p:spPr>
          <a:xfrm>
            <a:off x="8833104" y="2450592"/>
            <a:ext cx="114300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49"/>
          <p:cNvSpPr/>
          <p:nvPr/>
        </p:nvSpPr>
        <p:spPr>
          <a:xfrm>
            <a:off x="8193024" y="2798064"/>
            <a:ext cx="45720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0"/>
          <p:cNvSpPr/>
          <p:nvPr/>
        </p:nvSpPr>
        <p:spPr>
          <a:xfrm>
            <a:off x="8759952" y="280720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1"/>
          <p:cNvSpPr/>
          <p:nvPr/>
        </p:nvSpPr>
        <p:spPr>
          <a:xfrm>
            <a:off x="9235440" y="280720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2"/>
          <p:cNvSpPr/>
          <p:nvPr/>
        </p:nvSpPr>
        <p:spPr>
          <a:xfrm>
            <a:off x="9710928" y="280720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53"/>
          <p:cNvSpPr/>
          <p:nvPr/>
        </p:nvSpPr>
        <p:spPr>
          <a:xfrm>
            <a:off x="8193024" y="2944368"/>
            <a:ext cx="1920240" cy="0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54"/>
          <p:cNvSpPr/>
          <p:nvPr/>
        </p:nvSpPr>
        <p:spPr>
          <a:xfrm>
            <a:off x="8193024" y="3054096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55"/>
          <p:cNvSpPr/>
          <p:nvPr/>
        </p:nvSpPr>
        <p:spPr>
          <a:xfrm>
            <a:off x="8284464" y="3145536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56"/>
          <p:cNvSpPr/>
          <p:nvPr/>
        </p:nvSpPr>
        <p:spPr>
          <a:xfrm>
            <a:off x="8284464" y="3264408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57"/>
          <p:cNvSpPr/>
          <p:nvPr/>
        </p:nvSpPr>
        <p:spPr>
          <a:xfrm>
            <a:off x="8193024" y="3529584"/>
            <a:ext cx="579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2856" y="3602736"/>
            <a:ext cx="219456" cy="219456"/>
          </a:xfrm>
          <a:prstGeom prst="rect">
            <a:avLst/>
          </a:prstGeom>
        </p:spPr>
      </p:pic>
      <p:sp>
        <p:nvSpPr>
          <p:cNvPr id="168" name="Shape 158"/>
          <p:cNvSpPr/>
          <p:nvPr/>
        </p:nvSpPr>
        <p:spPr>
          <a:xfrm>
            <a:off x="8299704" y="3913632"/>
            <a:ext cx="36576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59"/>
          <p:cNvSpPr/>
          <p:nvPr/>
        </p:nvSpPr>
        <p:spPr>
          <a:xfrm>
            <a:off x="8863584" y="3529584"/>
            <a:ext cx="579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602736"/>
            <a:ext cx="219456" cy="219456"/>
          </a:xfrm>
          <a:prstGeom prst="rect">
            <a:avLst/>
          </a:prstGeom>
        </p:spPr>
      </p:pic>
      <p:sp>
        <p:nvSpPr>
          <p:cNvPr id="171" name="Shape 160"/>
          <p:cNvSpPr/>
          <p:nvPr/>
        </p:nvSpPr>
        <p:spPr>
          <a:xfrm>
            <a:off x="8970264" y="3913632"/>
            <a:ext cx="36576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61"/>
          <p:cNvSpPr/>
          <p:nvPr/>
        </p:nvSpPr>
        <p:spPr>
          <a:xfrm>
            <a:off x="9534144" y="3529584"/>
            <a:ext cx="579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3976" y="3602736"/>
            <a:ext cx="219456" cy="219456"/>
          </a:xfrm>
          <a:prstGeom prst="rect">
            <a:avLst/>
          </a:prstGeom>
        </p:spPr>
      </p:pic>
      <p:sp>
        <p:nvSpPr>
          <p:cNvPr id="174" name="Shape 162"/>
          <p:cNvSpPr/>
          <p:nvPr/>
        </p:nvSpPr>
        <p:spPr>
          <a:xfrm>
            <a:off x="9640824" y="3913632"/>
            <a:ext cx="36576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63"/>
          <p:cNvSpPr/>
          <p:nvPr/>
        </p:nvSpPr>
        <p:spPr>
          <a:xfrm>
            <a:off x="8193024" y="4224528"/>
            <a:ext cx="1920240" cy="146304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64"/>
          <p:cNvSpPr/>
          <p:nvPr/>
        </p:nvSpPr>
        <p:spPr>
          <a:xfrm>
            <a:off x="8247888" y="4265676"/>
            <a:ext cx="457200" cy="54864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65"/>
          <p:cNvSpPr/>
          <p:nvPr/>
        </p:nvSpPr>
        <p:spPr>
          <a:xfrm>
            <a:off x="9701784" y="4265676"/>
            <a:ext cx="320040" cy="54864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66"/>
          <p:cNvSpPr/>
          <p:nvPr/>
        </p:nvSpPr>
        <p:spPr>
          <a:xfrm>
            <a:off x="8247888" y="4462272"/>
            <a:ext cx="77724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67"/>
          <p:cNvSpPr/>
          <p:nvPr/>
        </p:nvSpPr>
        <p:spPr>
          <a:xfrm>
            <a:off x="9427464" y="4443984"/>
            <a:ext cx="365760" cy="100584"/>
          </a:xfrm>
          <a:prstGeom prst="roundRect">
            <a:avLst>
              <a:gd name="adj" fmla="val 50000"/>
            </a:avLst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68"/>
          <p:cNvSpPr/>
          <p:nvPr/>
        </p:nvSpPr>
        <p:spPr>
          <a:xfrm>
            <a:off x="9985248" y="4471416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69"/>
          <p:cNvSpPr/>
          <p:nvPr/>
        </p:nvSpPr>
        <p:spPr>
          <a:xfrm>
            <a:off x="8247888" y="4654296"/>
            <a:ext cx="77724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70"/>
          <p:cNvSpPr/>
          <p:nvPr/>
        </p:nvSpPr>
        <p:spPr>
          <a:xfrm>
            <a:off x="9427464" y="4636008"/>
            <a:ext cx="365760" cy="1005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71"/>
          <p:cNvSpPr/>
          <p:nvPr/>
        </p:nvSpPr>
        <p:spPr>
          <a:xfrm>
            <a:off x="9985248" y="466344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72"/>
          <p:cNvSpPr/>
          <p:nvPr/>
        </p:nvSpPr>
        <p:spPr>
          <a:xfrm>
            <a:off x="8247888" y="4846320"/>
            <a:ext cx="77724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73"/>
          <p:cNvSpPr/>
          <p:nvPr/>
        </p:nvSpPr>
        <p:spPr>
          <a:xfrm>
            <a:off x="9427464" y="4828032"/>
            <a:ext cx="365760" cy="100584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74"/>
          <p:cNvSpPr/>
          <p:nvPr/>
        </p:nvSpPr>
        <p:spPr>
          <a:xfrm>
            <a:off x="9985248" y="485546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75"/>
          <p:cNvSpPr/>
          <p:nvPr/>
        </p:nvSpPr>
        <p:spPr>
          <a:xfrm>
            <a:off x="3465576" y="3392424"/>
            <a:ext cx="274320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76"/>
          <p:cNvSpPr/>
          <p:nvPr/>
        </p:nvSpPr>
        <p:spPr>
          <a:xfrm>
            <a:off x="6876288" y="3392424"/>
            <a:ext cx="274320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77"/>
          <p:cNvSpPr/>
          <p:nvPr/>
        </p:nvSpPr>
        <p:spPr>
          <a:xfrm>
            <a:off x="5308092" y="5047488"/>
            <a:ext cx="0" cy="201168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78"/>
          <p:cNvSpPr/>
          <p:nvPr/>
        </p:nvSpPr>
        <p:spPr>
          <a:xfrm>
            <a:off x="1965960" y="5248656"/>
            <a:ext cx="4114800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79"/>
          <p:cNvSpPr/>
          <p:nvPr/>
        </p:nvSpPr>
        <p:spPr>
          <a:xfrm>
            <a:off x="6080760" y="5248656"/>
            <a:ext cx="2560320" cy="0"/>
          </a:xfrm>
          <a:prstGeom prst="line">
            <a:avLst/>
          </a:prstGeom>
          <a:noFill/>
          <a:ln w="1587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0"/>
          <p:cNvSpPr/>
          <p:nvPr/>
        </p:nvSpPr>
        <p:spPr>
          <a:xfrm>
            <a:off x="1965960" y="5248656"/>
            <a:ext cx="0" cy="201168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81"/>
          <p:cNvSpPr/>
          <p:nvPr/>
        </p:nvSpPr>
        <p:spPr>
          <a:xfrm>
            <a:off x="1636776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1368" y="5614416"/>
            <a:ext cx="329184" cy="329184"/>
          </a:xfrm>
          <a:prstGeom prst="rect">
            <a:avLst/>
          </a:prstGeom>
        </p:spPr>
      </p:pic>
      <p:sp>
        <p:nvSpPr>
          <p:cNvPr id="195" name="Text 182"/>
          <p:cNvSpPr txBox="1"/>
          <p:nvPr/>
        </p:nvSpPr>
        <p:spPr>
          <a:xfrm>
            <a:off x="1234440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endParaRPr lang="en-US" sz="1050" dirty="0"/>
          </a:p>
        </p:txBody>
      </p:sp>
      <p:sp>
        <p:nvSpPr>
          <p:cNvPr id="196" name="Shape 183"/>
          <p:cNvSpPr/>
          <p:nvPr/>
        </p:nvSpPr>
        <p:spPr>
          <a:xfrm>
            <a:off x="3520440" y="5248656"/>
            <a:ext cx="0" cy="201168"/>
          </a:xfrm>
          <a:prstGeom prst="line">
            <a:avLst/>
          </a:prstGeom>
          <a:noFill/>
          <a:ln w="15875">
            <a:solidFill>
              <a:srgbClr val="4A4A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84"/>
          <p:cNvSpPr/>
          <p:nvPr/>
        </p:nvSpPr>
        <p:spPr>
          <a:xfrm>
            <a:off x="3191256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A4A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5614416"/>
            <a:ext cx="329184" cy="329184"/>
          </a:xfrm>
          <a:prstGeom prst="rect">
            <a:avLst/>
          </a:prstGeom>
        </p:spPr>
      </p:pic>
      <p:sp>
        <p:nvSpPr>
          <p:cNvPr id="199" name="Text 185"/>
          <p:cNvSpPr txBox="1"/>
          <p:nvPr/>
        </p:nvSpPr>
        <p:spPr>
          <a:xfrm>
            <a:off x="2788920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n+2</a:t>
            </a:r>
            <a:endParaRPr lang="en-US" sz="1050" dirty="0"/>
          </a:p>
        </p:txBody>
      </p:sp>
      <p:sp>
        <p:nvSpPr>
          <p:cNvPr id="200" name="Shape 186"/>
          <p:cNvSpPr/>
          <p:nvPr/>
        </p:nvSpPr>
        <p:spPr>
          <a:xfrm>
            <a:off x="5074920" y="5248656"/>
            <a:ext cx="0" cy="201168"/>
          </a:xfrm>
          <a:prstGeom prst="line">
            <a:avLst/>
          </a:prstGeom>
          <a:noFill/>
          <a:ln w="1587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87"/>
          <p:cNvSpPr/>
          <p:nvPr/>
        </p:nvSpPr>
        <p:spPr>
          <a:xfrm>
            <a:off x="4745736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2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0328" y="5614416"/>
            <a:ext cx="329184" cy="329184"/>
          </a:xfrm>
          <a:prstGeom prst="rect">
            <a:avLst/>
          </a:prstGeom>
        </p:spPr>
      </p:pic>
      <p:sp>
        <p:nvSpPr>
          <p:cNvPr id="203" name="Text 188"/>
          <p:cNvSpPr txBox="1"/>
          <p:nvPr/>
        </p:nvSpPr>
        <p:spPr>
          <a:xfrm>
            <a:off x="4343400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n+3</a:t>
            </a:r>
            <a:endParaRPr lang="en-US" sz="1050" dirty="0"/>
          </a:p>
        </p:txBody>
      </p:sp>
      <p:sp>
        <p:nvSpPr>
          <p:cNvPr id="204" name="Shape 189"/>
          <p:cNvSpPr/>
          <p:nvPr/>
        </p:nvSpPr>
        <p:spPr>
          <a:xfrm>
            <a:off x="7086600" y="5248656"/>
            <a:ext cx="0" cy="201168"/>
          </a:xfrm>
          <a:prstGeom prst="line">
            <a:avLst/>
          </a:prstGeom>
          <a:noFill/>
          <a:ln w="1587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190"/>
          <p:cNvSpPr/>
          <p:nvPr/>
        </p:nvSpPr>
        <p:spPr>
          <a:xfrm>
            <a:off x="6757416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6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22008" y="5614416"/>
            <a:ext cx="329184" cy="329184"/>
          </a:xfrm>
          <a:prstGeom prst="rect">
            <a:avLst/>
          </a:prstGeom>
        </p:spPr>
      </p:pic>
      <p:sp>
        <p:nvSpPr>
          <p:cNvPr id="207" name="Text 191"/>
          <p:cNvSpPr txBox="1"/>
          <p:nvPr/>
        </p:nvSpPr>
        <p:spPr>
          <a:xfrm>
            <a:off x="6355080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p+1</a:t>
            </a:r>
            <a:endParaRPr lang="en-US" sz="1050" dirty="0"/>
          </a:p>
        </p:txBody>
      </p:sp>
      <p:sp>
        <p:nvSpPr>
          <p:cNvPr id="208" name="Shape 192"/>
          <p:cNvSpPr/>
          <p:nvPr/>
        </p:nvSpPr>
        <p:spPr>
          <a:xfrm>
            <a:off x="8641080" y="5248656"/>
            <a:ext cx="0" cy="201168"/>
          </a:xfrm>
          <a:prstGeom prst="line">
            <a:avLst/>
          </a:prstGeom>
          <a:noFill/>
          <a:ln w="1587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193"/>
          <p:cNvSpPr/>
          <p:nvPr/>
        </p:nvSpPr>
        <p:spPr>
          <a:xfrm>
            <a:off x="8311896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10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6488" y="5614416"/>
            <a:ext cx="329184" cy="329184"/>
          </a:xfrm>
          <a:prstGeom prst="rect">
            <a:avLst/>
          </a:prstGeom>
        </p:spPr>
      </p:pic>
      <p:sp>
        <p:nvSpPr>
          <p:cNvPr id="211" name="Text 194"/>
          <p:cNvSpPr txBox="1"/>
          <p:nvPr/>
        </p:nvSpPr>
        <p:spPr>
          <a:xfrm>
            <a:off x="7909560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p+2</a:t>
            </a:r>
            <a:endParaRPr lang="en-US" sz="1050" dirty="0"/>
          </a:p>
        </p:txBody>
      </p:sp>
      <p:sp>
        <p:nvSpPr>
          <p:cNvPr id="212" name="Text 195"/>
          <p:cNvSpPr txBox="1"/>
          <p:nvPr/>
        </p:nvSpPr>
        <p:spPr>
          <a:xfrm>
            <a:off x="1234440" y="65288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800" dirty="0"/>
          </a:p>
        </p:txBody>
      </p:sp>
      <p:sp>
        <p:nvSpPr>
          <p:cNvPr id="213" name="Text 196"/>
          <p:cNvSpPr txBox="1"/>
          <p:nvPr/>
        </p:nvSpPr>
        <p:spPr>
          <a:xfrm>
            <a:off x="6355080" y="65288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PROVIDERS</a:t>
            </a:r>
            <a:endParaRPr lang="en-US" sz="800" dirty="0"/>
          </a:p>
        </p:txBody>
      </p:sp>
      <p:sp>
        <p:nvSpPr>
          <p:cNvPr id="214" name="Text 197"/>
          <p:cNvSpPr txBox="1"/>
          <p:nvPr/>
        </p:nvSpPr>
        <p:spPr>
          <a:xfrm>
            <a:off x="10287000" y="18653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SERVICES</a:t>
            </a:r>
            <a:endParaRPr lang="en-US" sz="800" dirty="0"/>
          </a:p>
        </p:txBody>
      </p:sp>
      <p:sp>
        <p:nvSpPr>
          <p:cNvPr id="215" name="Shape 198"/>
          <p:cNvSpPr/>
          <p:nvPr/>
        </p:nvSpPr>
        <p:spPr>
          <a:xfrm>
            <a:off x="10533888" y="2487168"/>
            <a:ext cx="0" cy="1444752"/>
          </a:xfrm>
          <a:prstGeom prst="line">
            <a:avLst/>
          </a:prstGeom>
          <a:noFill/>
          <a:ln w="15875">
            <a:solidFill>
              <a:srgbClr val="1B5F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199"/>
          <p:cNvSpPr/>
          <p:nvPr/>
        </p:nvSpPr>
        <p:spPr>
          <a:xfrm>
            <a:off x="10533888" y="2487168"/>
            <a:ext cx="201168" cy="0"/>
          </a:xfrm>
          <a:prstGeom prst="line">
            <a:avLst/>
          </a:prstGeom>
          <a:noFill/>
          <a:ln w="15875">
            <a:solidFill>
              <a:srgbClr val="1B5F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00"/>
          <p:cNvSpPr/>
          <p:nvPr/>
        </p:nvSpPr>
        <p:spPr>
          <a:xfrm>
            <a:off x="10735056" y="215798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5F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18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99648" y="2322576"/>
            <a:ext cx="329184" cy="329184"/>
          </a:xfrm>
          <a:prstGeom prst="rect">
            <a:avLst/>
          </a:prstGeom>
        </p:spPr>
      </p:pic>
      <p:sp>
        <p:nvSpPr>
          <p:cNvPr id="219" name="Text 201"/>
          <p:cNvSpPr txBox="1"/>
          <p:nvPr/>
        </p:nvSpPr>
        <p:spPr>
          <a:xfrm>
            <a:off x="10332720" y="28620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q+1</a:t>
            </a:r>
            <a:endParaRPr lang="en-US" sz="1050" dirty="0"/>
          </a:p>
        </p:txBody>
      </p:sp>
      <p:sp>
        <p:nvSpPr>
          <p:cNvPr id="220" name="Shape 202"/>
          <p:cNvSpPr/>
          <p:nvPr/>
        </p:nvSpPr>
        <p:spPr>
          <a:xfrm>
            <a:off x="10533888" y="3931920"/>
            <a:ext cx="201168" cy="0"/>
          </a:xfrm>
          <a:prstGeom prst="line">
            <a:avLst/>
          </a:prstGeom>
          <a:noFill/>
          <a:ln w="15875">
            <a:solidFill>
              <a:srgbClr val="1B5F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03"/>
          <p:cNvSpPr/>
          <p:nvPr/>
        </p:nvSpPr>
        <p:spPr>
          <a:xfrm>
            <a:off x="10735056" y="3602736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5F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22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9648" y="3767328"/>
            <a:ext cx="329184" cy="329184"/>
          </a:xfrm>
          <a:prstGeom prst="rect">
            <a:avLst/>
          </a:prstGeom>
        </p:spPr>
      </p:pic>
      <p:sp>
        <p:nvSpPr>
          <p:cNvPr id="223" name="Text 204"/>
          <p:cNvSpPr txBox="1"/>
          <p:nvPr/>
        </p:nvSpPr>
        <p:spPr>
          <a:xfrm>
            <a:off x="10332720" y="43068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q+2</a:t>
            </a:r>
            <a:endParaRPr lang="en-US" sz="1050" dirty="0"/>
          </a:p>
        </p:txBody>
      </p:sp>
      <p:sp>
        <p:nvSpPr>
          <p:cNvPr id="224" name="Shape 205"/>
          <p:cNvSpPr/>
          <p:nvPr/>
        </p:nvSpPr>
        <p:spPr>
          <a:xfrm>
            <a:off x="10250424" y="3209544"/>
            <a:ext cx="283464" cy="0"/>
          </a:xfrm>
          <a:prstGeom prst="line">
            <a:avLst/>
          </a:prstGeom>
          <a:noFill/>
          <a:ln w="15875">
            <a:solidFill>
              <a:srgbClr val="1B5FA8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2, 3 and 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 — the step tracker — runs down the left edge of all three screens.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5148" y="1481328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9AA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5188" y="1828800"/>
            <a:ext cx="777240" cy="777240"/>
          </a:xfrm>
          <a:prstGeom prst="ellipse">
            <a:avLst/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1993392"/>
            <a:ext cx="448056" cy="448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5188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5188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1518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entry form with guided steps, dropdown fields, and drag-and-drop file upload. Every record enters the system clean and complete.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5628" y="1481328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9AA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55668" y="1828800"/>
            <a:ext cx="777240" cy="777240"/>
          </a:xfrm>
          <a:prstGeom prst="ellipse">
            <a:avLst/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260" y="199339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65566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searchable, filterable list view with status tags and pagination. Users scan, sort, and shortlist records in seconds.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76108" y="1481328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9AA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96148" y="1828800"/>
            <a:ext cx="777240" cy="777240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740" y="19933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96148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96148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9614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product detail view with tabs, metric cards, team info, and related documents — everything needed to act on a single item.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Feeds the Catalog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of source systems merge into a single searchable list: the data lakes hold the records, the profile providers tag and enrich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  <a:effectLst>
            <a:outerShdw blurRad="101600" dist="25400" dir="5400000" algn="bl" rotWithShape="0">
              <a:srgbClr val="9A9AA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1883664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139696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024128" y="2688336"/>
            <a:ext cx="4581144" cy="0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" y="2926080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4495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Primary application lake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31912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— every submission created in Registration.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24128" y="395020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A4A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6908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n+2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Operational / reference lake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42153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lookup and status data, consistent across all screens.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024128" y="49743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0932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4956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n+3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Analytics lake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52395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metrics powering the cards and charts in Products.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1572768"/>
            <a:ext cx="5193792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  <a:effectLst>
            <a:outerShdw blurRad="101600" dist="25400" dir="5400000" algn="bl" rotWithShape="0">
              <a:srgbClr val="9A9AA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739128" y="1883664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739128" y="2139696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providers</a:t>
            </a:r>
            <a:endParaRPr lang="en-US" sz="2500" dirty="0"/>
          </a:p>
        </p:txBody>
      </p:sp>
      <p:sp>
        <p:nvSpPr>
          <p:cNvPr id="23" name="Shape 18"/>
          <p:cNvSpPr/>
          <p:nvPr/>
        </p:nvSpPr>
        <p:spPr>
          <a:xfrm>
            <a:off x="6739128" y="2688336"/>
            <a:ext cx="4425696" cy="0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39128" y="2926080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4495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06640" y="2907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p+1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Tag &amp; attribute provider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3191256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classification tags, categories and status attributes on each record.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739128" y="395020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06908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406640" y="39319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p+2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Information ingest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06640" y="4215384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supplemental detail from external feeds and attaches it to existing records.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739128" y="4974336"/>
            <a:ext cx="4425696" cy="777240"/>
          </a:xfrm>
          <a:prstGeom prst="roundRect">
            <a:avLst>
              <a:gd name="adj" fmla="val 9412"/>
            </a:avLst>
          </a:prstGeom>
          <a:solidFill>
            <a:srgbClr val="DCEF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6922008" y="510235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0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add tags and detail to records they don't own. The lakes stay the system of record.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7 (q+1, q+2) feeds the Products screen directly, from the right of the UI view.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667512"/>
            <a:ext cx="676656" cy="676656"/>
          </a:xfrm>
          <a:prstGeom prst="ellipse">
            <a:avLst/>
          </a:prstGeom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Flow Works</a:t>
            </a:r>
            <a:endParaRPr lang="en-US" sz="4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97480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651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in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32588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 validates every record at entry, so quality problems stop at the door.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840480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3794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look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132588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 merges the lakes and the profile providers into one searchable screen.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983480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937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depth</a:t>
            </a:r>
            <a:endParaRPr lang="en-US" sz="2000" dirty="0"/>
          </a:p>
        </p:txBody>
      </p:sp>
      <p:sp>
        <p:nvSpPr>
          <p:cNvPr id="13" name="Text 7"/>
          <p:cNvSpPr txBox="1"/>
          <p:nvPr/>
        </p:nvSpPr>
        <p:spPr>
          <a:xfrm>
            <a:off x="1325880" y="5349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 opens any catalog item into a complete product view — no hunting across systems.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636</Words>
  <Application>Microsoft Macintosh PowerPoint</Application>
  <PresentationFormat>Widescreen</PresentationFormat>
  <Paragraphs>79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W</cp:lastModifiedBy>
  <cp:revision>2</cp:revision>
  <dcterms:created xsi:type="dcterms:W3CDTF">2026-09-08T03:38:39Z</dcterms:created>
  <dcterms:modified xsi:type="dcterms:W3CDTF">2026-09-08T03:42:27Z</dcterms:modified>
</cp:coreProperties>
</file>